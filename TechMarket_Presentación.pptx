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9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B314849-2AC9-4043-9151-8BD4EE90CBBA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‹Nº›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Buenas tardes. Somos el Equipo 5. Les contamos una historia: una tienda de tecnología necesita llevar el control de su catálogo, y nosotros construimos desde cero la lista dinámica que lo hace posible. Presentar a los cinco integrantes.</a:t>
            </a:r>
          </a:p>
        </p:txBody>
      </p:sp>
      <p:sp>
        <p:nvSpPr>
          <p:cNvPr id="7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9EE00A-73B5-446A-892E-01F4E444CC5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TechMarket es una tienda en línea de productos informáticos que necesita un sistema para gestionar su catálogo. Cada producto tiene 4 datos: id, nombre, marca y precio. Los productos deben guardarse en una lista dinámica implementada desde cero. A la derecha están los datos de prueba del enunciado, que se usan en todo el proyecto.</a:t>
            </a:r>
          </a:p>
        </p:txBody>
      </p:sp>
      <p:sp>
        <p:nvSpPr>
          <p:cNvPr id="7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50ED54-E673-4EE9-99B8-606F4153CFBE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El sistema debe cumplir cinco requerimientos, que son las funcionalidades del enunciado, y además tienen una restricción mencionada anteriormente usar una la lista dinámica construida desde cero, sin usar el ArrayList de Java, para entender cómo funciona por dentro.</a:t>
            </a:r>
          </a:p>
        </p:txBody>
      </p:sp>
      <p:sp>
        <p:nvSpPr>
          <p:cNvPr id="7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7C7BFE-C29A-4174-96DF-14806F65D80D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Esta es la solución que proponemos: cinco clases, cada una con una sola responsabilidad. Este es el mapa del proyecto. Main muestra el menú y habla con el usuario. GestorTechMarket tiene la lógica y usa una ArrayList, que es nuestra lista dinámica. ArrayList cumple el contrato de la interfaz List, y lo que se guarda en ella son objetos Producto. Para explicarlo vamos de abajo hacia arriba: primero Producto, luego la lista, luego el gestor y al final Main.</a:t>
            </a:r>
          </a:p>
        </p:txBody>
      </p:sp>
      <p:sp>
        <p:nvSpPr>
          <p:cNvPr id="7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973D7F-F055-4F66-9E83-310A0F3C3A0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Producto es lo más sencillo: cuatro atributos privados, id, nombre, marca y precio. Tiene getters para leer cada uno y un setPrecio, que es lo único que se puede cambiar después. El toString hace que el producto se imprima de forma legible, como se ve en la salida.</a:t>
            </a:r>
          </a:p>
        </p:txBody>
      </p:sp>
      <p:sp>
        <p:nvSpPr>
          <p:cNvPr id="7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DC4AD3-B9FB-495C-A86F-94DF541E8E7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List es una interfaz: define qué debe saber hacer cualquier lista, sin decir cómo. Tiene siete métodos. En nuestro programa el gestor usa cuatro: add, get, size e isEmpty. Los otros tres, add con posición, remove y clear, forman parte del contrato de una lista completa, pero este ejercicio no los necesita.</a:t>
            </a:r>
          </a:p>
        </p:txBody>
      </p:sp>
      <p:sp>
        <p:nvSpPr>
          <p:cNvPr id="7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26D293-4925-4A35-9F17-AF00A5CF00E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ArrayList cumple el contrato de List con un arreglo escondido. Tiene tres atributos privados: items, el arreglo donde se guardan los productos; size, cuántos hay ahora; y capacity, cuántos caben, que empieza en 10. Cuando size llega a capacity, isFull dice que sí y add llama a Expand, que crea un arreglo con 10 espacios más, copia todo con System.arraycopy y cambia items al nuevo. Por eso la lista crece de 10 en 10. Dato técnico: items es un Object[] porque Java no deja crear un arreglo genérico con new E[n].</a:t>
            </a:r>
          </a:p>
        </p:txBody>
      </p:sp>
      <p:sp>
        <p:nvSpPr>
          <p:cNvPr id="7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8406EA-EA90-44C6-BD6F-1387A0179AF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GestorTechMarket es la clase con toda la lógica. Dentro guarda una ArrayList de Producto, que es nuestra lista. Tiene las cinco funcionalidades y métodos de apoyo: buscarPorId, mostrarProductos, agregar, agregarPedir y los validar. Todas las funcionalidades siguen el mismo camino: validan, recorren la lista producto por producto y muestran el resultado o un ERROR. Por eso cuestan O(n).</a:t>
            </a:r>
          </a:p>
        </p:txBody>
      </p:sp>
      <p:sp>
        <p:nvSpPr>
          <p:cNvPr id="7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96232D-EB11-48A6-8D3B-01D517F8BC54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Recibe un precio mínimo y uno máximo y muestra los nombres de los productos dentro del rango, incluyendo los extremos. Primero valida que haya productos y que el mínimo no sea mayor que el máximo. Recorre la lista y guarda los nombres en otra ArrayList, la muestra también. De 50 a 200 entran el Teclado y el Monitor.</a:t>
            </a:r>
          </a:p>
        </p:txBody>
      </p:sp>
      <p:sp>
        <p:nvSpPr>
          <p:cNvPr id="7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9B726D-F0B7-49DD-8273-76FE3785CDF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Baja el precio a todos los productos de una marca. Compara la marca sin importar mayúsculas y calcula el precio nuevo con precio por uno menos porcentaje entre cien. Con 10 por ciento a ASUS, la laptop pasa de 1200 a 1080 y el teclado de 80 a 72. Cuenta cuántos modificó, en este caso 2. Avisa con ERROR si no hay productos, si el porcentaje no está entre 0 y 100 o si no hay productos de esa marca.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43BB6A-A446-4E79-806A-D1D4D2C6B92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Tomamos el primer producto como candidato y lo comparamos con los demás. Si aparece uno con precio menor, pasa a ser el candidato. Con los precios ya rebajados, la laptop empieza como candidata, el mouse con 25 le gana y ni el teclado ni el monitor lo superan. Si hay empate se queda el primero, porque solo cambiamos si es estrictamente menor.</a:t>
            </a:r>
          </a:p>
        </p:txBody>
      </p:sp>
      <p:sp>
        <p:nvSpPr>
          <p:cNvPr id="7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939003-AC4D-447E-B87A-2AD4026DC839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Actualiza el precio de un producto usando su ID. Valida que haya productos y que el precio nuevo sea mayor que 0. Busca el producto con buscarPorId. Si no existe, como P99, avisa con ERROR y devuelve false. Si existe, le cambia el precio con setPrecio y devuelve true. Aclaramos que aunque se llama reponer stock, el enunciado pide solo cambiar el precio.</a:t>
            </a:r>
          </a:p>
        </p:txBody>
      </p:sp>
      <p:sp>
        <p:nvSpPr>
          <p:cNvPr id="73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855A1D-3643-488C-B0D5-AC5241DD7AB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Recorre la lista, suma los precios de los productos de la marca y cuenta cuántos son. Compara sin importar mayúsculas. Con ASUS después del descuento: 1080 más 72 es 1152, entre 2 da 576. Si no hay productos de esa marca muestra 0.0, y así evitamos dividir entre cero.</a:t>
            </a:r>
          </a:p>
        </p:txBody>
      </p:sp>
      <p:sp>
        <p:nvSpPr>
          <p:cNvPr id="73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283D6B-573A-431F-B729-A7A3ADE0D33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Main solo habla con el usuario: muestra el menú y lee lo que escribe. Cada opción llama a un método del gestor. Hay dos niveles de control: lo que escribe el usuario, donde los métodos validan y repiten la pregunta hasta que el dato sea correcto, y las reglas del negocio, donde cada funcionalidad avisa con un ERROR en vez de fallar.</a:t>
            </a:r>
          </a:p>
        </p:txBody>
      </p:sp>
      <p:sp>
        <p:nvSpPr>
          <p:cNvPr id="74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3BF5FE-73F8-4DD4-8F52-A601502F551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La opción 8 del menú ejecuta todas las pruebas automáticamente. El primer escenario usa los datos del enunciado y tiene 6 casos positivos: mostrar los productos, filtrar entre 50 y 200, aplicar 10 por ciento a ASUS, buscar el más barato, cambiar el precio de P02 y calcular el promedio de ASUS, que da 576.0. Si hay tiempo, ejecutarlo en vivo.</a:t>
            </a:r>
          </a:p>
        </p:txBody>
      </p:sp>
      <p:sp>
        <p:nvSpPr>
          <p:cNvPr id="74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74A521-FBA9-4F12-BFB2-1155225C1B69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El segundo escenario tiene 8 casos negativos y de borde: catálogo vacío en los 6 métodos, marca sin productos, ID inexistente, rango al revés, descuentos de 150 y de menos 10, precio nuevo negativo y un rango sin resultados. En todos el programa avisa con un mensaje en lugar de romperse.</a:t>
            </a:r>
          </a:p>
        </p:txBody>
      </p:sp>
      <p:sp>
        <p:nvSpPr>
          <p:cNvPr id="74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39FF15-6F58-4A8C-AED8-67BDC73C8CC4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Para cerrar: la tienda necesitaba control de su catálogo y lo resolvimos con cinco piezas que trabajan juntas. Producto es lo que se guarda, ArrayList es dónde se guarda y crece sola, el Gestor tiene las cinco funcionalidades, Main las pone en manos del usuario y las 14 pruebas comprueban que todo funciona. Como mejoras vemos duplicar la capacidad al crecer, lanzar excepciones, pruebas con JUnit y que los métodos devuelvan resultados. Abrimos a preguntas.</a:t>
            </a:r>
          </a:p>
        </p:txBody>
      </p:sp>
      <p:sp>
        <p:nvSpPr>
          <p:cNvPr id="75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EC5C61-5072-4532-BC3B-3857F1A7F43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870297F-FD87-4024-ACF4-3362380BA0DC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7863840" y="63093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7A7FA8"/>
                </a:solidFill>
                <a:latin typeface="Calibri"/>
              </a:rPr>
              <a:t>TechMarket · Equipo 5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sldNum" idx="1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87E06AB1-A2D5-4B8C-8601-F905A92D4A79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‹Nº›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640080" y="914400"/>
            <a:ext cx="2651040" cy="3650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640080" y="91440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EQUIPO 5 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40080" y="1715040"/>
            <a:ext cx="6217560" cy="166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400" b="1" strike="noStrike" spc="-1">
                <a:solidFill>
                  <a:schemeClr val="lt1"/>
                </a:solidFill>
                <a:latin typeface="Cambria"/>
              </a:rPr>
              <a:t>Tienda en Línea “TechMarket”</a:t>
            </a:r>
            <a:endParaRPr lang="en-US" sz="6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Text 3"/>
          <p:cNvSpPr/>
          <p:nvPr/>
        </p:nvSpPr>
        <p:spPr>
          <a:xfrm>
            <a:off x="640080" y="3611880"/>
            <a:ext cx="576000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solidFill>
                  <a:schemeClr val="lt1"/>
                </a:solidFill>
                <a:latin typeface="Calibri"/>
              </a:rPr>
              <a:t>Una tienda de tecnología, un catálogo que crece y una lista dinámica construida desde cero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40080" y="4526640"/>
            <a:ext cx="576000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accent2"/>
                </a:solidFill>
                <a:latin typeface="Calibri"/>
              </a:rPr>
              <a:t>Examen Parcial · Estructura de Datos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4971240"/>
            <a:ext cx="576000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accent6"/>
                </a:solidFill>
                <a:latin typeface="Calibri"/>
              </a:rPr>
              <a:t>Lauren Rosa Barrios Bosque · Liz Anel López Vives · Osmany Manuel Ungo Seara · Jorge Luis Hernández Avila · José Javier Fernández Bravo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6"/>
          <p:cNvSpPr/>
          <p:nvPr/>
        </p:nvSpPr>
        <p:spPr>
          <a:xfrm>
            <a:off x="7315200" y="914400"/>
            <a:ext cx="3839760" cy="10508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7543800" y="1170360"/>
            <a:ext cx="547920" cy="5479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7543800" y="117036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lt1"/>
                </a:solidFill>
                <a:latin typeface="Calibri"/>
              </a:rPr>
              <a:t>P01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9"/>
          <p:cNvSpPr/>
          <p:nvPr/>
        </p:nvSpPr>
        <p:spPr>
          <a:xfrm>
            <a:off x="8275320" y="114300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dk1"/>
                </a:solidFill>
                <a:latin typeface="Calibri"/>
              </a:rPr>
              <a:t>Laptop Gaming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8275320" y="146304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2"/>
                </a:solidFill>
                <a:latin typeface="Calibri"/>
              </a:rPr>
              <a:t>ASUS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10058400" y="114300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chemeClr val="accent1"/>
                </a:solidFill>
                <a:latin typeface="Calibri"/>
              </a:rPr>
              <a:t>$1200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7772400" y="2148840"/>
            <a:ext cx="3839760" cy="10508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8001000" y="2404800"/>
            <a:ext cx="547920" cy="54792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8001000" y="24048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P02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8732520" y="237744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dk1"/>
                </a:solidFill>
                <a:latin typeface="Calibri"/>
              </a:rPr>
              <a:t>Mouse Inalámbrico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6"/>
          <p:cNvSpPr/>
          <p:nvPr/>
        </p:nvSpPr>
        <p:spPr>
          <a:xfrm>
            <a:off x="8732520" y="269748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2"/>
                </a:solidFill>
                <a:latin typeface="Calibri"/>
              </a:rPr>
              <a:t>Logitech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17"/>
          <p:cNvSpPr/>
          <p:nvPr/>
        </p:nvSpPr>
        <p:spPr>
          <a:xfrm>
            <a:off x="10515600" y="237744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chemeClr val="accent1"/>
                </a:solidFill>
                <a:latin typeface="Calibri"/>
              </a:rPr>
              <a:t>$25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18"/>
          <p:cNvSpPr/>
          <p:nvPr/>
        </p:nvSpPr>
        <p:spPr>
          <a:xfrm>
            <a:off x="7315200" y="3383280"/>
            <a:ext cx="3839760" cy="10508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19"/>
          <p:cNvSpPr/>
          <p:nvPr/>
        </p:nvSpPr>
        <p:spPr>
          <a:xfrm>
            <a:off x="7543800" y="3639240"/>
            <a:ext cx="547920" cy="54792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20"/>
          <p:cNvSpPr/>
          <p:nvPr/>
        </p:nvSpPr>
        <p:spPr>
          <a:xfrm>
            <a:off x="7543800" y="363924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P03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21"/>
          <p:cNvSpPr/>
          <p:nvPr/>
        </p:nvSpPr>
        <p:spPr>
          <a:xfrm>
            <a:off x="8275320" y="361188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dk1"/>
                </a:solidFill>
                <a:latin typeface="Calibri"/>
              </a:rPr>
              <a:t>Teclado Mecánico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22"/>
          <p:cNvSpPr/>
          <p:nvPr/>
        </p:nvSpPr>
        <p:spPr>
          <a:xfrm>
            <a:off x="8275320" y="393192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2"/>
                </a:solidFill>
                <a:latin typeface="Calibri"/>
              </a:rPr>
              <a:t>ASUS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10058400" y="361188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chemeClr val="accent1"/>
                </a:solidFill>
                <a:latin typeface="Calibri"/>
              </a:rPr>
              <a:t>$80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4"/>
          <p:cNvSpPr/>
          <p:nvPr/>
        </p:nvSpPr>
        <p:spPr>
          <a:xfrm>
            <a:off x="7772400" y="4617720"/>
            <a:ext cx="3839760" cy="10508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5"/>
          <p:cNvSpPr/>
          <p:nvPr/>
        </p:nvSpPr>
        <p:spPr>
          <a:xfrm>
            <a:off x="8001000" y="4873680"/>
            <a:ext cx="547920" cy="54792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8001000" y="48736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P04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27"/>
          <p:cNvSpPr/>
          <p:nvPr/>
        </p:nvSpPr>
        <p:spPr>
          <a:xfrm>
            <a:off x="8732520" y="484632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dk1"/>
                </a:solidFill>
                <a:latin typeface="Calibri"/>
              </a:rPr>
              <a:t>Monitor 24"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28"/>
          <p:cNvSpPr/>
          <p:nvPr/>
        </p:nvSpPr>
        <p:spPr>
          <a:xfrm>
            <a:off x="8732520" y="516636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2"/>
                </a:solidFill>
                <a:latin typeface="Calibri"/>
              </a:rPr>
              <a:t>Samsung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29"/>
          <p:cNvSpPr/>
          <p:nvPr/>
        </p:nvSpPr>
        <p:spPr>
          <a:xfrm>
            <a:off x="10515600" y="484632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chemeClr val="accent1"/>
                </a:solidFill>
                <a:latin typeface="Calibri"/>
              </a:rPr>
              <a:t>$180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1 · EL PROBLEMA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Planteamiento del problema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" name="Shape 7"/>
          <p:cNvSpPr/>
          <p:nvPr/>
        </p:nvSpPr>
        <p:spPr>
          <a:xfrm>
            <a:off x="548640" y="6163200"/>
            <a:ext cx="620352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8"/>
          <p:cNvSpPr/>
          <p:nvPr/>
        </p:nvSpPr>
        <p:spPr>
          <a:xfrm>
            <a:off x="731520" y="6163200"/>
            <a:ext cx="59292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Con estos datos, el sistema debe cumplir 5 requerimientos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9"/>
          <p:cNvSpPr/>
          <p:nvPr/>
        </p:nvSpPr>
        <p:spPr>
          <a:xfrm>
            <a:off x="584640" y="1888920"/>
            <a:ext cx="52826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spcAft>
                <a:spcPts val="1199"/>
              </a:spcAft>
              <a:tabLst>
                <a:tab pos="0" algn="l"/>
              </a:tabLst>
            </a:pPr>
            <a:r>
              <a:rPr lang="en-US" sz="1800" b="1" strike="noStrike" spc="-1">
                <a:solidFill>
                  <a:schemeClr val="dk1"/>
                </a:solidFill>
                <a:latin typeface="Calibri"/>
              </a:rPr>
              <a:t>TechMarket vende productos informáticos en línea,  </a:t>
            </a: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 y n</a:t>
            </a: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ecesita un sistema para gestionar su catálogo de productos.</a:t>
            </a: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 </a:t>
            </a: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Estos deben guardarse en una lista dinámica hecha desde cero, sin usar el ArrayList de Java.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0"/>
          <p:cNvSpPr/>
          <p:nvPr/>
        </p:nvSpPr>
        <p:spPr>
          <a:xfrm>
            <a:off x="594720" y="3658320"/>
            <a:ext cx="539424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alibri"/>
              </a:rPr>
              <a:t>Cada producto guarda 4 datos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11"/>
          <p:cNvSpPr/>
          <p:nvPr/>
        </p:nvSpPr>
        <p:spPr>
          <a:xfrm>
            <a:off x="520200" y="4133520"/>
            <a:ext cx="2605320" cy="50220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2"/>
          <p:cNvSpPr/>
          <p:nvPr/>
        </p:nvSpPr>
        <p:spPr>
          <a:xfrm>
            <a:off x="731520" y="4145760"/>
            <a:ext cx="228528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alibri"/>
              </a:rPr>
              <a:t>id</a:t>
            </a: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  su código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3"/>
          <p:cNvSpPr/>
          <p:nvPr/>
        </p:nvSpPr>
        <p:spPr>
          <a:xfrm>
            <a:off x="3308760" y="4110480"/>
            <a:ext cx="2605320" cy="50220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14"/>
          <p:cNvSpPr/>
          <p:nvPr/>
        </p:nvSpPr>
        <p:spPr>
          <a:xfrm>
            <a:off x="3468600" y="4114800"/>
            <a:ext cx="2285280" cy="53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alibri"/>
              </a:rPr>
              <a:t>nombre</a:t>
            </a: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  qué es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15"/>
          <p:cNvSpPr/>
          <p:nvPr/>
        </p:nvSpPr>
        <p:spPr>
          <a:xfrm>
            <a:off x="520200" y="4842000"/>
            <a:ext cx="2605320" cy="50220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731520" y="4850640"/>
            <a:ext cx="228528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alibri"/>
              </a:rPr>
              <a:t>marca</a:t>
            </a: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  quién lo hace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7"/>
          <p:cNvSpPr/>
          <p:nvPr/>
        </p:nvSpPr>
        <p:spPr>
          <a:xfrm>
            <a:off x="3291840" y="4842000"/>
            <a:ext cx="2605320" cy="50220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3492000" y="4842000"/>
            <a:ext cx="228528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alibri"/>
              </a:rPr>
              <a:t>precio</a:t>
            </a: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  cuánto cuesta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9"/>
          <p:cNvSpPr/>
          <p:nvPr/>
        </p:nvSpPr>
        <p:spPr>
          <a:xfrm>
            <a:off x="6583680" y="155448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alibri"/>
              </a:rPr>
              <a:t>Datos de prueba del enunciado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20"/>
          <p:cNvSpPr/>
          <p:nvPr/>
        </p:nvSpPr>
        <p:spPr>
          <a:xfrm>
            <a:off x="6583680" y="1920240"/>
            <a:ext cx="5055840" cy="86796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21"/>
          <p:cNvSpPr/>
          <p:nvPr/>
        </p:nvSpPr>
        <p:spPr>
          <a:xfrm>
            <a:off x="6766560" y="2075760"/>
            <a:ext cx="547920" cy="5479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22"/>
          <p:cNvSpPr/>
          <p:nvPr/>
        </p:nvSpPr>
        <p:spPr>
          <a:xfrm>
            <a:off x="6766560" y="207576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lt1"/>
                </a:solidFill>
                <a:latin typeface="Calibri"/>
              </a:rPr>
              <a:t>P01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7498080" y="2048400"/>
            <a:ext cx="27424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Laptop Gaming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24"/>
          <p:cNvSpPr/>
          <p:nvPr/>
        </p:nvSpPr>
        <p:spPr>
          <a:xfrm>
            <a:off x="7498080" y="239580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dk2"/>
                </a:solidFill>
                <a:latin typeface="Calibri"/>
              </a:rPr>
              <a:t>ASUS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10332720" y="2048400"/>
            <a:ext cx="1142280" cy="61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accent1"/>
                </a:solidFill>
                <a:latin typeface="Calibri"/>
              </a:rPr>
              <a:t>1200.0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26"/>
          <p:cNvSpPr/>
          <p:nvPr/>
        </p:nvSpPr>
        <p:spPr>
          <a:xfrm>
            <a:off x="6583680" y="2926080"/>
            <a:ext cx="5055840" cy="86796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27"/>
          <p:cNvSpPr/>
          <p:nvPr/>
        </p:nvSpPr>
        <p:spPr>
          <a:xfrm>
            <a:off x="6766560" y="3081600"/>
            <a:ext cx="547920" cy="5479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28"/>
          <p:cNvSpPr/>
          <p:nvPr/>
        </p:nvSpPr>
        <p:spPr>
          <a:xfrm>
            <a:off x="6766560" y="30816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lt1"/>
                </a:solidFill>
                <a:latin typeface="Calibri"/>
              </a:rPr>
              <a:t>P02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9"/>
          <p:cNvSpPr/>
          <p:nvPr/>
        </p:nvSpPr>
        <p:spPr>
          <a:xfrm>
            <a:off x="7498080" y="3054240"/>
            <a:ext cx="27424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Mouse Inalámbrico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30"/>
          <p:cNvSpPr/>
          <p:nvPr/>
        </p:nvSpPr>
        <p:spPr>
          <a:xfrm>
            <a:off x="7498080" y="340164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dk2"/>
                </a:solidFill>
                <a:latin typeface="Calibri"/>
              </a:rPr>
              <a:t>Logitech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31"/>
          <p:cNvSpPr/>
          <p:nvPr/>
        </p:nvSpPr>
        <p:spPr>
          <a:xfrm>
            <a:off x="10332720" y="3054240"/>
            <a:ext cx="1142280" cy="61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accent1"/>
                </a:solidFill>
                <a:latin typeface="Calibri"/>
              </a:rPr>
              <a:t>25.0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32"/>
          <p:cNvSpPr/>
          <p:nvPr/>
        </p:nvSpPr>
        <p:spPr>
          <a:xfrm>
            <a:off x="6583680" y="3931920"/>
            <a:ext cx="5055840" cy="86796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33"/>
          <p:cNvSpPr/>
          <p:nvPr/>
        </p:nvSpPr>
        <p:spPr>
          <a:xfrm>
            <a:off x="6766560" y="4087440"/>
            <a:ext cx="547920" cy="5479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34"/>
          <p:cNvSpPr/>
          <p:nvPr/>
        </p:nvSpPr>
        <p:spPr>
          <a:xfrm>
            <a:off x="6766560" y="408744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lt1"/>
                </a:solidFill>
                <a:latin typeface="Calibri"/>
              </a:rPr>
              <a:t>P03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35"/>
          <p:cNvSpPr/>
          <p:nvPr/>
        </p:nvSpPr>
        <p:spPr>
          <a:xfrm>
            <a:off x="7498080" y="4060080"/>
            <a:ext cx="27424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Teclado Mecánico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36"/>
          <p:cNvSpPr/>
          <p:nvPr/>
        </p:nvSpPr>
        <p:spPr>
          <a:xfrm>
            <a:off x="7498080" y="440748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dk2"/>
                </a:solidFill>
                <a:latin typeface="Calibri"/>
              </a:rPr>
              <a:t>ASUS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37"/>
          <p:cNvSpPr/>
          <p:nvPr/>
        </p:nvSpPr>
        <p:spPr>
          <a:xfrm>
            <a:off x="10332720" y="4060080"/>
            <a:ext cx="1142280" cy="61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accent1"/>
                </a:solidFill>
                <a:latin typeface="Calibri"/>
              </a:rPr>
              <a:t>80.0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38"/>
          <p:cNvSpPr/>
          <p:nvPr/>
        </p:nvSpPr>
        <p:spPr>
          <a:xfrm>
            <a:off x="6583680" y="4937760"/>
            <a:ext cx="5055840" cy="86796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39"/>
          <p:cNvSpPr/>
          <p:nvPr/>
        </p:nvSpPr>
        <p:spPr>
          <a:xfrm>
            <a:off x="6766560" y="5093280"/>
            <a:ext cx="547920" cy="5479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40"/>
          <p:cNvSpPr/>
          <p:nvPr/>
        </p:nvSpPr>
        <p:spPr>
          <a:xfrm>
            <a:off x="6766560" y="50932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lt1"/>
                </a:solidFill>
                <a:latin typeface="Calibri"/>
              </a:rPr>
              <a:t>P04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41"/>
          <p:cNvSpPr/>
          <p:nvPr/>
        </p:nvSpPr>
        <p:spPr>
          <a:xfrm>
            <a:off x="7498080" y="5065920"/>
            <a:ext cx="27424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Monitor 24"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42"/>
          <p:cNvSpPr/>
          <p:nvPr/>
        </p:nvSpPr>
        <p:spPr>
          <a:xfrm>
            <a:off x="7498080" y="541332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dk2"/>
                </a:solidFill>
                <a:latin typeface="Calibri"/>
              </a:rPr>
              <a:t>Samsung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43"/>
          <p:cNvSpPr/>
          <p:nvPr/>
        </p:nvSpPr>
        <p:spPr>
          <a:xfrm>
            <a:off x="10332720" y="5065920"/>
            <a:ext cx="1142280" cy="61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accent1"/>
                </a:solidFill>
                <a:latin typeface="Calibri"/>
              </a:rPr>
              <a:t>180.0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5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1C969ED9-E781-42AC-9FBF-7FE598D49EEC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2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1 · EL PROBLEMA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Requerimientos del sistema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548640" y="6163200"/>
            <a:ext cx="572328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731520" y="6163200"/>
            <a:ext cx="5448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Para cumplirlos, la solución se organiza en 5 clases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9"/>
          <p:cNvSpPr/>
          <p:nvPr/>
        </p:nvSpPr>
        <p:spPr>
          <a:xfrm>
            <a:off x="548640" y="1554480"/>
            <a:ext cx="6674400" cy="785520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731520" y="1728360"/>
            <a:ext cx="456480" cy="4564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1"/>
          <p:cNvSpPr/>
          <p:nvPr/>
        </p:nvSpPr>
        <p:spPr>
          <a:xfrm>
            <a:off x="731520" y="17283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</a:rPr>
              <a:t>1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1417320" y="1645920"/>
            <a:ext cx="56685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Filtrar productos por rango de precio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1417320" y="2011680"/>
            <a:ext cx="56685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accent1"/>
                </a:solidFill>
                <a:latin typeface="Courier New"/>
                <a:ea typeface="Courier New"/>
              </a:rPr>
              <a:t>filtrarPorRangoPrecio(min, max)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14"/>
          <p:cNvSpPr/>
          <p:nvPr/>
        </p:nvSpPr>
        <p:spPr>
          <a:xfrm>
            <a:off x="548640" y="2441520"/>
            <a:ext cx="6674400" cy="785520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731520" y="2615040"/>
            <a:ext cx="456480" cy="4564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6"/>
          <p:cNvSpPr/>
          <p:nvPr/>
        </p:nvSpPr>
        <p:spPr>
          <a:xfrm>
            <a:off x="731520" y="261504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</a:rPr>
              <a:t>2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1417320" y="2532960"/>
            <a:ext cx="56685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Aplicar descuento por marca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1417320" y="2898720"/>
            <a:ext cx="56685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accent1"/>
                </a:solidFill>
                <a:latin typeface="Courier New"/>
                <a:ea typeface="Courier New"/>
              </a:rPr>
              <a:t>aplicarDescuentoMarca(marca, %)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19"/>
          <p:cNvSpPr/>
          <p:nvPr/>
        </p:nvSpPr>
        <p:spPr>
          <a:xfrm>
            <a:off x="548640" y="3328560"/>
            <a:ext cx="6674400" cy="785520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20"/>
          <p:cNvSpPr/>
          <p:nvPr/>
        </p:nvSpPr>
        <p:spPr>
          <a:xfrm>
            <a:off x="731520" y="3502080"/>
            <a:ext cx="456480" cy="4564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21"/>
          <p:cNvSpPr/>
          <p:nvPr/>
        </p:nvSpPr>
        <p:spPr>
          <a:xfrm>
            <a:off x="731520" y="350208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</a:rPr>
              <a:t>3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1417320" y="3420000"/>
            <a:ext cx="56685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Buscar el producto más barato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3"/>
          <p:cNvSpPr/>
          <p:nvPr/>
        </p:nvSpPr>
        <p:spPr>
          <a:xfrm>
            <a:off x="1417320" y="3785760"/>
            <a:ext cx="56685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accent1"/>
                </a:solidFill>
                <a:latin typeface="Courier New"/>
                <a:ea typeface="Courier New"/>
              </a:rPr>
              <a:t>buscarProductoBarato()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4"/>
          <p:cNvSpPr/>
          <p:nvPr/>
        </p:nvSpPr>
        <p:spPr>
          <a:xfrm>
            <a:off x="548640" y="4215240"/>
            <a:ext cx="6674400" cy="785520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25"/>
          <p:cNvSpPr/>
          <p:nvPr/>
        </p:nvSpPr>
        <p:spPr>
          <a:xfrm>
            <a:off x="731520" y="4389120"/>
            <a:ext cx="456480" cy="4564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26"/>
          <p:cNvSpPr/>
          <p:nvPr/>
        </p:nvSpPr>
        <p:spPr>
          <a:xfrm>
            <a:off x="731520" y="438912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</a:rPr>
              <a:t>4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27"/>
          <p:cNvSpPr/>
          <p:nvPr/>
        </p:nvSpPr>
        <p:spPr>
          <a:xfrm>
            <a:off x="1417320" y="4306680"/>
            <a:ext cx="56685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Reponer stock (actualizar el precio)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8"/>
          <p:cNvSpPr/>
          <p:nvPr/>
        </p:nvSpPr>
        <p:spPr>
          <a:xfrm>
            <a:off x="1417320" y="4672440"/>
            <a:ext cx="56685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accent1"/>
                </a:solidFill>
                <a:latin typeface="Courier New"/>
                <a:ea typeface="Courier New"/>
              </a:rPr>
              <a:t>reponerStockProducto(id, precio)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29"/>
          <p:cNvSpPr/>
          <p:nvPr/>
        </p:nvSpPr>
        <p:spPr>
          <a:xfrm>
            <a:off x="548640" y="5102280"/>
            <a:ext cx="6674400" cy="785520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30"/>
          <p:cNvSpPr/>
          <p:nvPr/>
        </p:nvSpPr>
        <p:spPr>
          <a:xfrm>
            <a:off x="731520" y="5276160"/>
            <a:ext cx="456480" cy="4564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31"/>
          <p:cNvSpPr/>
          <p:nvPr/>
        </p:nvSpPr>
        <p:spPr>
          <a:xfrm>
            <a:off x="731520" y="52761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</a:rPr>
              <a:t>5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32"/>
          <p:cNvSpPr/>
          <p:nvPr/>
        </p:nvSpPr>
        <p:spPr>
          <a:xfrm>
            <a:off x="1417320" y="5193720"/>
            <a:ext cx="56685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Calcular el promedio de precio de una marca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33"/>
          <p:cNvSpPr/>
          <p:nvPr/>
        </p:nvSpPr>
        <p:spPr>
          <a:xfrm>
            <a:off x="1417320" y="5559480"/>
            <a:ext cx="56685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accent1"/>
                </a:solidFill>
                <a:latin typeface="Courier New"/>
                <a:ea typeface="Courier New"/>
              </a:rPr>
              <a:t>promedioPrecioPorMarca(marca)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34"/>
          <p:cNvSpPr/>
          <p:nvPr/>
        </p:nvSpPr>
        <p:spPr>
          <a:xfrm>
            <a:off x="7589520" y="1554480"/>
            <a:ext cx="4050000" cy="4388400"/>
          </a:xfrm>
          <a:prstGeom prst="roundRect">
            <a:avLst>
              <a:gd name="adj" fmla="val 2709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35"/>
          <p:cNvSpPr/>
          <p:nvPr/>
        </p:nvSpPr>
        <p:spPr>
          <a:xfrm>
            <a:off x="7909560" y="1828800"/>
            <a:ext cx="33825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296">
                <a:solidFill>
                  <a:schemeClr val="accent2"/>
                </a:solidFill>
                <a:latin typeface="Calibri"/>
              </a:rPr>
              <a:t>RESTRICCIÓN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36"/>
          <p:cNvSpPr/>
          <p:nvPr/>
        </p:nvSpPr>
        <p:spPr>
          <a:xfrm>
            <a:off x="7909560" y="2194560"/>
            <a:ext cx="347400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chemeClr val="lt1"/>
                </a:solidFill>
                <a:latin typeface="Calibri"/>
              </a:rPr>
              <a:t>Lista dinámica desde cero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37"/>
          <p:cNvSpPr/>
          <p:nvPr/>
        </p:nvSpPr>
        <p:spPr>
          <a:xfrm>
            <a:off x="7909560" y="3474720"/>
            <a:ext cx="347400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chemeClr val="accent6"/>
                </a:solidFill>
                <a:latin typeface="Calibri"/>
              </a:rPr>
              <a:t>Se construye la estructura propia, sin usar la que ya trae Java, para entender cómo funciona por dentro.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38"/>
          <p:cNvSpPr/>
          <p:nvPr/>
        </p:nvSpPr>
        <p:spPr>
          <a:xfrm>
            <a:off x="7909560" y="4754880"/>
            <a:ext cx="493200" cy="493200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39"/>
          <p:cNvSpPr/>
          <p:nvPr/>
        </p:nvSpPr>
        <p:spPr>
          <a:xfrm>
            <a:off x="8476560" y="4754880"/>
            <a:ext cx="493200" cy="493200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40"/>
          <p:cNvSpPr/>
          <p:nvPr/>
        </p:nvSpPr>
        <p:spPr>
          <a:xfrm>
            <a:off x="9043560" y="4754880"/>
            <a:ext cx="493200" cy="493200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41"/>
          <p:cNvSpPr/>
          <p:nvPr/>
        </p:nvSpPr>
        <p:spPr>
          <a:xfrm>
            <a:off x="9610200" y="4754880"/>
            <a:ext cx="493200" cy="493200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42"/>
          <p:cNvSpPr/>
          <p:nvPr/>
        </p:nvSpPr>
        <p:spPr>
          <a:xfrm>
            <a:off x="10177200" y="4754880"/>
            <a:ext cx="493200" cy="493200"/>
          </a:xfrm>
          <a:prstGeom prst="roundRect">
            <a:avLst>
              <a:gd name="adj" fmla="val 14815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43"/>
          <p:cNvSpPr/>
          <p:nvPr/>
        </p:nvSpPr>
        <p:spPr>
          <a:xfrm>
            <a:off x="10744200" y="4754880"/>
            <a:ext cx="493200" cy="493200"/>
          </a:xfrm>
          <a:prstGeom prst="roundRect">
            <a:avLst>
              <a:gd name="adj" fmla="val 14815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44"/>
          <p:cNvSpPr/>
          <p:nvPr/>
        </p:nvSpPr>
        <p:spPr>
          <a:xfrm>
            <a:off x="7909560" y="5349240"/>
            <a:ext cx="34740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6"/>
                </a:solidFill>
                <a:latin typeface="Calibri"/>
              </a:rPr>
              <a:t>items · size · capacity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6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A77E146B-066F-4794-AD51-7842A1782AFB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3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2 · LA SOLUCIÓN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Nuestra solución propuesta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548640" y="6163200"/>
            <a:ext cx="5243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8"/>
          <p:cNvSpPr/>
          <p:nvPr/>
        </p:nvSpPr>
        <p:spPr>
          <a:xfrm>
            <a:off x="731520" y="6163200"/>
            <a:ext cx="4969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Clase por clase, empezando por lo que se guarda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9"/>
          <p:cNvSpPr/>
          <p:nvPr/>
        </p:nvSpPr>
        <p:spPr>
          <a:xfrm>
            <a:off x="548640" y="1600200"/>
            <a:ext cx="3108240" cy="1416600"/>
          </a:xfrm>
          <a:prstGeom prst="roundRect">
            <a:avLst>
              <a:gd name="adj" fmla="val 7742"/>
            </a:avLst>
          </a:prstGeom>
          <a:solidFill>
            <a:schemeClr val="tx1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7240" y="17830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lt1"/>
                </a:solidFill>
                <a:latin typeface="Calibri"/>
              </a:rPr>
              <a:t>Main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1"/>
          <p:cNvSpPr/>
          <p:nvPr/>
        </p:nvSpPr>
        <p:spPr>
          <a:xfrm>
            <a:off x="777240" y="2240280"/>
            <a:ext cx="265104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accent6"/>
                </a:solidFill>
                <a:latin typeface="Calibri"/>
              </a:rPr>
              <a:t>Muestra el menú y lee lo que escribe el usuario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4526280" y="1600200"/>
            <a:ext cx="3108240" cy="141660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4754880" y="17830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lt1"/>
                </a:solidFill>
                <a:latin typeface="Calibri"/>
              </a:rPr>
              <a:t>GestorTechMarket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4754880" y="2240280"/>
            <a:ext cx="265104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La lógica: las 5 funcionalidades y las validaciones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8531280" y="1600200"/>
            <a:ext cx="3108240" cy="141660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6"/>
          <p:cNvSpPr/>
          <p:nvPr/>
        </p:nvSpPr>
        <p:spPr>
          <a:xfrm>
            <a:off x="8759880" y="17830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ArrayList&lt;E&gt;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8759880" y="2240280"/>
            <a:ext cx="265104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Nuestra lista dinámica, hecha desde cero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18"/>
          <p:cNvSpPr/>
          <p:nvPr/>
        </p:nvSpPr>
        <p:spPr>
          <a:xfrm>
            <a:off x="4526280" y="3886200"/>
            <a:ext cx="3108240" cy="1416600"/>
          </a:xfrm>
          <a:prstGeom prst="roundRect">
            <a:avLst>
              <a:gd name="adj" fmla="val 7742"/>
            </a:avLst>
          </a:prstGeom>
          <a:solidFill>
            <a:schemeClr val="accent3"/>
          </a:solidFill>
          <a:ln w="0">
            <a:noFill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19"/>
          <p:cNvSpPr/>
          <p:nvPr/>
        </p:nvSpPr>
        <p:spPr>
          <a:xfrm>
            <a:off x="4754880" y="40690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Producto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20"/>
          <p:cNvSpPr/>
          <p:nvPr/>
        </p:nvSpPr>
        <p:spPr>
          <a:xfrm>
            <a:off x="4754880" y="4526280"/>
            <a:ext cx="265104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Lo que se guarda: id, nombre, marca y precio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1"/>
          <p:cNvSpPr/>
          <p:nvPr/>
        </p:nvSpPr>
        <p:spPr>
          <a:xfrm>
            <a:off x="8531280" y="3886200"/>
            <a:ext cx="3108240" cy="141660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9050">
            <a:solidFill>
              <a:srgbClr val="6C47FF"/>
            </a:solidFill>
            <a:prstDash val="dash"/>
            <a:round/>
          </a:ln>
          <a:effectLst>
            <a:outerShdw blurRad="101520" dist="25560" dir="5400000" algn="bl" rotWithShape="0">
              <a:srgbClr val="1E1B4B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22"/>
          <p:cNvSpPr/>
          <p:nvPr/>
        </p:nvSpPr>
        <p:spPr>
          <a:xfrm>
            <a:off x="8759880" y="40690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chemeClr val="accent1"/>
                </a:solidFill>
                <a:latin typeface="Calibri"/>
              </a:rPr>
              <a:t>List&lt;E&gt;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23"/>
          <p:cNvSpPr/>
          <p:nvPr/>
        </p:nvSpPr>
        <p:spPr>
          <a:xfrm>
            <a:off x="8759880" y="4526280"/>
            <a:ext cx="265104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El contrato: los métodos que ArrayList debe cumplir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24"/>
          <p:cNvSpPr/>
          <p:nvPr/>
        </p:nvSpPr>
        <p:spPr>
          <a:xfrm>
            <a:off x="3657600" y="2304000"/>
            <a:ext cx="868680" cy="360"/>
          </a:xfrm>
          <a:prstGeom prst="line">
            <a:avLst/>
          </a:prstGeom>
          <a:ln w="25400">
            <a:solidFill>
              <a:srgbClr val="7A7FA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25"/>
          <p:cNvSpPr/>
          <p:nvPr/>
        </p:nvSpPr>
        <p:spPr>
          <a:xfrm>
            <a:off x="7635240" y="2304000"/>
            <a:ext cx="896040" cy="360"/>
          </a:xfrm>
          <a:prstGeom prst="line">
            <a:avLst/>
          </a:prstGeom>
          <a:ln w="25400">
            <a:solidFill>
              <a:srgbClr val="7A7FA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26"/>
          <p:cNvSpPr/>
          <p:nvPr/>
        </p:nvSpPr>
        <p:spPr>
          <a:xfrm>
            <a:off x="6080760" y="3017520"/>
            <a:ext cx="360" cy="868680"/>
          </a:xfrm>
          <a:prstGeom prst="line">
            <a:avLst/>
          </a:prstGeom>
          <a:ln w="25400">
            <a:solidFill>
              <a:srgbClr val="7A7FA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7"/>
          <p:cNvSpPr/>
          <p:nvPr/>
        </p:nvSpPr>
        <p:spPr>
          <a:xfrm>
            <a:off x="10085760" y="3017520"/>
            <a:ext cx="360" cy="868680"/>
          </a:xfrm>
          <a:prstGeom prst="line">
            <a:avLst/>
          </a:prstGeom>
          <a:ln w="25400">
            <a:solidFill>
              <a:srgbClr val="7A7FA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28"/>
          <p:cNvSpPr/>
          <p:nvPr/>
        </p:nvSpPr>
        <p:spPr>
          <a:xfrm>
            <a:off x="3840480" y="2011680"/>
            <a:ext cx="54792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5"/>
                </a:solidFill>
                <a:latin typeface="Calibri"/>
              </a:rPr>
              <a:t>usa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29"/>
          <p:cNvSpPr/>
          <p:nvPr/>
        </p:nvSpPr>
        <p:spPr>
          <a:xfrm>
            <a:off x="7818120" y="2011680"/>
            <a:ext cx="54792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5"/>
                </a:solidFill>
                <a:latin typeface="Calibri"/>
              </a:rPr>
              <a:t>usa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0"/>
          <p:cNvSpPr/>
          <p:nvPr/>
        </p:nvSpPr>
        <p:spPr>
          <a:xfrm>
            <a:off x="6217920" y="3337560"/>
            <a:ext cx="10965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5"/>
                </a:solidFill>
                <a:latin typeface="Calibri"/>
              </a:rPr>
              <a:t>maneja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31"/>
          <p:cNvSpPr/>
          <p:nvPr/>
        </p:nvSpPr>
        <p:spPr>
          <a:xfrm>
            <a:off x="10241280" y="3337560"/>
            <a:ext cx="12794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5"/>
                </a:solidFill>
                <a:latin typeface="Calibri"/>
              </a:rPr>
              <a:t>implementa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32"/>
          <p:cNvSpPr/>
          <p:nvPr/>
        </p:nvSpPr>
        <p:spPr>
          <a:xfrm>
            <a:off x="548640" y="3886200"/>
            <a:ext cx="3565440" cy="141660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33"/>
          <p:cNvSpPr/>
          <p:nvPr/>
        </p:nvSpPr>
        <p:spPr>
          <a:xfrm>
            <a:off x="777240" y="402336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alibri"/>
              </a:rPr>
              <a:t>Orden de la explicación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34"/>
          <p:cNvSpPr/>
          <p:nvPr/>
        </p:nvSpPr>
        <p:spPr>
          <a:xfrm>
            <a:off x="777240" y="4343400"/>
            <a:ext cx="310824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1  Producto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2  List y ArrayList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3  GestorTechMarket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4  Main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35"/>
          <p:cNvSpPr/>
          <p:nvPr/>
        </p:nvSpPr>
        <p:spPr>
          <a:xfrm>
            <a:off x="548640" y="5532120"/>
            <a:ext cx="1106352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strike="noStrike" spc="-1">
                <a:solidFill>
                  <a:schemeClr val="dk1"/>
                </a:solidFill>
                <a:latin typeface="Calibri"/>
              </a:rPr>
              <a:t>Idea central: Main habla con el usuario, el Gestor trabaja y guarda todo en nuestra propia lista.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sldNum" idx="7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11B10A31-1E85-4DB3-B6BE-1797F5C8B7C4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4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Producto: lo que se vende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548640" y="6163200"/>
            <a:ext cx="6395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8"/>
          <p:cNvSpPr/>
          <p:nvPr/>
        </p:nvSpPr>
        <p:spPr>
          <a:xfrm>
            <a:off x="731520" y="6163200"/>
            <a:ext cx="6121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Los productos se guardan en una lista. Primero, su contrato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9"/>
          <p:cNvSpPr/>
          <p:nvPr/>
        </p:nvSpPr>
        <p:spPr>
          <a:xfrm>
            <a:off x="548640" y="1554480"/>
            <a:ext cx="4662720" cy="132516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10"/>
          <p:cNvSpPr/>
          <p:nvPr/>
        </p:nvSpPr>
        <p:spPr>
          <a:xfrm>
            <a:off x="777240" y="1920240"/>
            <a:ext cx="593640" cy="5936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1"/>
          <p:cNvSpPr/>
          <p:nvPr/>
        </p:nvSpPr>
        <p:spPr>
          <a:xfrm>
            <a:off x="777240" y="192024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chemeClr val="lt1"/>
                </a:solidFill>
                <a:latin typeface="Calibri"/>
              </a:rPr>
              <a:t>4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2"/>
          <p:cNvSpPr/>
          <p:nvPr/>
        </p:nvSpPr>
        <p:spPr>
          <a:xfrm>
            <a:off x="1600200" y="178308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Cuatro atributos privados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13"/>
          <p:cNvSpPr/>
          <p:nvPr/>
        </p:nvSpPr>
        <p:spPr>
          <a:xfrm>
            <a:off x="1600200" y="2176200"/>
            <a:ext cx="34740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id, nombre, marca y precio. Nadie los toca desde afuera.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>
            <a:off x="548640" y="3063240"/>
            <a:ext cx="4662720" cy="132516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5"/>
          <p:cNvSpPr/>
          <p:nvPr/>
        </p:nvSpPr>
        <p:spPr>
          <a:xfrm>
            <a:off x="777240" y="3429000"/>
            <a:ext cx="593640" cy="5936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16"/>
          <p:cNvSpPr/>
          <p:nvPr/>
        </p:nvSpPr>
        <p:spPr>
          <a:xfrm>
            <a:off x="777240" y="342900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get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17"/>
          <p:cNvSpPr/>
          <p:nvPr/>
        </p:nvSpPr>
        <p:spPr>
          <a:xfrm>
            <a:off x="1600200" y="329184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Getters para leer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18"/>
          <p:cNvSpPr/>
          <p:nvPr/>
        </p:nvSpPr>
        <p:spPr>
          <a:xfrm>
            <a:off x="1600200" y="3684960"/>
            <a:ext cx="34740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getId, getNombre, getMarca y getPrecio.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9"/>
          <p:cNvSpPr/>
          <p:nvPr/>
        </p:nvSpPr>
        <p:spPr>
          <a:xfrm>
            <a:off x="548640" y="4572000"/>
            <a:ext cx="4662720" cy="132516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20"/>
          <p:cNvSpPr/>
          <p:nvPr/>
        </p:nvSpPr>
        <p:spPr>
          <a:xfrm>
            <a:off x="777240" y="4937760"/>
            <a:ext cx="593640" cy="59364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21"/>
          <p:cNvSpPr/>
          <p:nvPr/>
        </p:nvSpPr>
        <p:spPr>
          <a:xfrm>
            <a:off x="777240" y="493776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set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22"/>
          <p:cNvSpPr/>
          <p:nvPr/>
        </p:nvSpPr>
        <p:spPr>
          <a:xfrm>
            <a:off x="1600200" y="480060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dk1"/>
                </a:solidFill>
                <a:latin typeface="Calibri"/>
              </a:rPr>
              <a:t>setPrecio para cambiar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3"/>
          <p:cNvSpPr/>
          <p:nvPr/>
        </p:nvSpPr>
        <p:spPr>
          <a:xfrm>
            <a:off x="1600200" y="5193720"/>
            <a:ext cx="34740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Es lo único que se modifica: lo usan el descuento y el cambio de precio.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4"/>
          <p:cNvSpPr/>
          <p:nvPr/>
        </p:nvSpPr>
        <p:spPr>
          <a:xfrm>
            <a:off x="5577840" y="1554480"/>
            <a:ext cx="6061680" cy="2453040"/>
          </a:xfrm>
          <a:prstGeom prst="roundRect">
            <a:avLst>
              <a:gd name="adj" fmla="val 4472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5"/>
          <p:cNvSpPr/>
          <p:nvPr/>
        </p:nvSpPr>
        <p:spPr>
          <a:xfrm>
            <a:off x="5806440" y="170064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Producto.java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26"/>
          <p:cNvSpPr/>
          <p:nvPr/>
        </p:nvSpPr>
        <p:spPr>
          <a:xfrm>
            <a:off x="5806440" y="2057400"/>
            <a:ext cx="5695920" cy="176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public class Producto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String id;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String nombre;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String marca;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double precio;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public void setPrecio(double precio)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    this.precio = precio;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7"/>
          <p:cNvSpPr/>
          <p:nvPr/>
        </p:nvSpPr>
        <p:spPr>
          <a:xfrm>
            <a:off x="5577840" y="4160520"/>
            <a:ext cx="6061680" cy="105084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28"/>
          <p:cNvSpPr/>
          <p:nvPr/>
        </p:nvSpPr>
        <p:spPr>
          <a:xfrm>
            <a:off x="5806440" y="430668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Así se ve con toString()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29"/>
          <p:cNvSpPr/>
          <p:nvPr/>
        </p:nvSpPr>
        <p:spPr>
          <a:xfrm>
            <a:off x="5806440" y="4663440"/>
            <a:ext cx="569592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1. P01 - Laptop Gaming - ASUS - 1200.0$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2. P02 - Mouse Inalámbrico - Logitech - 25.0$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30"/>
          <p:cNvSpPr/>
          <p:nvPr/>
        </p:nvSpPr>
        <p:spPr>
          <a:xfrm>
            <a:off x="5577840" y="5349240"/>
            <a:ext cx="603432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toString() hace que cada producto se imprima de forma legible.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sldNum" idx="8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28AB081E-584B-4D4B-9DC9-E040781E8D03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5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List&lt;E&gt;: el contrato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9" name="Shape 7"/>
          <p:cNvSpPr/>
          <p:nvPr/>
        </p:nvSpPr>
        <p:spPr>
          <a:xfrm>
            <a:off x="548640" y="6163200"/>
            <a:ext cx="4667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8"/>
          <p:cNvSpPr/>
          <p:nvPr/>
        </p:nvSpPr>
        <p:spPr>
          <a:xfrm>
            <a:off x="731520" y="6163200"/>
            <a:ext cx="4393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Y ArrayList es quien cumple este contrato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548640" y="1417320"/>
            <a:ext cx="11063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chemeClr val="dk2"/>
                </a:solidFill>
                <a:latin typeface="Calibri"/>
              </a:rPr>
              <a:t>Define qué debe saber hacer una lista, sin decir cómo. En verde, lo que usa nuestro programa.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10"/>
          <p:cNvSpPr/>
          <p:nvPr/>
        </p:nvSpPr>
        <p:spPr>
          <a:xfrm>
            <a:off x="548640" y="1965960"/>
            <a:ext cx="110908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11"/>
          <p:cNvSpPr/>
          <p:nvPr/>
        </p:nvSpPr>
        <p:spPr>
          <a:xfrm>
            <a:off x="777240" y="1965960"/>
            <a:ext cx="329112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add(E e)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12"/>
          <p:cNvSpPr/>
          <p:nvPr/>
        </p:nvSpPr>
        <p:spPr>
          <a:xfrm>
            <a:off x="4206240" y="1965960"/>
            <a:ext cx="493704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Agrega un elemento al final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13"/>
          <p:cNvSpPr/>
          <p:nvPr/>
        </p:nvSpPr>
        <p:spPr>
          <a:xfrm>
            <a:off x="9418320" y="2057400"/>
            <a:ext cx="2010960" cy="310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9418320" y="2057400"/>
            <a:ext cx="20109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lo usa el Gestor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15"/>
          <p:cNvSpPr/>
          <p:nvPr/>
        </p:nvSpPr>
        <p:spPr>
          <a:xfrm>
            <a:off x="548640" y="2532960"/>
            <a:ext cx="110908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16"/>
          <p:cNvSpPr/>
          <p:nvPr/>
        </p:nvSpPr>
        <p:spPr>
          <a:xfrm>
            <a:off x="777240" y="2532960"/>
            <a:ext cx="329112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add(E e, int index)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17"/>
          <p:cNvSpPr/>
          <p:nvPr/>
        </p:nvSpPr>
        <p:spPr>
          <a:xfrm>
            <a:off x="4206240" y="2532960"/>
            <a:ext cx="493704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Agrega en una posición y corre los siguientes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18"/>
          <p:cNvSpPr/>
          <p:nvPr/>
        </p:nvSpPr>
        <p:spPr>
          <a:xfrm>
            <a:off x="9418320" y="2624400"/>
            <a:ext cx="2010960" cy="310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9418320" y="2624400"/>
            <a:ext cx="20109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parte del contrato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20"/>
          <p:cNvSpPr/>
          <p:nvPr/>
        </p:nvSpPr>
        <p:spPr>
          <a:xfrm>
            <a:off x="548640" y="3099960"/>
            <a:ext cx="110908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21"/>
          <p:cNvSpPr/>
          <p:nvPr/>
        </p:nvSpPr>
        <p:spPr>
          <a:xfrm>
            <a:off x="777240" y="3099960"/>
            <a:ext cx="329112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remove(int index)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22"/>
          <p:cNvSpPr/>
          <p:nvPr/>
        </p:nvSpPr>
        <p:spPr>
          <a:xfrm>
            <a:off x="4206240" y="3099960"/>
            <a:ext cx="493704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Elimina el de esa posición y lo devuelve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23"/>
          <p:cNvSpPr/>
          <p:nvPr/>
        </p:nvSpPr>
        <p:spPr>
          <a:xfrm>
            <a:off x="9418320" y="3191400"/>
            <a:ext cx="2010960" cy="310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24"/>
          <p:cNvSpPr/>
          <p:nvPr/>
        </p:nvSpPr>
        <p:spPr>
          <a:xfrm>
            <a:off x="9418320" y="3191400"/>
            <a:ext cx="20109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parte del contrato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25"/>
          <p:cNvSpPr/>
          <p:nvPr/>
        </p:nvSpPr>
        <p:spPr>
          <a:xfrm>
            <a:off x="548640" y="3666600"/>
            <a:ext cx="110908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26"/>
          <p:cNvSpPr/>
          <p:nvPr/>
        </p:nvSpPr>
        <p:spPr>
          <a:xfrm>
            <a:off x="777240" y="3666600"/>
            <a:ext cx="329112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get(int index)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4206240" y="3666600"/>
            <a:ext cx="493704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Devuelve el elemento de esa posición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9418320" y="3758040"/>
            <a:ext cx="2010960" cy="310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29"/>
          <p:cNvSpPr/>
          <p:nvPr/>
        </p:nvSpPr>
        <p:spPr>
          <a:xfrm>
            <a:off x="9418320" y="3758040"/>
            <a:ext cx="20109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lo usa el Gestor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30"/>
          <p:cNvSpPr/>
          <p:nvPr/>
        </p:nvSpPr>
        <p:spPr>
          <a:xfrm>
            <a:off x="548640" y="4233600"/>
            <a:ext cx="110908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31"/>
          <p:cNvSpPr/>
          <p:nvPr/>
        </p:nvSpPr>
        <p:spPr>
          <a:xfrm>
            <a:off x="777240" y="4233600"/>
            <a:ext cx="329112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size()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32"/>
          <p:cNvSpPr/>
          <p:nvPr/>
        </p:nvSpPr>
        <p:spPr>
          <a:xfrm>
            <a:off x="4206240" y="4233600"/>
            <a:ext cx="493704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Devuelve cuántos elementos hay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33"/>
          <p:cNvSpPr/>
          <p:nvPr/>
        </p:nvSpPr>
        <p:spPr>
          <a:xfrm>
            <a:off x="9418320" y="4325040"/>
            <a:ext cx="2010960" cy="310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34"/>
          <p:cNvSpPr/>
          <p:nvPr/>
        </p:nvSpPr>
        <p:spPr>
          <a:xfrm>
            <a:off x="9418320" y="4325040"/>
            <a:ext cx="20109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lo usa el Gestor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35"/>
          <p:cNvSpPr/>
          <p:nvPr/>
        </p:nvSpPr>
        <p:spPr>
          <a:xfrm>
            <a:off x="548640" y="4800600"/>
            <a:ext cx="110908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36"/>
          <p:cNvSpPr/>
          <p:nvPr/>
        </p:nvSpPr>
        <p:spPr>
          <a:xfrm>
            <a:off x="777240" y="4800600"/>
            <a:ext cx="329112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clear()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37"/>
          <p:cNvSpPr/>
          <p:nvPr/>
        </p:nvSpPr>
        <p:spPr>
          <a:xfrm>
            <a:off x="4206240" y="4800600"/>
            <a:ext cx="493704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Vacía la lista y reinicia la capacidad a 10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38"/>
          <p:cNvSpPr/>
          <p:nvPr/>
        </p:nvSpPr>
        <p:spPr>
          <a:xfrm>
            <a:off x="9418320" y="4892040"/>
            <a:ext cx="2010960" cy="310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39"/>
          <p:cNvSpPr/>
          <p:nvPr/>
        </p:nvSpPr>
        <p:spPr>
          <a:xfrm>
            <a:off x="9418320" y="4892040"/>
            <a:ext cx="20109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parte del contrato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40"/>
          <p:cNvSpPr/>
          <p:nvPr/>
        </p:nvSpPr>
        <p:spPr>
          <a:xfrm>
            <a:off x="548640" y="5367600"/>
            <a:ext cx="110908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41"/>
          <p:cNvSpPr/>
          <p:nvPr/>
        </p:nvSpPr>
        <p:spPr>
          <a:xfrm>
            <a:off x="777240" y="5367600"/>
            <a:ext cx="329112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isEmpty()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42"/>
          <p:cNvSpPr/>
          <p:nvPr/>
        </p:nvSpPr>
        <p:spPr>
          <a:xfrm>
            <a:off x="4206240" y="5367600"/>
            <a:ext cx="4937040" cy="49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Dice si la lista está vacía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43"/>
          <p:cNvSpPr/>
          <p:nvPr/>
        </p:nvSpPr>
        <p:spPr>
          <a:xfrm>
            <a:off x="9418320" y="5459040"/>
            <a:ext cx="2010960" cy="310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44"/>
          <p:cNvSpPr/>
          <p:nvPr/>
        </p:nvSpPr>
        <p:spPr>
          <a:xfrm>
            <a:off x="9418320" y="5459040"/>
            <a:ext cx="20109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lo usa el Gestor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9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859E8C6D-1823-4851-9D63-CE5EF2DF7A8A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6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ArrayList&lt;E&gt;: la lista hecha por nosotros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5" name="Shape 7"/>
          <p:cNvSpPr/>
          <p:nvPr/>
        </p:nvSpPr>
        <p:spPr>
          <a:xfrm>
            <a:off x="548640" y="6163200"/>
            <a:ext cx="514728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731520" y="6163200"/>
            <a:ext cx="4872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La lista guarda; falta quien la use: el gestor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9"/>
          <p:cNvSpPr/>
          <p:nvPr/>
        </p:nvSpPr>
        <p:spPr>
          <a:xfrm>
            <a:off x="54864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10"/>
          <p:cNvSpPr/>
          <p:nvPr/>
        </p:nvSpPr>
        <p:spPr>
          <a:xfrm>
            <a:off x="548640" y="1554480"/>
            <a:ext cx="712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lt1"/>
                </a:solidFill>
                <a:latin typeface="Calibri"/>
              </a:rPr>
              <a:t>P01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1"/>
          <p:cNvSpPr/>
          <p:nvPr/>
        </p:nvSpPr>
        <p:spPr>
          <a:xfrm>
            <a:off x="135324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12"/>
          <p:cNvSpPr/>
          <p:nvPr/>
        </p:nvSpPr>
        <p:spPr>
          <a:xfrm>
            <a:off x="1353240" y="1554480"/>
            <a:ext cx="712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lt1"/>
                </a:solidFill>
                <a:latin typeface="Calibri"/>
              </a:rPr>
              <a:t>P02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3"/>
          <p:cNvSpPr/>
          <p:nvPr/>
        </p:nvSpPr>
        <p:spPr>
          <a:xfrm>
            <a:off x="215784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14"/>
          <p:cNvSpPr/>
          <p:nvPr/>
        </p:nvSpPr>
        <p:spPr>
          <a:xfrm>
            <a:off x="2157840" y="1554480"/>
            <a:ext cx="712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lt1"/>
                </a:solidFill>
                <a:latin typeface="Calibri"/>
              </a:rPr>
              <a:t>P03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5"/>
          <p:cNvSpPr/>
          <p:nvPr/>
        </p:nvSpPr>
        <p:spPr>
          <a:xfrm>
            <a:off x="296280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6"/>
          <p:cNvSpPr/>
          <p:nvPr/>
        </p:nvSpPr>
        <p:spPr>
          <a:xfrm>
            <a:off x="2962800" y="1554480"/>
            <a:ext cx="712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lt1"/>
                </a:solidFill>
                <a:latin typeface="Calibri"/>
              </a:rPr>
              <a:t>P04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7"/>
          <p:cNvSpPr/>
          <p:nvPr/>
        </p:nvSpPr>
        <p:spPr>
          <a:xfrm>
            <a:off x="376740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8"/>
          <p:cNvSpPr/>
          <p:nvPr/>
        </p:nvSpPr>
        <p:spPr>
          <a:xfrm>
            <a:off x="457200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19"/>
          <p:cNvSpPr/>
          <p:nvPr/>
        </p:nvSpPr>
        <p:spPr>
          <a:xfrm>
            <a:off x="537660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20"/>
          <p:cNvSpPr/>
          <p:nvPr/>
        </p:nvSpPr>
        <p:spPr>
          <a:xfrm>
            <a:off x="618120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1"/>
          <p:cNvSpPr/>
          <p:nvPr/>
        </p:nvSpPr>
        <p:spPr>
          <a:xfrm>
            <a:off x="698616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2"/>
          <p:cNvSpPr/>
          <p:nvPr/>
        </p:nvSpPr>
        <p:spPr>
          <a:xfrm>
            <a:off x="7790760" y="1554480"/>
            <a:ext cx="712440" cy="6393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23"/>
          <p:cNvSpPr/>
          <p:nvPr/>
        </p:nvSpPr>
        <p:spPr>
          <a:xfrm>
            <a:off x="8961120" y="1508760"/>
            <a:ext cx="265104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size = 4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2"/>
                </a:solidFill>
                <a:latin typeface="Calibri"/>
              </a:rPr>
              <a:t>cuántos hay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capacity = 10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2"/>
                </a:solidFill>
                <a:latin typeface="Calibri"/>
              </a:rPr>
              <a:t>cuántos caben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24"/>
          <p:cNvSpPr/>
          <p:nvPr/>
        </p:nvSpPr>
        <p:spPr>
          <a:xfrm>
            <a:off x="548640" y="2514600"/>
            <a:ext cx="5394240" cy="2453040"/>
          </a:xfrm>
          <a:prstGeom prst="roundRect">
            <a:avLst>
              <a:gd name="adj" fmla="val 4472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25"/>
          <p:cNvSpPr/>
          <p:nvPr/>
        </p:nvSpPr>
        <p:spPr>
          <a:xfrm>
            <a:off x="777240" y="2660760"/>
            <a:ext cx="49370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ArrayList.java · atributos y constructor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26"/>
          <p:cNvSpPr/>
          <p:nvPr/>
        </p:nvSpPr>
        <p:spPr>
          <a:xfrm>
            <a:off x="777240" y="3017520"/>
            <a:ext cx="5028480" cy="176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public class ArrayList&lt;E&gt; implements List&lt;E&gt;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Object[] items;  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el estante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int size;        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cuántos hay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int capacity;    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cuántos caben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public ArrayList()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this.size = 0;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this.capacity = 10;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this.items = new Object[capacity];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27"/>
          <p:cNvSpPr/>
          <p:nvPr/>
        </p:nvSpPr>
        <p:spPr>
          <a:xfrm>
            <a:off x="6217920" y="2514600"/>
            <a:ext cx="5421600" cy="2453040"/>
          </a:xfrm>
          <a:prstGeom prst="roundRect">
            <a:avLst>
              <a:gd name="adj" fmla="val 4472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28"/>
          <p:cNvSpPr/>
          <p:nvPr/>
        </p:nvSpPr>
        <p:spPr>
          <a:xfrm>
            <a:off x="6446520" y="2660760"/>
            <a:ext cx="496440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ArrayList.java · cuando se llena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29"/>
          <p:cNvSpPr/>
          <p:nvPr/>
        </p:nvSpPr>
        <p:spPr>
          <a:xfrm>
            <a:off x="6446520" y="3017520"/>
            <a:ext cx="5055840" cy="176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protected boolean isFull()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return capacity == size;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protected void Expand()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Object[] aux = new Object[capacity + 10];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System.arraycopy(items, 0, aux, 0, size);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capacity += 10;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items = aux;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30"/>
          <p:cNvSpPr/>
          <p:nvPr/>
        </p:nvSpPr>
        <p:spPr>
          <a:xfrm>
            <a:off x="548640" y="5212080"/>
            <a:ext cx="5394240" cy="7308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31"/>
          <p:cNvSpPr/>
          <p:nvPr/>
        </p:nvSpPr>
        <p:spPr>
          <a:xfrm>
            <a:off x="777240" y="5212080"/>
            <a:ext cx="498276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Dato: </a:t>
            </a:r>
            <a:r>
              <a:rPr lang="en-US" sz="1300" b="0" strike="noStrike" spc="-1">
                <a:solidFill>
                  <a:schemeClr val="dk1"/>
                </a:solidFill>
                <a:latin typeface="Calibri"/>
              </a:rPr>
              <a:t>items es un Object[] porque Java no deja crear un arreglo genérico con new E[n].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32"/>
          <p:cNvSpPr/>
          <p:nvPr/>
        </p:nvSpPr>
        <p:spPr>
          <a:xfrm>
            <a:off x="6217920" y="5212080"/>
            <a:ext cx="5421600" cy="7308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33"/>
          <p:cNvSpPr/>
          <p:nvPr/>
        </p:nvSpPr>
        <p:spPr>
          <a:xfrm>
            <a:off x="6446520" y="5212080"/>
            <a:ext cx="502848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Crece de 10 en 10: </a:t>
            </a:r>
            <a:r>
              <a:rPr lang="en-US" sz="1300" b="0" strike="noStrike" spc="-1">
                <a:solidFill>
                  <a:schemeClr val="dk1"/>
                </a:solidFill>
                <a:latin typeface="Calibri"/>
              </a:rPr>
              <a:t>al agregar el producto 11, capacity pasa de 10 a 20.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 type="sldNum" idx="10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B01B7717-9F82-4617-81A1-63CE561FB2AA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7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GestorTechMarket: el cerebro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0" name="Shape 7"/>
          <p:cNvSpPr/>
          <p:nvPr/>
        </p:nvSpPr>
        <p:spPr>
          <a:xfrm>
            <a:off x="548640" y="6163200"/>
            <a:ext cx="543528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8"/>
          <p:cNvSpPr/>
          <p:nvPr/>
        </p:nvSpPr>
        <p:spPr>
          <a:xfrm>
            <a:off x="731520" y="6163200"/>
            <a:ext cx="5160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Siguiente: la funcionalidad 1, filtrar por precio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9"/>
          <p:cNvSpPr/>
          <p:nvPr/>
        </p:nvSpPr>
        <p:spPr>
          <a:xfrm>
            <a:off x="548640" y="1554480"/>
            <a:ext cx="5485680" cy="443412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10"/>
          <p:cNvSpPr/>
          <p:nvPr/>
        </p:nvSpPr>
        <p:spPr>
          <a:xfrm>
            <a:off x="777240" y="169164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chemeClr val="accent1"/>
                </a:solidFill>
                <a:latin typeface="Calibri"/>
              </a:rPr>
              <a:t>GestorTechMarket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1"/>
          <p:cNvSpPr/>
          <p:nvPr/>
        </p:nvSpPr>
        <p:spPr>
          <a:xfrm>
            <a:off x="777240" y="2148840"/>
            <a:ext cx="5028480" cy="502200"/>
          </a:xfrm>
          <a:prstGeom prst="roundRect">
            <a:avLst>
              <a:gd name="adj" fmla="val 21818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777240" y="2148840"/>
            <a:ext cx="502848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ourier New"/>
                <a:ea typeface="Courier New"/>
              </a:rPr>
              <a:t>productos : ArrayList&lt;Producto&gt;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13"/>
          <p:cNvSpPr/>
          <p:nvPr/>
        </p:nvSpPr>
        <p:spPr>
          <a:xfrm>
            <a:off x="777240" y="283464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Las 5 funcionalidades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4"/>
          <p:cNvSpPr/>
          <p:nvPr/>
        </p:nvSpPr>
        <p:spPr>
          <a:xfrm>
            <a:off x="777240" y="3154680"/>
            <a:ext cx="2468160" cy="383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15"/>
          <p:cNvSpPr/>
          <p:nvPr/>
        </p:nvSpPr>
        <p:spPr>
          <a:xfrm>
            <a:off x="777240" y="31546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filtrarPorRangoPrecio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6"/>
          <p:cNvSpPr/>
          <p:nvPr/>
        </p:nvSpPr>
        <p:spPr>
          <a:xfrm>
            <a:off x="3337560" y="3154680"/>
            <a:ext cx="2468160" cy="383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17"/>
          <p:cNvSpPr/>
          <p:nvPr/>
        </p:nvSpPr>
        <p:spPr>
          <a:xfrm>
            <a:off x="3337560" y="31546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aplicarDescuentoMarca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18"/>
          <p:cNvSpPr/>
          <p:nvPr/>
        </p:nvSpPr>
        <p:spPr>
          <a:xfrm>
            <a:off x="777240" y="3611880"/>
            <a:ext cx="2468160" cy="383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 19"/>
          <p:cNvSpPr/>
          <p:nvPr/>
        </p:nvSpPr>
        <p:spPr>
          <a:xfrm>
            <a:off x="777240" y="36118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buscarProductoBarato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20"/>
          <p:cNvSpPr/>
          <p:nvPr/>
        </p:nvSpPr>
        <p:spPr>
          <a:xfrm>
            <a:off x="3337560" y="3611880"/>
            <a:ext cx="2468160" cy="383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21"/>
          <p:cNvSpPr/>
          <p:nvPr/>
        </p:nvSpPr>
        <p:spPr>
          <a:xfrm>
            <a:off x="3337560" y="36118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reponerStockProducto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2"/>
          <p:cNvSpPr/>
          <p:nvPr/>
        </p:nvSpPr>
        <p:spPr>
          <a:xfrm>
            <a:off x="777240" y="4069080"/>
            <a:ext cx="2468160" cy="383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23"/>
          <p:cNvSpPr/>
          <p:nvPr/>
        </p:nvSpPr>
        <p:spPr>
          <a:xfrm>
            <a:off x="777240" y="406908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promedioPrecioPorMarca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24"/>
          <p:cNvSpPr/>
          <p:nvPr/>
        </p:nvSpPr>
        <p:spPr>
          <a:xfrm>
            <a:off x="777240" y="466344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Las que ayudan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5"/>
          <p:cNvSpPr/>
          <p:nvPr/>
        </p:nvSpPr>
        <p:spPr>
          <a:xfrm>
            <a:off x="777240" y="5029200"/>
            <a:ext cx="1599480" cy="3834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26"/>
          <p:cNvSpPr/>
          <p:nvPr/>
        </p:nvSpPr>
        <p:spPr>
          <a:xfrm>
            <a:off x="777240" y="502920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dk1"/>
                </a:solidFill>
                <a:latin typeface="Courier New"/>
                <a:ea typeface="Courier New"/>
              </a:rPr>
              <a:t>buscarPorId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7"/>
          <p:cNvSpPr/>
          <p:nvPr/>
        </p:nvSpPr>
        <p:spPr>
          <a:xfrm>
            <a:off x="2468880" y="5029200"/>
            <a:ext cx="1599480" cy="3834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28"/>
          <p:cNvSpPr/>
          <p:nvPr/>
        </p:nvSpPr>
        <p:spPr>
          <a:xfrm>
            <a:off x="2468880" y="502920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dk1"/>
                </a:solidFill>
                <a:latin typeface="Courier New"/>
                <a:ea typeface="Courier New"/>
              </a:rPr>
              <a:t>mostrarProductos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29"/>
          <p:cNvSpPr/>
          <p:nvPr/>
        </p:nvSpPr>
        <p:spPr>
          <a:xfrm>
            <a:off x="4160520" y="5029200"/>
            <a:ext cx="1599480" cy="3834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30"/>
          <p:cNvSpPr/>
          <p:nvPr/>
        </p:nvSpPr>
        <p:spPr>
          <a:xfrm>
            <a:off x="4160520" y="5029200"/>
            <a:ext cx="159948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dk1"/>
                </a:solidFill>
                <a:latin typeface="Courier New"/>
                <a:ea typeface="Courier New"/>
              </a:rPr>
              <a:t>validar...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31"/>
          <p:cNvSpPr/>
          <p:nvPr/>
        </p:nvSpPr>
        <p:spPr>
          <a:xfrm>
            <a:off x="777240" y="5486400"/>
            <a:ext cx="502848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2"/>
                </a:solidFill>
                <a:latin typeface="Calibri"/>
              </a:rPr>
              <a:t>agregar y pedirAgregar guardan productos; los validar revisan lo que escribe el usuario.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2"/>
          <p:cNvSpPr/>
          <p:nvPr/>
        </p:nvSpPr>
        <p:spPr>
          <a:xfrm>
            <a:off x="6400800" y="1554480"/>
            <a:ext cx="5238720" cy="178236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33"/>
          <p:cNvSpPr/>
          <p:nvPr/>
        </p:nvSpPr>
        <p:spPr>
          <a:xfrm>
            <a:off x="6629400" y="1700640"/>
            <a:ext cx="478152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GestorTechMarket.java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34"/>
          <p:cNvSpPr/>
          <p:nvPr/>
        </p:nvSpPr>
        <p:spPr>
          <a:xfrm>
            <a:off x="6629400" y="2057400"/>
            <a:ext cx="487296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public class GestorTechMarket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private ArrayList&lt;Producto&gt; productos;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public GestorTechMarket()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this.productos = new ArrayList&lt;&gt;();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35"/>
          <p:cNvSpPr/>
          <p:nvPr/>
        </p:nvSpPr>
        <p:spPr>
          <a:xfrm>
            <a:off x="6400800" y="3566160"/>
            <a:ext cx="52113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accent1"/>
                </a:solidFill>
                <a:latin typeface="Calibri"/>
              </a:rPr>
              <a:t>Todas siguen el mismo camino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36"/>
          <p:cNvSpPr/>
          <p:nvPr/>
        </p:nvSpPr>
        <p:spPr>
          <a:xfrm>
            <a:off x="6400800" y="3977640"/>
            <a:ext cx="5238720" cy="54792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7"/>
          <p:cNvSpPr/>
          <p:nvPr/>
        </p:nvSpPr>
        <p:spPr>
          <a:xfrm>
            <a:off x="6537960" y="4069080"/>
            <a:ext cx="365040" cy="3650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38"/>
          <p:cNvSpPr/>
          <p:nvPr/>
        </p:nvSpPr>
        <p:spPr>
          <a:xfrm>
            <a:off x="6537960" y="40690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lt1"/>
                </a:solidFill>
                <a:latin typeface="Calibri"/>
              </a:rPr>
              <a:t>1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39"/>
          <p:cNvSpPr/>
          <p:nvPr/>
        </p:nvSpPr>
        <p:spPr>
          <a:xfrm>
            <a:off x="7086600" y="3977640"/>
            <a:ext cx="447984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Validan: ¿hay productos? ¿datos correctos?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40"/>
          <p:cNvSpPr/>
          <p:nvPr/>
        </p:nvSpPr>
        <p:spPr>
          <a:xfrm>
            <a:off x="6400800" y="4636080"/>
            <a:ext cx="5238720" cy="54792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41"/>
          <p:cNvSpPr/>
          <p:nvPr/>
        </p:nvSpPr>
        <p:spPr>
          <a:xfrm>
            <a:off x="6537960" y="4727520"/>
            <a:ext cx="365040" cy="3650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42"/>
          <p:cNvSpPr/>
          <p:nvPr/>
        </p:nvSpPr>
        <p:spPr>
          <a:xfrm>
            <a:off x="6537960" y="472752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lt1"/>
                </a:solidFill>
                <a:latin typeface="Calibri"/>
              </a:rPr>
              <a:t>2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43"/>
          <p:cNvSpPr/>
          <p:nvPr/>
        </p:nvSpPr>
        <p:spPr>
          <a:xfrm>
            <a:off x="7086600" y="4636080"/>
            <a:ext cx="447984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Recorren la lista producto por producto (O(n))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44"/>
          <p:cNvSpPr/>
          <p:nvPr/>
        </p:nvSpPr>
        <p:spPr>
          <a:xfrm>
            <a:off x="6400800" y="5294520"/>
            <a:ext cx="5238720" cy="54792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45"/>
          <p:cNvSpPr/>
          <p:nvPr/>
        </p:nvSpPr>
        <p:spPr>
          <a:xfrm>
            <a:off x="6537960" y="5385960"/>
            <a:ext cx="365040" cy="3650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 46"/>
          <p:cNvSpPr/>
          <p:nvPr/>
        </p:nvSpPr>
        <p:spPr>
          <a:xfrm>
            <a:off x="6537960" y="538596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lt1"/>
                </a:solidFill>
                <a:latin typeface="Calibri"/>
              </a:rPr>
              <a:t>3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47"/>
          <p:cNvSpPr/>
          <p:nvPr/>
        </p:nvSpPr>
        <p:spPr>
          <a:xfrm>
            <a:off x="7086600" y="5294520"/>
            <a:ext cx="447984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Muestran el resultado, o un ERROR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ldNum" idx="11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7ED2DF1C-820B-4A81-95E5-C149D5B7A574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8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Filtrar por precio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9" name="Shape 7"/>
          <p:cNvSpPr/>
          <p:nvPr/>
        </p:nvSpPr>
        <p:spPr>
          <a:xfrm>
            <a:off x="548640" y="6163200"/>
            <a:ext cx="389916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8"/>
          <p:cNvSpPr/>
          <p:nvPr/>
        </p:nvSpPr>
        <p:spPr>
          <a:xfrm>
            <a:off x="731520" y="6163200"/>
            <a:ext cx="3624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Siguiente: el descuento por marca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9"/>
          <p:cNvSpPr/>
          <p:nvPr/>
        </p:nvSpPr>
        <p:spPr>
          <a:xfrm>
            <a:off x="9509760" y="749880"/>
            <a:ext cx="2129760" cy="3650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10"/>
          <p:cNvSpPr/>
          <p:nvPr/>
        </p:nvSpPr>
        <p:spPr>
          <a:xfrm>
            <a:off x="9509760" y="749880"/>
            <a:ext cx="2129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Funcionalidad 1 de 5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11"/>
          <p:cNvSpPr/>
          <p:nvPr/>
        </p:nvSpPr>
        <p:spPr>
          <a:xfrm>
            <a:off x="548640" y="13258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filtrarPorRangoPrecio(precioMin, precioMax)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12"/>
          <p:cNvSpPr/>
          <p:nvPr/>
        </p:nvSpPr>
        <p:spPr>
          <a:xfrm>
            <a:off x="548640" y="1828800"/>
            <a:ext cx="47541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Rango pedido: de 50 a 200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3"/>
          <p:cNvSpPr/>
          <p:nvPr/>
        </p:nvSpPr>
        <p:spPr>
          <a:xfrm>
            <a:off x="548640" y="21945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14"/>
          <p:cNvSpPr/>
          <p:nvPr/>
        </p:nvSpPr>
        <p:spPr>
          <a:xfrm>
            <a:off x="731520" y="21945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Laptop Gaming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15"/>
          <p:cNvSpPr/>
          <p:nvPr/>
        </p:nvSpPr>
        <p:spPr>
          <a:xfrm>
            <a:off x="2514600" y="21945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1200.0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16"/>
          <p:cNvSpPr/>
          <p:nvPr/>
        </p:nvSpPr>
        <p:spPr>
          <a:xfrm>
            <a:off x="3931920" y="23133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17"/>
          <p:cNvSpPr/>
          <p:nvPr/>
        </p:nvSpPr>
        <p:spPr>
          <a:xfrm>
            <a:off x="3931920" y="23133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Fuera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18"/>
          <p:cNvSpPr/>
          <p:nvPr/>
        </p:nvSpPr>
        <p:spPr>
          <a:xfrm>
            <a:off x="548640" y="28713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19"/>
          <p:cNvSpPr/>
          <p:nvPr/>
        </p:nvSpPr>
        <p:spPr>
          <a:xfrm>
            <a:off x="731520" y="28713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Mouse Inalámbrico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0"/>
          <p:cNvSpPr/>
          <p:nvPr/>
        </p:nvSpPr>
        <p:spPr>
          <a:xfrm>
            <a:off x="2514600" y="28713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25.0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21"/>
          <p:cNvSpPr/>
          <p:nvPr/>
        </p:nvSpPr>
        <p:spPr>
          <a:xfrm>
            <a:off x="3931920" y="29901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22"/>
          <p:cNvSpPr/>
          <p:nvPr/>
        </p:nvSpPr>
        <p:spPr>
          <a:xfrm>
            <a:off x="3931920" y="29901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Fuera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23"/>
          <p:cNvSpPr/>
          <p:nvPr/>
        </p:nvSpPr>
        <p:spPr>
          <a:xfrm>
            <a:off x="548640" y="35478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24"/>
          <p:cNvSpPr/>
          <p:nvPr/>
        </p:nvSpPr>
        <p:spPr>
          <a:xfrm>
            <a:off x="731520" y="35478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Teclado Mecánico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25"/>
          <p:cNvSpPr/>
          <p:nvPr/>
        </p:nvSpPr>
        <p:spPr>
          <a:xfrm>
            <a:off x="2514600" y="35478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26"/>
          <p:cNvSpPr/>
          <p:nvPr/>
        </p:nvSpPr>
        <p:spPr>
          <a:xfrm>
            <a:off x="3931920" y="36666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 27"/>
          <p:cNvSpPr/>
          <p:nvPr/>
        </p:nvSpPr>
        <p:spPr>
          <a:xfrm>
            <a:off x="3931920" y="36666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Entra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28"/>
          <p:cNvSpPr/>
          <p:nvPr/>
        </p:nvSpPr>
        <p:spPr>
          <a:xfrm>
            <a:off x="548640" y="42246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29"/>
          <p:cNvSpPr/>
          <p:nvPr/>
        </p:nvSpPr>
        <p:spPr>
          <a:xfrm>
            <a:off x="731520" y="42246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Monitor 24"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30"/>
          <p:cNvSpPr/>
          <p:nvPr/>
        </p:nvSpPr>
        <p:spPr>
          <a:xfrm>
            <a:off x="2514600" y="42246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31"/>
          <p:cNvSpPr/>
          <p:nvPr/>
        </p:nvSpPr>
        <p:spPr>
          <a:xfrm>
            <a:off x="3931920" y="43434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 32"/>
          <p:cNvSpPr/>
          <p:nvPr/>
        </p:nvSpPr>
        <p:spPr>
          <a:xfrm>
            <a:off x="3931920" y="43434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Entra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33"/>
          <p:cNvSpPr/>
          <p:nvPr/>
        </p:nvSpPr>
        <p:spPr>
          <a:xfrm>
            <a:off x="548640" y="5029200"/>
            <a:ext cx="4754160" cy="91368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34"/>
          <p:cNvSpPr/>
          <p:nvPr/>
        </p:nvSpPr>
        <p:spPr>
          <a:xfrm>
            <a:off x="777240" y="5029200"/>
            <a:ext cx="429696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2"/>
                </a:solidFill>
                <a:latin typeface="Calibri"/>
              </a:rPr>
              <a:t>Revisa y guarda en otra lista</a:t>
            </a: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: los que cumplen van a una segunda ArrayList y se muestran. Los extremos también cuentan.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35"/>
          <p:cNvSpPr/>
          <p:nvPr/>
        </p:nvSpPr>
        <p:spPr>
          <a:xfrm>
            <a:off x="5577840" y="1828800"/>
            <a:ext cx="6061680" cy="2453040"/>
          </a:xfrm>
          <a:prstGeom prst="roundRect">
            <a:avLst>
              <a:gd name="adj" fmla="val 4472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36"/>
          <p:cNvSpPr/>
          <p:nvPr/>
        </p:nvSpPr>
        <p:spPr>
          <a:xfrm>
            <a:off x="5806440" y="197496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GestorTechMarket.java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37"/>
          <p:cNvSpPr/>
          <p:nvPr/>
        </p:nvSpPr>
        <p:spPr>
          <a:xfrm>
            <a:off x="5806440" y="2331720"/>
            <a:ext cx="5695920" cy="176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if (precioMin &gt; precioMax)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ERROR y return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ArrayList&lt;String&gt; filtrados = new ArrayList&lt;&gt;();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for (int i = 0; i &lt; productos.size(); i++)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double precio = productos.get(i).getPrecio();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if (precio &gt;= precioMin &amp;&amp; precio &lt;= precioMax)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    filtrados.add(productos.get(i).getNombre());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38"/>
          <p:cNvSpPr/>
          <p:nvPr/>
        </p:nvSpPr>
        <p:spPr>
          <a:xfrm>
            <a:off x="5577840" y="4465440"/>
            <a:ext cx="6061680" cy="105084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39"/>
          <p:cNvSpPr/>
          <p:nvPr/>
        </p:nvSpPr>
        <p:spPr>
          <a:xfrm>
            <a:off x="5806440" y="461160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Salida del caso de prueba 2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40"/>
          <p:cNvSpPr/>
          <p:nvPr/>
        </p:nvSpPr>
        <p:spPr>
          <a:xfrm>
            <a:off x="5806440" y="4968360"/>
            <a:ext cx="569592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1. Teclado Mecánico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2. Monitor 24"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sldNum" idx="12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C1E33D33-B940-4E41-8B82-9E5FFB6B5063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9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Descuento por marca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1" name="Shape 7"/>
          <p:cNvSpPr/>
          <p:nvPr/>
        </p:nvSpPr>
        <p:spPr>
          <a:xfrm>
            <a:off x="548640" y="6163200"/>
            <a:ext cx="5531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8"/>
          <p:cNvSpPr/>
          <p:nvPr/>
        </p:nvSpPr>
        <p:spPr>
          <a:xfrm>
            <a:off x="731520" y="6163200"/>
            <a:ext cx="5257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Con los precios rebajados, ¿cuál es el más barato?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9"/>
          <p:cNvSpPr/>
          <p:nvPr/>
        </p:nvSpPr>
        <p:spPr>
          <a:xfrm>
            <a:off x="9509760" y="749880"/>
            <a:ext cx="2129760" cy="3650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10"/>
          <p:cNvSpPr/>
          <p:nvPr/>
        </p:nvSpPr>
        <p:spPr>
          <a:xfrm>
            <a:off x="9509760" y="749880"/>
            <a:ext cx="2129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Funcionalidad 2 de 5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 11"/>
          <p:cNvSpPr/>
          <p:nvPr/>
        </p:nvSpPr>
        <p:spPr>
          <a:xfrm>
            <a:off x="548640" y="13258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aplicarDescuentoMarca(marca, porcentaje)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12"/>
          <p:cNvSpPr/>
          <p:nvPr/>
        </p:nvSpPr>
        <p:spPr>
          <a:xfrm>
            <a:off x="548640" y="1828800"/>
            <a:ext cx="47541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Con 10 % de descuento a ASUS: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13"/>
          <p:cNvSpPr/>
          <p:nvPr/>
        </p:nvSpPr>
        <p:spPr>
          <a:xfrm>
            <a:off x="548640" y="21945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14"/>
          <p:cNvSpPr/>
          <p:nvPr/>
        </p:nvSpPr>
        <p:spPr>
          <a:xfrm>
            <a:off x="731520" y="21945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Laptop Gaming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15"/>
          <p:cNvSpPr/>
          <p:nvPr/>
        </p:nvSpPr>
        <p:spPr>
          <a:xfrm>
            <a:off x="2514600" y="21945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1200.0 → 1080.0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6"/>
          <p:cNvSpPr/>
          <p:nvPr/>
        </p:nvSpPr>
        <p:spPr>
          <a:xfrm>
            <a:off x="3931920" y="23133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17"/>
          <p:cNvSpPr/>
          <p:nvPr/>
        </p:nvSpPr>
        <p:spPr>
          <a:xfrm>
            <a:off x="3931920" y="23133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Cambia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18"/>
          <p:cNvSpPr/>
          <p:nvPr/>
        </p:nvSpPr>
        <p:spPr>
          <a:xfrm>
            <a:off x="548640" y="28713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19"/>
          <p:cNvSpPr/>
          <p:nvPr/>
        </p:nvSpPr>
        <p:spPr>
          <a:xfrm>
            <a:off x="731520" y="28713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Mouse Inalámbrico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20"/>
          <p:cNvSpPr/>
          <p:nvPr/>
        </p:nvSpPr>
        <p:spPr>
          <a:xfrm>
            <a:off x="2514600" y="28713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25.0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21"/>
          <p:cNvSpPr/>
          <p:nvPr/>
        </p:nvSpPr>
        <p:spPr>
          <a:xfrm>
            <a:off x="3931920" y="29901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22"/>
          <p:cNvSpPr/>
          <p:nvPr/>
        </p:nvSpPr>
        <p:spPr>
          <a:xfrm>
            <a:off x="3931920" y="29901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Igual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23"/>
          <p:cNvSpPr/>
          <p:nvPr/>
        </p:nvSpPr>
        <p:spPr>
          <a:xfrm>
            <a:off x="548640" y="35478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 24"/>
          <p:cNvSpPr/>
          <p:nvPr/>
        </p:nvSpPr>
        <p:spPr>
          <a:xfrm>
            <a:off x="731520" y="35478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Teclado Mecánico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 25"/>
          <p:cNvSpPr/>
          <p:nvPr/>
        </p:nvSpPr>
        <p:spPr>
          <a:xfrm>
            <a:off x="2514600" y="35478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80.0 → 72.0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26"/>
          <p:cNvSpPr/>
          <p:nvPr/>
        </p:nvSpPr>
        <p:spPr>
          <a:xfrm>
            <a:off x="3931920" y="36666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27"/>
          <p:cNvSpPr/>
          <p:nvPr/>
        </p:nvSpPr>
        <p:spPr>
          <a:xfrm>
            <a:off x="3931920" y="36666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Cambia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28"/>
          <p:cNvSpPr/>
          <p:nvPr/>
        </p:nvSpPr>
        <p:spPr>
          <a:xfrm>
            <a:off x="548640" y="42246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29"/>
          <p:cNvSpPr/>
          <p:nvPr/>
        </p:nvSpPr>
        <p:spPr>
          <a:xfrm>
            <a:off x="731520" y="42246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Monitor 24"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30"/>
          <p:cNvSpPr/>
          <p:nvPr/>
        </p:nvSpPr>
        <p:spPr>
          <a:xfrm>
            <a:off x="2514600" y="42246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31"/>
          <p:cNvSpPr/>
          <p:nvPr/>
        </p:nvSpPr>
        <p:spPr>
          <a:xfrm>
            <a:off x="3931920" y="43434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32"/>
          <p:cNvSpPr/>
          <p:nvPr/>
        </p:nvSpPr>
        <p:spPr>
          <a:xfrm>
            <a:off x="3931920" y="43434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Igual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33"/>
          <p:cNvSpPr/>
          <p:nvPr/>
        </p:nvSpPr>
        <p:spPr>
          <a:xfrm>
            <a:off x="548640" y="5029200"/>
            <a:ext cx="4754160" cy="91368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34"/>
          <p:cNvSpPr/>
          <p:nvPr/>
        </p:nvSpPr>
        <p:spPr>
          <a:xfrm>
            <a:off x="777240" y="5029200"/>
            <a:ext cx="429696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2"/>
                </a:solidFill>
                <a:latin typeface="Calibri"/>
              </a:rPr>
              <a:t>Fórmula: </a:t>
            </a: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precio × (1 − % / 100)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Productos modificados: 2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35"/>
          <p:cNvSpPr/>
          <p:nvPr/>
        </p:nvSpPr>
        <p:spPr>
          <a:xfrm>
            <a:off x="5577840" y="1828800"/>
            <a:ext cx="6061680" cy="2117520"/>
          </a:xfrm>
          <a:prstGeom prst="roundRect">
            <a:avLst>
              <a:gd name="adj" fmla="val 518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 36"/>
          <p:cNvSpPr/>
          <p:nvPr/>
        </p:nvSpPr>
        <p:spPr>
          <a:xfrm>
            <a:off x="5806440" y="197496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GestorTechMarket.java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37"/>
          <p:cNvSpPr/>
          <p:nvPr/>
        </p:nvSpPr>
        <p:spPr>
          <a:xfrm>
            <a:off x="5806440" y="2331720"/>
            <a:ext cx="5695920" cy="143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for (int i = 0; i &lt; productos.size(); i++)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if (productos.get(i).getMarca().equalsIgnoreCase(marca))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double nuevoPrecio = productos.get(i).getPrecio()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                     * (1 - porcentaje / 100);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productos.get(i).setPrecio(nuevoPrecio);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pModif++;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38"/>
          <p:cNvSpPr/>
          <p:nvPr/>
        </p:nvSpPr>
        <p:spPr>
          <a:xfrm>
            <a:off x="5577840" y="4129920"/>
            <a:ext cx="6061680" cy="123372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 39"/>
          <p:cNvSpPr/>
          <p:nvPr/>
        </p:nvSpPr>
        <p:spPr>
          <a:xfrm>
            <a:off x="5806440" y="427644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Salida del caso de prueba 3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40"/>
          <p:cNvSpPr/>
          <p:nvPr/>
        </p:nvSpPr>
        <p:spPr>
          <a:xfrm>
            <a:off x="5806440" y="4632840"/>
            <a:ext cx="56959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Productos modificados: 2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1. P01 - Laptop Gaming - ASUS - 1080.0$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3. P03 - Teclado Mecánico - ASUS - 72.0$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13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D9360BB9-B339-4224-AA03-3EEB2E62FBEC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10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El producto más barato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3" name="Shape 7"/>
          <p:cNvSpPr/>
          <p:nvPr/>
        </p:nvSpPr>
        <p:spPr>
          <a:xfrm>
            <a:off x="548640" y="6163200"/>
            <a:ext cx="4667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8"/>
          <p:cNvSpPr/>
          <p:nvPr/>
        </p:nvSpPr>
        <p:spPr>
          <a:xfrm>
            <a:off x="731520" y="6163200"/>
            <a:ext cx="4393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¿Y si queremos corregir el precio de uno?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9"/>
          <p:cNvSpPr/>
          <p:nvPr/>
        </p:nvSpPr>
        <p:spPr>
          <a:xfrm>
            <a:off x="9509760" y="749880"/>
            <a:ext cx="2129760" cy="3650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10"/>
          <p:cNvSpPr/>
          <p:nvPr/>
        </p:nvSpPr>
        <p:spPr>
          <a:xfrm>
            <a:off x="9509760" y="749880"/>
            <a:ext cx="2129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Funcionalidad 3 de 5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 11"/>
          <p:cNvSpPr/>
          <p:nvPr/>
        </p:nvSpPr>
        <p:spPr>
          <a:xfrm>
            <a:off x="548640" y="13258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buscarProductoBarato()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548640" y="1828800"/>
            <a:ext cx="47541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Los revisa uno por uno (ya con el descuento):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3"/>
          <p:cNvSpPr/>
          <p:nvPr/>
        </p:nvSpPr>
        <p:spPr>
          <a:xfrm>
            <a:off x="548640" y="21945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 14"/>
          <p:cNvSpPr/>
          <p:nvPr/>
        </p:nvSpPr>
        <p:spPr>
          <a:xfrm>
            <a:off x="731520" y="21945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Laptop Gaming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15"/>
          <p:cNvSpPr/>
          <p:nvPr/>
        </p:nvSpPr>
        <p:spPr>
          <a:xfrm>
            <a:off x="2514600" y="21945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1080.0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16"/>
          <p:cNvSpPr/>
          <p:nvPr/>
        </p:nvSpPr>
        <p:spPr>
          <a:xfrm>
            <a:off x="3931920" y="23133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17"/>
          <p:cNvSpPr/>
          <p:nvPr/>
        </p:nvSpPr>
        <p:spPr>
          <a:xfrm>
            <a:off x="3931920" y="23133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lt1"/>
                </a:solidFill>
                <a:latin typeface="Calibri"/>
              </a:rPr>
              <a:t>candidato inicial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18"/>
          <p:cNvSpPr/>
          <p:nvPr/>
        </p:nvSpPr>
        <p:spPr>
          <a:xfrm>
            <a:off x="548640" y="28713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19"/>
          <p:cNvSpPr/>
          <p:nvPr/>
        </p:nvSpPr>
        <p:spPr>
          <a:xfrm>
            <a:off x="731520" y="28713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Mouse Inalámbrico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20"/>
          <p:cNvSpPr/>
          <p:nvPr/>
        </p:nvSpPr>
        <p:spPr>
          <a:xfrm>
            <a:off x="2514600" y="28713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25.0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1"/>
          <p:cNvSpPr/>
          <p:nvPr/>
        </p:nvSpPr>
        <p:spPr>
          <a:xfrm>
            <a:off x="3931920" y="29901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 22"/>
          <p:cNvSpPr/>
          <p:nvPr/>
        </p:nvSpPr>
        <p:spPr>
          <a:xfrm>
            <a:off x="3931920" y="29901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¡nuevo candidato!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3"/>
          <p:cNvSpPr/>
          <p:nvPr/>
        </p:nvSpPr>
        <p:spPr>
          <a:xfrm>
            <a:off x="548640" y="35478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24"/>
          <p:cNvSpPr/>
          <p:nvPr/>
        </p:nvSpPr>
        <p:spPr>
          <a:xfrm>
            <a:off x="731520" y="35478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Teclado Mecánico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25"/>
          <p:cNvSpPr/>
          <p:nvPr/>
        </p:nvSpPr>
        <p:spPr>
          <a:xfrm>
            <a:off x="2514600" y="35478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72.0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26"/>
          <p:cNvSpPr/>
          <p:nvPr/>
        </p:nvSpPr>
        <p:spPr>
          <a:xfrm>
            <a:off x="3931920" y="36666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27"/>
          <p:cNvSpPr/>
          <p:nvPr/>
        </p:nvSpPr>
        <p:spPr>
          <a:xfrm>
            <a:off x="3931920" y="36666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no es menor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28"/>
          <p:cNvSpPr/>
          <p:nvPr/>
        </p:nvSpPr>
        <p:spPr>
          <a:xfrm>
            <a:off x="548640" y="42246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 29"/>
          <p:cNvSpPr/>
          <p:nvPr/>
        </p:nvSpPr>
        <p:spPr>
          <a:xfrm>
            <a:off x="731520" y="42246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Monitor 24"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 30"/>
          <p:cNvSpPr/>
          <p:nvPr/>
        </p:nvSpPr>
        <p:spPr>
          <a:xfrm>
            <a:off x="2514600" y="42246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31"/>
          <p:cNvSpPr/>
          <p:nvPr/>
        </p:nvSpPr>
        <p:spPr>
          <a:xfrm>
            <a:off x="3931920" y="43434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32"/>
          <p:cNvSpPr/>
          <p:nvPr/>
        </p:nvSpPr>
        <p:spPr>
          <a:xfrm>
            <a:off x="3931920" y="43434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no es menor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3"/>
          <p:cNvSpPr/>
          <p:nvPr/>
        </p:nvSpPr>
        <p:spPr>
          <a:xfrm>
            <a:off x="548640" y="5029200"/>
            <a:ext cx="4754160" cy="91368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34"/>
          <p:cNvSpPr/>
          <p:nvPr/>
        </p:nvSpPr>
        <p:spPr>
          <a:xfrm>
            <a:off x="777240" y="5029200"/>
            <a:ext cx="429696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2"/>
                </a:solidFill>
                <a:latin typeface="Calibri"/>
              </a:rPr>
              <a:t>Si hay empate, gana el primero: </a:t>
            </a: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solo cambia de candidato si el precio es menor, no igual.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35"/>
          <p:cNvSpPr/>
          <p:nvPr/>
        </p:nvSpPr>
        <p:spPr>
          <a:xfrm>
            <a:off x="5577840" y="1828800"/>
            <a:ext cx="6061680" cy="178236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 36"/>
          <p:cNvSpPr/>
          <p:nvPr/>
        </p:nvSpPr>
        <p:spPr>
          <a:xfrm>
            <a:off x="5806440" y="197496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GestorTechMarket.java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 37"/>
          <p:cNvSpPr/>
          <p:nvPr/>
        </p:nvSpPr>
        <p:spPr>
          <a:xfrm>
            <a:off x="5806440" y="2331720"/>
            <a:ext cx="56959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Producto barato = productos.get(0);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for (int i = 1; i &lt; productos.size(); i++)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if (productos.get(i).getPrecio() &lt; barato.getPrecio())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    barato = productos.get(i);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38"/>
          <p:cNvSpPr/>
          <p:nvPr/>
        </p:nvSpPr>
        <p:spPr>
          <a:xfrm>
            <a:off x="5577840" y="3794760"/>
            <a:ext cx="6061680" cy="86796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39"/>
          <p:cNvSpPr/>
          <p:nvPr/>
        </p:nvSpPr>
        <p:spPr>
          <a:xfrm>
            <a:off x="5806440" y="394092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Salida del caso de prueba 4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40"/>
          <p:cNvSpPr/>
          <p:nvPr/>
        </p:nvSpPr>
        <p:spPr>
          <a:xfrm>
            <a:off x="5806440" y="4297680"/>
            <a:ext cx="569592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Producto más barato: P02 - Mouse Inalámbrico - Logitech - 25.0$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ldNum" idx="14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86382330-F34C-40B5-B64F-7F43FDFA4644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11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Cambiar el precio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548640" y="6163200"/>
            <a:ext cx="418716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8"/>
          <p:cNvSpPr/>
          <p:nvPr/>
        </p:nvSpPr>
        <p:spPr>
          <a:xfrm>
            <a:off x="731520" y="6163200"/>
            <a:ext cx="3912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Por último: el promedio de una marca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9509760" y="749880"/>
            <a:ext cx="2129760" cy="3650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10"/>
          <p:cNvSpPr/>
          <p:nvPr/>
        </p:nvSpPr>
        <p:spPr>
          <a:xfrm>
            <a:off x="9509760" y="749880"/>
            <a:ext cx="2129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Funcionalidad 4 de 5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11"/>
          <p:cNvSpPr/>
          <p:nvPr/>
        </p:nvSpPr>
        <p:spPr>
          <a:xfrm>
            <a:off x="548640" y="13258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reponerStockProducto(id, nuevoPrecio)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12"/>
          <p:cNvSpPr/>
          <p:nvPr/>
        </p:nvSpPr>
        <p:spPr>
          <a:xfrm>
            <a:off x="548640" y="1828800"/>
            <a:ext cx="47541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Tres intentos de cambiar un precio: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3"/>
          <p:cNvSpPr/>
          <p:nvPr/>
        </p:nvSpPr>
        <p:spPr>
          <a:xfrm>
            <a:off x="548640" y="21945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14"/>
          <p:cNvSpPr/>
          <p:nvPr/>
        </p:nvSpPr>
        <p:spPr>
          <a:xfrm>
            <a:off x="731520" y="21945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P02 · 30.0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15"/>
          <p:cNvSpPr/>
          <p:nvPr/>
        </p:nvSpPr>
        <p:spPr>
          <a:xfrm>
            <a:off x="2514600" y="21945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25.0 → 30.0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16"/>
          <p:cNvSpPr/>
          <p:nvPr/>
        </p:nvSpPr>
        <p:spPr>
          <a:xfrm>
            <a:off x="3931920" y="23133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 17"/>
          <p:cNvSpPr/>
          <p:nvPr/>
        </p:nvSpPr>
        <p:spPr>
          <a:xfrm>
            <a:off x="3931920" y="23133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true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18"/>
          <p:cNvSpPr/>
          <p:nvPr/>
        </p:nvSpPr>
        <p:spPr>
          <a:xfrm>
            <a:off x="548640" y="28713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19"/>
          <p:cNvSpPr/>
          <p:nvPr/>
        </p:nvSpPr>
        <p:spPr>
          <a:xfrm>
            <a:off x="731520" y="28713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P99 · 500.0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20"/>
          <p:cNvSpPr/>
          <p:nvPr/>
        </p:nvSpPr>
        <p:spPr>
          <a:xfrm>
            <a:off x="2514600" y="28713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ID no existe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1"/>
          <p:cNvSpPr/>
          <p:nvPr/>
        </p:nvSpPr>
        <p:spPr>
          <a:xfrm>
            <a:off x="3931920" y="29901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Text 22"/>
          <p:cNvSpPr/>
          <p:nvPr/>
        </p:nvSpPr>
        <p:spPr>
          <a:xfrm>
            <a:off x="3931920" y="29901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false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23"/>
          <p:cNvSpPr/>
          <p:nvPr/>
        </p:nvSpPr>
        <p:spPr>
          <a:xfrm>
            <a:off x="548640" y="35478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 24"/>
          <p:cNvSpPr/>
          <p:nvPr/>
        </p:nvSpPr>
        <p:spPr>
          <a:xfrm>
            <a:off x="731520" y="35478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P01 · −500.0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25"/>
          <p:cNvSpPr/>
          <p:nvPr/>
        </p:nvSpPr>
        <p:spPr>
          <a:xfrm>
            <a:off x="2514600" y="35478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precio ≤ 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26"/>
          <p:cNvSpPr/>
          <p:nvPr/>
        </p:nvSpPr>
        <p:spPr>
          <a:xfrm>
            <a:off x="3931920" y="36666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 27"/>
          <p:cNvSpPr/>
          <p:nvPr/>
        </p:nvSpPr>
        <p:spPr>
          <a:xfrm>
            <a:off x="3931920" y="36666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false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28"/>
          <p:cNvSpPr/>
          <p:nvPr/>
        </p:nvSpPr>
        <p:spPr>
          <a:xfrm>
            <a:off x="548640" y="5029200"/>
            <a:ext cx="4754160" cy="91368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 29"/>
          <p:cNvSpPr/>
          <p:nvPr/>
        </p:nvSpPr>
        <p:spPr>
          <a:xfrm>
            <a:off x="777240" y="5029200"/>
            <a:ext cx="429696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2"/>
                </a:solidFill>
                <a:latin typeface="Calibri"/>
              </a:rPr>
              <a:t>Ojo: </a:t>
            </a: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se llama «reponer stock», pero el enunciado pide solo cambiar el precio.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30"/>
          <p:cNvSpPr/>
          <p:nvPr/>
        </p:nvSpPr>
        <p:spPr>
          <a:xfrm>
            <a:off x="5577840" y="1828800"/>
            <a:ext cx="6061680" cy="2117520"/>
          </a:xfrm>
          <a:prstGeom prst="roundRect">
            <a:avLst>
              <a:gd name="adj" fmla="val 518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 31"/>
          <p:cNvSpPr/>
          <p:nvPr/>
        </p:nvSpPr>
        <p:spPr>
          <a:xfrm>
            <a:off x="5806440" y="197496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GestorTechMarket.java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 32"/>
          <p:cNvSpPr/>
          <p:nvPr/>
        </p:nvSpPr>
        <p:spPr>
          <a:xfrm>
            <a:off x="5806440" y="2331720"/>
            <a:ext cx="5695920" cy="143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Producto p = buscarPorId(id);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if (p == null)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System.out.println("ERROR: No existe un producto con ese ID");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return false;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p.setPrecio(nuevoPrecio);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System.out.println("Precio actualizado correctamente");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return true;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33"/>
          <p:cNvSpPr/>
          <p:nvPr/>
        </p:nvSpPr>
        <p:spPr>
          <a:xfrm>
            <a:off x="5577840" y="4129920"/>
            <a:ext cx="6061680" cy="105084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 34"/>
          <p:cNvSpPr/>
          <p:nvPr/>
        </p:nvSpPr>
        <p:spPr>
          <a:xfrm>
            <a:off x="5806440" y="427644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Salida de las pruebas (5 y negativo 3)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Text 35"/>
          <p:cNvSpPr/>
          <p:nvPr/>
        </p:nvSpPr>
        <p:spPr>
          <a:xfrm>
            <a:off x="5806440" y="4632840"/>
            <a:ext cx="569592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Precio actualizado correctamente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ERROR: No existe un producto con ese ID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 type="sldNum" idx="15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8850F333-08EF-415A-B93F-1E5EBD1F4B68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12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Promedio por marca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2" name="Shape 7"/>
          <p:cNvSpPr/>
          <p:nvPr/>
        </p:nvSpPr>
        <p:spPr>
          <a:xfrm>
            <a:off x="548640" y="6163200"/>
            <a:ext cx="572328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 8"/>
          <p:cNvSpPr/>
          <p:nvPr/>
        </p:nvSpPr>
        <p:spPr>
          <a:xfrm>
            <a:off x="731520" y="6163200"/>
            <a:ext cx="5448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El catálogo está completo. ¿Cómo lo usa una persona?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9"/>
          <p:cNvSpPr/>
          <p:nvPr/>
        </p:nvSpPr>
        <p:spPr>
          <a:xfrm>
            <a:off x="9509760" y="749880"/>
            <a:ext cx="2129760" cy="3650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 10"/>
          <p:cNvSpPr/>
          <p:nvPr/>
        </p:nvSpPr>
        <p:spPr>
          <a:xfrm>
            <a:off x="9509760" y="749880"/>
            <a:ext cx="2129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Funcionalidad 5 de 5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11"/>
          <p:cNvSpPr/>
          <p:nvPr/>
        </p:nvSpPr>
        <p:spPr>
          <a:xfrm>
            <a:off x="548640" y="13258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1"/>
                </a:solidFill>
                <a:latin typeface="Courier New"/>
                <a:ea typeface="Courier New"/>
              </a:rPr>
              <a:t>promedioPrecioPorMarca(marca)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 12"/>
          <p:cNvSpPr/>
          <p:nvPr/>
        </p:nvSpPr>
        <p:spPr>
          <a:xfrm>
            <a:off x="548640" y="1828800"/>
            <a:ext cx="47541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Promedio de ASUS (ya con el descuento):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13"/>
          <p:cNvSpPr/>
          <p:nvPr/>
        </p:nvSpPr>
        <p:spPr>
          <a:xfrm>
            <a:off x="548640" y="21945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 14"/>
          <p:cNvSpPr/>
          <p:nvPr/>
        </p:nvSpPr>
        <p:spPr>
          <a:xfrm>
            <a:off x="731520" y="21945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Laptop Gaming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 15"/>
          <p:cNvSpPr/>
          <p:nvPr/>
        </p:nvSpPr>
        <p:spPr>
          <a:xfrm>
            <a:off x="2514600" y="21945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1080.0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16"/>
          <p:cNvSpPr/>
          <p:nvPr/>
        </p:nvSpPr>
        <p:spPr>
          <a:xfrm>
            <a:off x="3931920" y="23133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 17"/>
          <p:cNvSpPr/>
          <p:nvPr/>
        </p:nvSpPr>
        <p:spPr>
          <a:xfrm>
            <a:off x="3931920" y="23133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cuenta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18"/>
          <p:cNvSpPr/>
          <p:nvPr/>
        </p:nvSpPr>
        <p:spPr>
          <a:xfrm>
            <a:off x="548640" y="287136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 19"/>
          <p:cNvSpPr/>
          <p:nvPr/>
        </p:nvSpPr>
        <p:spPr>
          <a:xfrm>
            <a:off x="731520" y="287136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Mouse Inalámbrico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20"/>
          <p:cNvSpPr/>
          <p:nvPr/>
        </p:nvSpPr>
        <p:spPr>
          <a:xfrm>
            <a:off x="2514600" y="287136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25.0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21"/>
          <p:cNvSpPr/>
          <p:nvPr/>
        </p:nvSpPr>
        <p:spPr>
          <a:xfrm>
            <a:off x="3931920" y="299016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 22"/>
          <p:cNvSpPr/>
          <p:nvPr/>
        </p:nvSpPr>
        <p:spPr>
          <a:xfrm>
            <a:off x="3931920" y="29901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no es ASUS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23"/>
          <p:cNvSpPr/>
          <p:nvPr/>
        </p:nvSpPr>
        <p:spPr>
          <a:xfrm>
            <a:off x="548640" y="35478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 24"/>
          <p:cNvSpPr/>
          <p:nvPr/>
        </p:nvSpPr>
        <p:spPr>
          <a:xfrm>
            <a:off x="731520" y="35478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Teclado Mecánico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25"/>
          <p:cNvSpPr/>
          <p:nvPr/>
        </p:nvSpPr>
        <p:spPr>
          <a:xfrm>
            <a:off x="2514600" y="35478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72.0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26"/>
          <p:cNvSpPr/>
          <p:nvPr/>
        </p:nvSpPr>
        <p:spPr>
          <a:xfrm>
            <a:off x="3931920" y="36666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 27"/>
          <p:cNvSpPr/>
          <p:nvPr/>
        </p:nvSpPr>
        <p:spPr>
          <a:xfrm>
            <a:off x="3931920" y="36666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cuenta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28"/>
          <p:cNvSpPr/>
          <p:nvPr/>
        </p:nvSpPr>
        <p:spPr>
          <a:xfrm>
            <a:off x="548640" y="4224600"/>
            <a:ext cx="4754160" cy="566280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29"/>
          <p:cNvSpPr/>
          <p:nvPr/>
        </p:nvSpPr>
        <p:spPr>
          <a:xfrm>
            <a:off x="731520" y="4224600"/>
            <a:ext cx="18280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Monitor 24"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30"/>
          <p:cNvSpPr/>
          <p:nvPr/>
        </p:nvSpPr>
        <p:spPr>
          <a:xfrm>
            <a:off x="2514600" y="4224600"/>
            <a:ext cx="13708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2"/>
                </a:solidFill>
                <a:latin typeface="Calibri"/>
              </a:rPr>
              <a:t>180.0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31"/>
          <p:cNvSpPr/>
          <p:nvPr/>
        </p:nvSpPr>
        <p:spPr>
          <a:xfrm>
            <a:off x="3931920" y="4343400"/>
            <a:ext cx="1279440" cy="328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32"/>
          <p:cNvSpPr/>
          <p:nvPr/>
        </p:nvSpPr>
        <p:spPr>
          <a:xfrm>
            <a:off x="3931920" y="43434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1"/>
                </a:solidFill>
                <a:latin typeface="Calibri"/>
              </a:rPr>
              <a:t>no es ASUS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33"/>
          <p:cNvSpPr/>
          <p:nvPr/>
        </p:nvSpPr>
        <p:spPr>
          <a:xfrm>
            <a:off x="548640" y="5029200"/>
            <a:ext cx="4754160" cy="91368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Text 34"/>
          <p:cNvSpPr/>
          <p:nvPr/>
        </p:nvSpPr>
        <p:spPr>
          <a:xfrm>
            <a:off x="777240" y="5029200"/>
            <a:ext cx="429696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accent2"/>
                </a:solidFill>
                <a:latin typeface="Calibri"/>
              </a:rPr>
              <a:t>(1080.0 + 72.0) / 2 = 576.0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Sin productos de esa marca: 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35"/>
          <p:cNvSpPr/>
          <p:nvPr/>
        </p:nvSpPr>
        <p:spPr>
          <a:xfrm>
            <a:off x="5577840" y="1828800"/>
            <a:ext cx="6061680" cy="228528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 36"/>
          <p:cNvSpPr/>
          <p:nvPr/>
        </p:nvSpPr>
        <p:spPr>
          <a:xfrm>
            <a:off x="5806440" y="197496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GestorTechMarket.java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 37"/>
          <p:cNvSpPr/>
          <p:nvPr/>
        </p:nvSpPr>
        <p:spPr>
          <a:xfrm>
            <a:off x="5806440" y="2331720"/>
            <a:ext cx="5695920" cy="15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double suma = 0;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int cant = 0;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for (int i = 0; i &lt; productos.size(); i++)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if (productos.get(i).getMarca().equalsIgnoreCase(marca))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suma += productos.get(i).getPrecio();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    cant++;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 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System.out.println("Promedio: " + (suma / cant));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38"/>
          <p:cNvSpPr/>
          <p:nvPr/>
        </p:nvSpPr>
        <p:spPr>
          <a:xfrm>
            <a:off x="5577840" y="4297680"/>
            <a:ext cx="6061680" cy="105084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 39"/>
          <p:cNvSpPr/>
          <p:nvPr/>
        </p:nvSpPr>
        <p:spPr>
          <a:xfrm>
            <a:off x="5806440" y="444384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Salida de las pruebas (6 y negativo 2)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 40"/>
          <p:cNvSpPr/>
          <p:nvPr/>
        </p:nvSpPr>
        <p:spPr>
          <a:xfrm>
            <a:off x="5806440" y="4800600"/>
            <a:ext cx="569592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Promedio: 576.0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Promedio: 0.0   (marca sin productos)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ldNum" idx="16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C7636787-3041-4BA0-A459-832A4E91EE44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13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3 · LA IMPLEMENTACIÓN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Main: la puerta de entrada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4" name="Shape 7"/>
          <p:cNvSpPr/>
          <p:nvPr/>
        </p:nvSpPr>
        <p:spPr>
          <a:xfrm>
            <a:off x="548640" y="6163200"/>
            <a:ext cx="4955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 8"/>
          <p:cNvSpPr/>
          <p:nvPr/>
        </p:nvSpPr>
        <p:spPr>
          <a:xfrm>
            <a:off x="731520" y="6163200"/>
            <a:ext cx="4681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Todo junto funciona. ¿Lo probamos de verdad?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9"/>
          <p:cNvSpPr/>
          <p:nvPr/>
        </p:nvSpPr>
        <p:spPr>
          <a:xfrm>
            <a:off x="548640" y="1554480"/>
            <a:ext cx="4754160" cy="2696760"/>
          </a:xfrm>
          <a:prstGeom prst="roundRect">
            <a:avLst>
              <a:gd name="adj" fmla="val 4068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Text 10"/>
          <p:cNvSpPr/>
          <p:nvPr/>
        </p:nvSpPr>
        <p:spPr>
          <a:xfrm>
            <a:off x="777240" y="1700640"/>
            <a:ext cx="42969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El menú en consola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 11"/>
          <p:cNvSpPr/>
          <p:nvPr/>
        </p:nvSpPr>
        <p:spPr>
          <a:xfrm>
            <a:off x="777240" y="2057400"/>
            <a:ext cx="4388400" cy="205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---MENÚ---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1. Agregar producto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2. Mostrar todos los productos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3. Filtrar productos por rango de precio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4. Aplicar descuento por marca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5. Buscar producto más barato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6. Reponer stock de producto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7. Promedio de precio por marca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8. Ejecutar casos de prueba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9. Salir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Opción: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2"/>
          <p:cNvSpPr/>
          <p:nvPr/>
        </p:nvSpPr>
        <p:spPr>
          <a:xfrm>
            <a:off x="5577840" y="1554480"/>
            <a:ext cx="6061680" cy="228528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 13"/>
          <p:cNvSpPr/>
          <p:nvPr/>
        </p:nvSpPr>
        <p:spPr>
          <a:xfrm>
            <a:off x="5806440" y="1700640"/>
            <a:ext cx="56044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Main.java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 14"/>
          <p:cNvSpPr/>
          <p:nvPr/>
        </p:nvSpPr>
        <p:spPr>
          <a:xfrm>
            <a:off x="5806440" y="2057400"/>
            <a:ext cx="5695920" cy="15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int opcion = gestor.validarOpcion(in, 1, 9);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if (opcion == 3)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double min = gestor.validarNumero(in, "precio mínimo", 0);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double max = gestor.validarNumero(in, "precio máximo", 0);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2"/>
                </a:solidFill>
                <a:latin typeface="Courier New"/>
                <a:ea typeface="Courier New"/>
              </a:rPr>
              <a:t>    gestor.filtrarPorRangoPrecio(min, max);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 else if (opcion == 8) {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   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casos de prueba...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5"/>
          <p:cNvSpPr/>
          <p:nvPr/>
        </p:nvSpPr>
        <p:spPr>
          <a:xfrm>
            <a:off x="548640" y="4434840"/>
            <a:ext cx="5439960" cy="155376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16"/>
          <p:cNvSpPr/>
          <p:nvPr/>
        </p:nvSpPr>
        <p:spPr>
          <a:xfrm>
            <a:off x="777240" y="4544640"/>
            <a:ext cx="493704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accent1"/>
                </a:solidFill>
                <a:latin typeface="Calibri"/>
              </a:rPr>
              <a:t>Lo que escribe el usuario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 17"/>
          <p:cNvSpPr/>
          <p:nvPr/>
        </p:nvSpPr>
        <p:spPr>
          <a:xfrm>
            <a:off x="777240" y="4864680"/>
            <a:ext cx="498276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dk1"/>
                </a:solidFill>
                <a:latin typeface="Calibri"/>
              </a:rPr>
              <a:t>Si escribe letras donde va un número, el programa vuelve a preguntar. Si deja algo vacío o repite un ID, también.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 18"/>
          <p:cNvSpPr/>
          <p:nvPr/>
        </p:nvSpPr>
        <p:spPr>
          <a:xfrm>
            <a:off x="777240" y="5596200"/>
            <a:ext cx="4982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2"/>
                </a:solidFill>
                <a:latin typeface="Calibri"/>
              </a:rPr>
              <a:t>validarOpcion · validarNumero · validarPrecio · validarNombre · validarId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19"/>
          <p:cNvSpPr/>
          <p:nvPr/>
        </p:nvSpPr>
        <p:spPr>
          <a:xfrm>
            <a:off x="6199560" y="4434840"/>
            <a:ext cx="5439960" cy="155376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 20"/>
          <p:cNvSpPr/>
          <p:nvPr/>
        </p:nvSpPr>
        <p:spPr>
          <a:xfrm>
            <a:off x="6428160" y="4544640"/>
            <a:ext cx="493704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accent1"/>
                </a:solidFill>
                <a:latin typeface="Calibri"/>
              </a:rPr>
              <a:t>Las reglas del negocio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 21"/>
          <p:cNvSpPr/>
          <p:nvPr/>
        </p:nvSpPr>
        <p:spPr>
          <a:xfrm>
            <a:off x="6428160" y="4864680"/>
            <a:ext cx="498276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chemeClr val="dk1"/>
                </a:solidFill>
                <a:latin typeface="Calibri"/>
              </a:rPr>
              <a:t>Catálogo vacío, rango al revés, porcentaje fuera de 0–100, precio ≤ 0 o ID que no existe: se avisa con un ERROR y no se rompe.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 22"/>
          <p:cNvSpPr/>
          <p:nvPr/>
        </p:nvSpPr>
        <p:spPr>
          <a:xfrm>
            <a:off x="6428160" y="5596200"/>
            <a:ext cx="4982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dk2"/>
                </a:solidFill>
                <a:latin typeface="Calibri"/>
              </a:rPr>
              <a:t>Ejemplo: ERROR: No hay productos registrados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 type="sldNum" idx="17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67272E6E-2F29-43A1-8A66-06EA93E2A825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14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4 · LOS CASOS DE PRUEBA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Probamos lo que debe funcionar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8" name="Shape 7"/>
          <p:cNvSpPr/>
          <p:nvPr/>
        </p:nvSpPr>
        <p:spPr>
          <a:xfrm>
            <a:off x="548640" y="6163200"/>
            <a:ext cx="5243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 8"/>
          <p:cNvSpPr/>
          <p:nvPr/>
        </p:nvSpPr>
        <p:spPr>
          <a:xfrm>
            <a:off x="731520" y="6163200"/>
            <a:ext cx="4969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Ahora lo contrario: lo que NO debería funcionar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9"/>
          <p:cNvSpPr/>
          <p:nvPr/>
        </p:nvSpPr>
        <p:spPr>
          <a:xfrm>
            <a:off x="9509760" y="749880"/>
            <a:ext cx="2129760" cy="3650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10"/>
          <p:cNvSpPr/>
          <p:nvPr/>
        </p:nvSpPr>
        <p:spPr>
          <a:xfrm>
            <a:off x="9509760" y="749880"/>
            <a:ext cx="2129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6 casos · opción 8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11"/>
          <p:cNvSpPr/>
          <p:nvPr/>
        </p:nvSpPr>
        <p:spPr>
          <a:xfrm>
            <a:off x="548640" y="1554480"/>
            <a:ext cx="6125760" cy="228528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 12"/>
          <p:cNvSpPr/>
          <p:nvPr/>
        </p:nvSpPr>
        <p:spPr>
          <a:xfrm>
            <a:off x="777240" y="1700640"/>
            <a:ext cx="56685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Main.java · casos positivos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13"/>
          <p:cNvSpPr/>
          <p:nvPr/>
        </p:nvSpPr>
        <p:spPr>
          <a:xfrm>
            <a:off x="777240" y="2057400"/>
            <a:ext cx="5760000" cy="15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GestorTechMarket g1 = new GestorTechMarket();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g1.agregar(new Producto("P01", "Laptop Gaming", "ASUS", 1200.0));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// ... P02, P03 y P04 igual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g1.mostrarProductos();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g1.filtrarPorRangoPrecio(50, 200);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g1.aplicarDescuentoMarca("ASUS", 10);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g1.buscarProductoBarato();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g1.reponerStockProducto("P02", 30.0);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g1.promedioPrecioPorMarca("ASUS");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14"/>
          <p:cNvSpPr/>
          <p:nvPr/>
        </p:nvSpPr>
        <p:spPr>
          <a:xfrm>
            <a:off x="548640" y="4023360"/>
            <a:ext cx="6125760" cy="159948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15"/>
          <p:cNvSpPr/>
          <p:nvPr/>
        </p:nvSpPr>
        <p:spPr>
          <a:xfrm>
            <a:off x="777240" y="4169520"/>
            <a:ext cx="56685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▶ Salida del caso 3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16"/>
          <p:cNvSpPr/>
          <p:nvPr/>
        </p:nvSpPr>
        <p:spPr>
          <a:xfrm>
            <a:off x="777240" y="4526280"/>
            <a:ext cx="5760000" cy="95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Productos modificados: 2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1. P01 - Laptop Gaming - ASUS - 1080.0$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2. P02 - Mouse Inalámbrico - Logitech - 25.0$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3. P03 - Teclado Mecánico - ASUS - 72.0$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accent3"/>
                </a:solidFill>
                <a:latin typeface="Courier New"/>
                <a:ea typeface="Courier New"/>
              </a:rPr>
              <a:t>4. P04 - Monitor 24" - Samsung - 180.0$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17"/>
          <p:cNvSpPr/>
          <p:nvPr/>
        </p:nvSpPr>
        <p:spPr>
          <a:xfrm>
            <a:off x="6949440" y="1554480"/>
            <a:ext cx="4690080" cy="6577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18"/>
          <p:cNvSpPr/>
          <p:nvPr/>
        </p:nvSpPr>
        <p:spPr>
          <a:xfrm>
            <a:off x="7086600" y="1700640"/>
            <a:ext cx="365040" cy="365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 19"/>
          <p:cNvSpPr/>
          <p:nvPr/>
        </p:nvSpPr>
        <p:spPr>
          <a:xfrm>
            <a:off x="7086600" y="170064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1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 20"/>
          <p:cNvSpPr/>
          <p:nvPr/>
        </p:nvSpPr>
        <p:spPr>
          <a:xfrm>
            <a:off x="7635240" y="162756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Mostrar los 4 productos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 21"/>
          <p:cNvSpPr/>
          <p:nvPr/>
        </p:nvSpPr>
        <p:spPr>
          <a:xfrm>
            <a:off x="7635240" y="1920240"/>
            <a:ext cx="3839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P01 a P04 con su precio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22"/>
          <p:cNvSpPr/>
          <p:nvPr/>
        </p:nvSpPr>
        <p:spPr>
          <a:xfrm>
            <a:off x="6949440" y="2304360"/>
            <a:ext cx="4690080" cy="6577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23"/>
          <p:cNvSpPr/>
          <p:nvPr/>
        </p:nvSpPr>
        <p:spPr>
          <a:xfrm>
            <a:off x="7086600" y="2450520"/>
            <a:ext cx="365040" cy="365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 24"/>
          <p:cNvSpPr/>
          <p:nvPr/>
        </p:nvSpPr>
        <p:spPr>
          <a:xfrm>
            <a:off x="7086600" y="245052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2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 25"/>
          <p:cNvSpPr/>
          <p:nvPr/>
        </p:nvSpPr>
        <p:spPr>
          <a:xfrm>
            <a:off x="7635240" y="23774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Filtrar entre 50 y 200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 26"/>
          <p:cNvSpPr/>
          <p:nvPr/>
        </p:nvSpPr>
        <p:spPr>
          <a:xfrm>
            <a:off x="7635240" y="2670120"/>
            <a:ext cx="3839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Teclado Mecánico, Monitor 24"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27"/>
          <p:cNvSpPr/>
          <p:nvPr/>
        </p:nvSpPr>
        <p:spPr>
          <a:xfrm>
            <a:off x="6949440" y="3054240"/>
            <a:ext cx="4690080" cy="6577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28"/>
          <p:cNvSpPr/>
          <p:nvPr/>
        </p:nvSpPr>
        <p:spPr>
          <a:xfrm>
            <a:off x="7086600" y="3200400"/>
            <a:ext cx="365040" cy="365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 29"/>
          <p:cNvSpPr/>
          <p:nvPr/>
        </p:nvSpPr>
        <p:spPr>
          <a:xfrm>
            <a:off x="7086600" y="32004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3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 30"/>
          <p:cNvSpPr/>
          <p:nvPr/>
        </p:nvSpPr>
        <p:spPr>
          <a:xfrm>
            <a:off x="7635240" y="312732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10 % de descuento a ASUS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 31"/>
          <p:cNvSpPr/>
          <p:nvPr/>
        </p:nvSpPr>
        <p:spPr>
          <a:xfrm>
            <a:off x="7635240" y="3420000"/>
            <a:ext cx="3839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Productos modificados: 2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32"/>
          <p:cNvSpPr/>
          <p:nvPr/>
        </p:nvSpPr>
        <p:spPr>
          <a:xfrm>
            <a:off x="6949440" y="3803760"/>
            <a:ext cx="4690080" cy="6577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33"/>
          <p:cNvSpPr/>
          <p:nvPr/>
        </p:nvSpPr>
        <p:spPr>
          <a:xfrm>
            <a:off x="7086600" y="3950280"/>
            <a:ext cx="365040" cy="365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Text 34"/>
          <p:cNvSpPr/>
          <p:nvPr/>
        </p:nvSpPr>
        <p:spPr>
          <a:xfrm>
            <a:off x="7086600" y="39502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4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 35"/>
          <p:cNvSpPr/>
          <p:nvPr/>
        </p:nvSpPr>
        <p:spPr>
          <a:xfrm>
            <a:off x="7635240" y="387720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El más barato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 36"/>
          <p:cNvSpPr/>
          <p:nvPr/>
        </p:nvSpPr>
        <p:spPr>
          <a:xfrm>
            <a:off x="7635240" y="4169520"/>
            <a:ext cx="3839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P02 - Mouse Inalámbrico · 25.0$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37"/>
          <p:cNvSpPr/>
          <p:nvPr/>
        </p:nvSpPr>
        <p:spPr>
          <a:xfrm>
            <a:off x="6949440" y="4553640"/>
            <a:ext cx="4690080" cy="6577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38"/>
          <p:cNvSpPr/>
          <p:nvPr/>
        </p:nvSpPr>
        <p:spPr>
          <a:xfrm>
            <a:off x="7086600" y="4700160"/>
            <a:ext cx="365040" cy="365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 39"/>
          <p:cNvSpPr/>
          <p:nvPr/>
        </p:nvSpPr>
        <p:spPr>
          <a:xfrm>
            <a:off x="7086600" y="470016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5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 40"/>
          <p:cNvSpPr/>
          <p:nvPr/>
        </p:nvSpPr>
        <p:spPr>
          <a:xfrm>
            <a:off x="7635240" y="462672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Cambiar P02 a 30.0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 41"/>
          <p:cNvSpPr/>
          <p:nvPr/>
        </p:nvSpPr>
        <p:spPr>
          <a:xfrm>
            <a:off x="7635240" y="4919400"/>
            <a:ext cx="3839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Precio actualizado correctamente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42"/>
          <p:cNvSpPr/>
          <p:nvPr/>
        </p:nvSpPr>
        <p:spPr>
          <a:xfrm>
            <a:off x="6949440" y="5303520"/>
            <a:ext cx="4690080" cy="6577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43"/>
          <p:cNvSpPr/>
          <p:nvPr/>
        </p:nvSpPr>
        <p:spPr>
          <a:xfrm>
            <a:off x="7086600" y="5449680"/>
            <a:ext cx="365040" cy="365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 44"/>
          <p:cNvSpPr/>
          <p:nvPr/>
        </p:nvSpPr>
        <p:spPr>
          <a:xfrm>
            <a:off x="7086600" y="54496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6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 45"/>
          <p:cNvSpPr/>
          <p:nvPr/>
        </p:nvSpPr>
        <p:spPr>
          <a:xfrm>
            <a:off x="7635240" y="537660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Promedio de ASUS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 46"/>
          <p:cNvSpPr/>
          <p:nvPr/>
        </p:nvSpPr>
        <p:spPr>
          <a:xfrm>
            <a:off x="7635240" y="5669280"/>
            <a:ext cx="3839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accent1"/>
                </a:solidFill>
                <a:latin typeface="Calibri"/>
              </a:rPr>
              <a:t>Promedio: 576.0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sldNum" idx="18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FAD3E45B-D897-4214-BC4F-EC68C491666B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15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Text 0"/>
          <p:cNvSpPr/>
          <p:nvPr/>
        </p:nvSpPr>
        <p:spPr>
          <a:xfrm>
            <a:off x="548640" y="2743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197">
                <a:solidFill>
                  <a:schemeClr val="accent1"/>
                </a:solidFill>
                <a:latin typeface="Calibri"/>
              </a:rPr>
              <a:t>4 · LOS CASOS DE PRUEBA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1"/>
          <p:cNvSpPr/>
          <p:nvPr/>
        </p:nvSpPr>
        <p:spPr>
          <a:xfrm>
            <a:off x="104241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2"/>
          <p:cNvSpPr/>
          <p:nvPr/>
        </p:nvSpPr>
        <p:spPr>
          <a:xfrm>
            <a:off x="1066176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3"/>
          <p:cNvSpPr/>
          <p:nvPr/>
        </p:nvSpPr>
        <p:spPr>
          <a:xfrm>
            <a:off x="1089972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4"/>
          <p:cNvSpPr/>
          <p:nvPr/>
        </p:nvSpPr>
        <p:spPr>
          <a:xfrm>
            <a:off x="11137320" y="329040"/>
            <a:ext cx="127440" cy="127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Shape 5"/>
          <p:cNvSpPr/>
          <p:nvPr/>
        </p:nvSpPr>
        <p:spPr>
          <a:xfrm>
            <a:off x="11375280" y="329040"/>
            <a:ext cx="127440" cy="127440"/>
          </a:xfrm>
          <a:prstGeom prst="ellipse">
            <a:avLst/>
          </a:prstGeom>
          <a:solidFill>
            <a:schemeClr val="accent6">
              <a:alpha val="5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548640" y="567000"/>
            <a:ext cx="8777520" cy="73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>
                <a:solidFill>
                  <a:schemeClr val="dk1"/>
                </a:solidFill>
                <a:latin typeface="Cambria"/>
              </a:rPr>
              <a:t>Probamos lo que debe fallar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6" name="Shape 7"/>
          <p:cNvSpPr/>
          <p:nvPr/>
        </p:nvSpPr>
        <p:spPr>
          <a:xfrm>
            <a:off x="548640" y="6163200"/>
            <a:ext cx="4955400" cy="3650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 8"/>
          <p:cNvSpPr/>
          <p:nvPr/>
        </p:nvSpPr>
        <p:spPr>
          <a:xfrm>
            <a:off x="731520" y="6163200"/>
            <a:ext cx="46810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accent1"/>
                </a:solidFill>
                <a:latin typeface="Calibri"/>
              </a:rPr>
              <a:t>→  Con todo probado, estas son las conclusiones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9"/>
          <p:cNvSpPr/>
          <p:nvPr/>
        </p:nvSpPr>
        <p:spPr>
          <a:xfrm>
            <a:off x="9509760" y="749880"/>
            <a:ext cx="2129760" cy="3650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10"/>
          <p:cNvSpPr/>
          <p:nvPr/>
        </p:nvSpPr>
        <p:spPr>
          <a:xfrm>
            <a:off x="9509760" y="749880"/>
            <a:ext cx="2129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8 casos · opción 8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11"/>
          <p:cNvSpPr/>
          <p:nvPr/>
        </p:nvSpPr>
        <p:spPr>
          <a:xfrm>
            <a:off x="548640" y="1554480"/>
            <a:ext cx="6125760" cy="228528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Text 12"/>
          <p:cNvSpPr/>
          <p:nvPr/>
        </p:nvSpPr>
        <p:spPr>
          <a:xfrm>
            <a:off x="777240" y="1700640"/>
            <a:ext cx="56685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chemeClr val="accent2"/>
                </a:solidFill>
                <a:latin typeface="Calibri"/>
              </a:rPr>
              <a:t>Main.java · casos negativos (resumen)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 13"/>
          <p:cNvSpPr/>
          <p:nvPr/>
        </p:nvSpPr>
        <p:spPr>
          <a:xfrm>
            <a:off x="777240" y="2057400"/>
            <a:ext cx="5760000" cy="15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GestorTechMarket g2 = new GestorTechMarket();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g2.mostrarProductos();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sin productos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g2.aplicarDescuentoMarca("Logitech", 10);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marca sin productos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g2.reponerStockProducto("P99", 500.0);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ID inexistente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g2.filtrarPorRangoPrecio(500, 100);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rango al revés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g2.aplicarDescuentoMarca("ASUS", 150);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más de 100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g2.aplicarDescuentoMarca("ASUS", -10);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negativo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g2.reponerStockProducto("P01", -500.0);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precio negativo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chemeClr val="lt1"/>
                </a:solidFill>
                <a:latin typeface="Courier New"/>
                <a:ea typeface="Courier New"/>
              </a:rPr>
              <a:t>g2.filtrarPorRangoPrecio(5000, 10000);</a:t>
            </a:r>
            <a:r>
              <a:rPr lang="en-US" sz="1100" b="0" strike="noStrike" spc="-1">
                <a:solidFill>
                  <a:schemeClr val="accent6"/>
                </a:solidFill>
                <a:latin typeface="Courier New"/>
                <a:ea typeface="Courier New"/>
              </a:rPr>
              <a:t> // sin resultados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14"/>
          <p:cNvSpPr/>
          <p:nvPr/>
        </p:nvSpPr>
        <p:spPr>
          <a:xfrm>
            <a:off x="548640" y="4069080"/>
            <a:ext cx="3016800" cy="132516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 15"/>
          <p:cNvSpPr/>
          <p:nvPr/>
        </p:nvSpPr>
        <p:spPr>
          <a:xfrm>
            <a:off x="777240" y="4114800"/>
            <a:ext cx="9136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strike="noStrike" spc="-1">
                <a:solidFill>
                  <a:schemeClr val="accent3"/>
                </a:solidFill>
                <a:latin typeface="Calibri"/>
              </a:rPr>
              <a:t>6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 16"/>
          <p:cNvSpPr/>
          <p:nvPr/>
        </p:nvSpPr>
        <p:spPr>
          <a:xfrm>
            <a:off x="1645920" y="4114800"/>
            <a:ext cx="178236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casos positivos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17"/>
          <p:cNvSpPr/>
          <p:nvPr/>
        </p:nvSpPr>
        <p:spPr>
          <a:xfrm>
            <a:off x="3657600" y="4069080"/>
            <a:ext cx="3016800" cy="132516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 18"/>
          <p:cNvSpPr/>
          <p:nvPr/>
        </p:nvSpPr>
        <p:spPr>
          <a:xfrm>
            <a:off x="3886200" y="4114800"/>
            <a:ext cx="91368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strike="noStrike" spc="-1">
                <a:solidFill>
                  <a:schemeClr val="accent4"/>
                </a:solidFill>
                <a:latin typeface="Calibri"/>
              </a:rPr>
              <a:t>8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 19"/>
          <p:cNvSpPr/>
          <p:nvPr/>
        </p:nvSpPr>
        <p:spPr>
          <a:xfrm>
            <a:off x="4754880" y="4114800"/>
            <a:ext cx="178236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chemeClr val="lt1"/>
                </a:solidFill>
                <a:latin typeface="Calibri"/>
              </a:rPr>
              <a:t>casos negativos y de borde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20"/>
          <p:cNvSpPr/>
          <p:nvPr/>
        </p:nvSpPr>
        <p:spPr>
          <a:xfrm>
            <a:off x="6949440" y="155448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21"/>
          <p:cNvSpPr/>
          <p:nvPr/>
        </p:nvSpPr>
        <p:spPr>
          <a:xfrm>
            <a:off x="7059240" y="162756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 22"/>
          <p:cNvSpPr/>
          <p:nvPr/>
        </p:nvSpPr>
        <p:spPr>
          <a:xfrm>
            <a:off x="7059240" y="16275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1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23"/>
          <p:cNvSpPr/>
          <p:nvPr/>
        </p:nvSpPr>
        <p:spPr>
          <a:xfrm>
            <a:off x="7571160" y="159120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Catálogo vacío (los 6 métodos)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 24"/>
          <p:cNvSpPr/>
          <p:nvPr/>
        </p:nvSpPr>
        <p:spPr>
          <a:xfrm>
            <a:off x="7571160" y="181044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ERROR: No hay productos registrados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25"/>
          <p:cNvSpPr/>
          <p:nvPr/>
        </p:nvSpPr>
        <p:spPr>
          <a:xfrm>
            <a:off x="6949440" y="210312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26"/>
          <p:cNvSpPr/>
          <p:nvPr/>
        </p:nvSpPr>
        <p:spPr>
          <a:xfrm>
            <a:off x="7059240" y="217620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27"/>
          <p:cNvSpPr/>
          <p:nvPr/>
        </p:nvSpPr>
        <p:spPr>
          <a:xfrm>
            <a:off x="7059240" y="21762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2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 28"/>
          <p:cNvSpPr/>
          <p:nvPr/>
        </p:nvSpPr>
        <p:spPr>
          <a:xfrm>
            <a:off x="7571160" y="213984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Marca sin productos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29"/>
          <p:cNvSpPr/>
          <p:nvPr/>
        </p:nvSpPr>
        <p:spPr>
          <a:xfrm>
            <a:off x="7571160" y="235908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No hay productos de la marca Logitech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30"/>
          <p:cNvSpPr/>
          <p:nvPr/>
        </p:nvSpPr>
        <p:spPr>
          <a:xfrm>
            <a:off x="6949440" y="265176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31"/>
          <p:cNvSpPr/>
          <p:nvPr/>
        </p:nvSpPr>
        <p:spPr>
          <a:xfrm>
            <a:off x="7059240" y="272484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32"/>
          <p:cNvSpPr/>
          <p:nvPr/>
        </p:nvSpPr>
        <p:spPr>
          <a:xfrm>
            <a:off x="7059240" y="27248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3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 33"/>
          <p:cNvSpPr/>
          <p:nvPr/>
        </p:nvSpPr>
        <p:spPr>
          <a:xfrm>
            <a:off x="7571160" y="268848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ID que no existe (P99)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34"/>
          <p:cNvSpPr/>
          <p:nvPr/>
        </p:nvSpPr>
        <p:spPr>
          <a:xfrm>
            <a:off x="7571160" y="290772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ERROR: No existe un producto con ese ID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35"/>
          <p:cNvSpPr/>
          <p:nvPr/>
        </p:nvSpPr>
        <p:spPr>
          <a:xfrm>
            <a:off x="6949440" y="320040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36"/>
          <p:cNvSpPr/>
          <p:nvPr/>
        </p:nvSpPr>
        <p:spPr>
          <a:xfrm>
            <a:off x="7059240" y="327348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 37"/>
          <p:cNvSpPr/>
          <p:nvPr/>
        </p:nvSpPr>
        <p:spPr>
          <a:xfrm>
            <a:off x="7059240" y="32734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4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38"/>
          <p:cNvSpPr/>
          <p:nvPr/>
        </p:nvSpPr>
        <p:spPr>
          <a:xfrm>
            <a:off x="7571160" y="323712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Rango al revés (500 a 100)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 39"/>
          <p:cNvSpPr/>
          <p:nvPr/>
        </p:nvSpPr>
        <p:spPr>
          <a:xfrm>
            <a:off x="7571160" y="345636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ERROR: El precio mínimo no puede ser mayor que el máximo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40"/>
          <p:cNvSpPr/>
          <p:nvPr/>
        </p:nvSpPr>
        <p:spPr>
          <a:xfrm>
            <a:off x="6949440" y="374904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41"/>
          <p:cNvSpPr/>
          <p:nvPr/>
        </p:nvSpPr>
        <p:spPr>
          <a:xfrm>
            <a:off x="7059240" y="382212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Text 42"/>
          <p:cNvSpPr/>
          <p:nvPr/>
        </p:nvSpPr>
        <p:spPr>
          <a:xfrm>
            <a:off x="7059240" y="38221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5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Text 43"/>
          <p:cNvSpPr/>
          <p:nvPr/>
        </p:nvSpPr>
        <p:spPr>
          <a:xfrm>
            <a:off x="7571160" y="378576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Descuento de 150 %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44"/>
          <p:cNvSpPr/>
          <p:nvPr/>
        </p:nvSpPr>
        <p:spPr>
          <a:xfrm>
            <a:off x="7571160" y="400500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ERROR: El porcentaje debe estar entre 0 y 100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45"/>
          <p:cNvSpPr/>
          <p:nvPr/>
        </p:nvSpPr>
        <p:spPr>
          <a:xfrm>
            <a:off x="6949440" y="429768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46"/>
          <p:cNvSpPr/>
          <p:nvPr/>
        </p:nvSpPr>
        <p:spPr>
          <a:xfrm>
            <a:off x="7059240" y="437076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 47"/>
          <p:cNvSpPr/>
          <p:nvPr/>
        </p:nvSpPr>
        <p:spPr>
          <a:xfrm>
            <a:off x="7059240" y="4370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6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 48"/>
          <p:cNvSpPr/>
          <p:nvPr/>
        </p:nvSpPr>
        <p:spPr>
          <a:xfrm>
            <a:off x="7571160" y="433440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Descuento de −10 %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 49"/>
          <p:cNvSpPr/>
          <p:nvPr/>
        </p:nvSpPr>
        <p:spPr>
          <a:xfrm>
            <a:off x="7571160" y="455364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ERROR: El porcentaje debe estar entre 0 y 100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50"/>
          <p:cNvSpPr/>
          <p:nvPr/>
        </p:nvSpPr>
        <p:spPr>
          <a:xfrm>
            <a:off x="6949440" y="484632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51"/>
          <p:cNvSpPr/>
          <p:nvPr/>
        </p:nvSpPr>
        <p:spPr>
          <a:xfrm>
            <a:off x="7059240" y="491940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Text 52"/>
          <p:cNvSpPr/>
          <p:nvPr/>
        </p:nvSpPr>
        <p:spPr>
          <a:xfrm>
            <a:off x="7059240" y="49194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7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 53"/>
          <p:cNvSpPr/>
          <p:nvPr/>
        </p:nvSpPr>
        <p:spPr>
          <a:xfrm>
            <a:off x="7571160" y="488304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Precio nuevo de −500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 54"/>
          <p:cNvSpPr/>
          <p:nvPr/>
        </p:nvSpPr>
        <p:spPr>
          <a:xfrm>
            <a:off x="7571160" y="510228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ERROR: El precio debe ser mayor a 0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55"/>
          <p:cNvSpPr/>
          <p:nvPr/>
        </p:nvSpPr>
        <p:spPr>
          <a:xfrm>
            <a:off x="6949440" y="5394960"/>
            <a:ext cx="4690080" cy="49320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56"/>
          <p:cNvSpPr/>
          <p:nvPr/>
        </p:nvSpPr>
        <p:spPr>
          <a:xfrm>
            <a:off x="7059240" y="5468040"/>
            <a:ext cx="346680" cy="34668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Text 57"/>
          <p:cNvSpPr/>
          <p:nvPr/>
        </p:nvSpPr>
        <p:spPr>
          <a:xfrm>
            <a:off x="7059240" y="5468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chemeClr val="dk1"/>
                </a:solidFill>
                <a:latin typeface="Calibri"/>
              </a:rPr>
              <a:t>8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 58"/>
          <p:cNvSpPr/>
          <p:nvPr/>
        </p:nvSpPr>
        <p:spPr>
          <a:xfrm>
            <a:off x="7571160" y="5431680"/>
            <a:ext cx="402264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chemeClr val="dk1"/>
                </a:solidFill>
                <a:latin typeface="Calibri"/>
              </a:rPr>
              <a:t>Rango sin resultados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 59"/>
          <p:cNvSpPr/>
          <p:nvPr/>
        </p:nvSpPr>
        <p:spPr>
          <a:xfrm>
            <a:off x="7571160" y="565092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chemeClr val="accent1"/>
                </a:solidFill>
                <a:latin typeface="Calibri"/>
              </a:rPr>
              <a:t>No hay productos en ese rango de precios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 type="sldNum" idx="19"/>
          </p:nvPr>
        </p:nvSpPr>
        <p:spPr>
          <a:xfrm>
            <a:off x="11247120" y="6309360"/>
            <a:ext cx="392400" cy="27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strike="noStrike" spc="-1">
                <a:solidFill>
                  <a:srgbClr val="7A7FA8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fld id="{3F129B2B-F506-4205-97E7-CD2F41C921E2}" type="slidenum">
              <a:rPr lang="en-US" sz="1000" b="0" strike="noStrike" spc="-1">
                <a:solidFill>
                  <a:srgbClr val="7A7FA8"/>
                </a:solidFill>
                <a:latin typeface="Calibri"/>
              </a:rPr>
              <a:t>16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Text 0"/>
          <p:cNvSpPr/>
          <p:nvPr/>
        </p:nvSpPr>
        <p:spPr>
          <a:xfrm>
            <a:off x="640080" y="548640"/>
            <a:ext cx="1088064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strike="noStrike" spc="-1">
                <a:solidFill>
                  <a:schemeClr val="lt1"/>
                </a:solidFill>
                <a:latin typeface="Cambria"/>
                <a:ea typeface="Cambria"/>
              </a:rPr>
              <a:t>Una tienda, una lista, cinco soluciones</a:t>
            </a:r>
            <a:endParaRPr lang="en-US" sz="3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 1"/>
          <p:cNvSpPr/>
          <p:nvPr/>
        </p:nvSpPr>
        <p:spPr>
          <a:xfrm>
            <a:off x="640080" y="1417320"/>
            <a:ext cx="108806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chemeClr val="accent6"/>
                </a:solidFill>
                <a:latin typeface="Calibri"/>
              </a:rPr>
              <a:t>Aprendimos cómo funciona una lista por dentro y la usamos para resolver el problema de la tienda.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Shape 2"/>
          <p:cNvSpPr/>
          <p:nvPr/>
        </p:nvSpPr>
        <p:spPr>
          <a:xfrm>
            <a:off x="640080" y="2011680"/>
            <a:ext cx="2056680" cy="14623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Shape 3"/>
          <p:cNvSpPr/>
          <p:nvPr/>
        </p:nvSpPr>
        <p:spPr>
          <a:xfrm>
            <a:off x="822960" y="2176200"/>
            <a:ext cx="365040" cy="3650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Text 4"/>
          <p:cNvSpPr/>
          <p:nvPr/>
        </p:nvSpPr>
        <p:spPr>
          <a:xfrm>
            <a:off x="822960" y="2176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1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 5"/>
          <p:cNvSpPr/>
          <p:nvPr/>
        </p:nvSpPr>
        <p:spPr>
          <a:xfrm>
            <a:off x="822960" y="265176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lt1"/>
                </a:solidFill>
                <a:latin typeface="Calibri"/>
              </a:rPr>
              <a:t>Producto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 6"/>
          <p:cNvSpPr/>
          <p:nvPr/>
        </p:nvSpPr>
        <p:spPr>
          <a:xfrm>
            <a:off x="822960" y="299016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6"/>
                </a:solidFill>
                <a:latin typeface="Calibri"/>
              </a:rPr>
              <a:t>Qué guardamos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Shape 7"/>
          <p:cNvSpPr/>
          <p:nvPr/>
        </p:nvSpPr>
        <p:spPr>
          <a:xfrm>
            <a:off x="2898720" y="2011680"/>
            <a:ext cx="2056680" cy="14623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Shape 8"/>
          <p:cNvSpPr/>
          <p:nvPr/>
        </p:nvSpPr>
        <p:spPr>
          <a:xfrm>
            <a:off x="3081600" y="2176200"/>
            <a:ext cx="365040" cy="365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 9"/>
          <p:cNvSpPr/>
          <p:nvPr/>
        </p:nvSpPr>
        <p:spPr>
          <a:xfrm>
            <a:off x="3081600" y="2176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2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10"/>
          <p:cNvSpPr/>
          <p:nvPr/>
        </p:nvSpPr>
        <p:spPr>
          <a:xfrm>
            <a:off x="3081600" y="265176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lt1"/>
                </a:solidFill>
                <a:latin typeface="Calibri"/>
              </a:rPr>
              <a:t>ArrayList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 11"/>
          <p:cNvSpPr/>
          <p:nvPr/>
        </p:nvSpPr>
        <p:spPr>
          <a:xfrm>
            <a:off x="3081600" y="299016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6"/>
                </a:solidFill>
                <a:latin typeface="Calibri"/>
              </a:rPr>
              <a:t>Dónde lo guardamos, y crece solo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Shape 12"/>
          <p:cNvSpPr/>
          <p:nvPr/>
        </p:nvSpPr>
        <p:spPr>
          <a:xfrm>
            <a:off x="5157360" y="2011680"/>
            <a:ext cx="2056680" cy="14623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Shape 13"/>
          <p:cNvSpPr/>
          <p:nvPr/>
        </p:nvSpPr>
        <p:spPr>
          <a:xfrm>
            <a:off x="5340240" y="2176200"/>
            <a:ext cx="365040" cy="36504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 14"/>
          <p:cNvSpPr/>
          <p:nvPr/>
        </p:nvSpPr>
        <p:spPr>
          <a:xfrm>
            <a:off x="5340240" y="2176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3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15"/>
          <p:cNvSpPr/>
          <p:nvPr/>
        </p:nvSpPr>
        <p:spPr>
          <a:xfrm>
            <a:off x="5340240" y="265176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lt1"/>
                </a:solidFill>
                <a:latin typeface="Calibri"/>
              </a:rPr>
              <a:t>Gestor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16"/>
          <p:cNvSpPr/>
          <p:nvPr/>
        </p:nvSpPr>
        <p:spPr>
          <a:xfrm>
            <a:off x="5340240" y="299016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6"/>
                </a:solidFill>
                <a:latin typeface="Calibri"/>
              </a:rPr>
              <a:t>Las 5 funcionalidades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Shape 17"/>
          <p:cNvSpPr/>
          <p:nvPr/>
        </p:nvSpPr>
        <p:spPr>
          <a:xfrm>
            <a:off x="7415640" y="2011680"/>
            <a:ext cx="2056680" cy="14623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Shape 18"/>
          <p:cNvSpPr/>
          <p:nvPr/>
        </p:nvSpPr>
        <p:spPr>
          <a:xfrm>
            <a:off x="7598520" y="2176200"/>
            <a:ext cx="365040" cy="3650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19"/>
          <p:cNvSpPr/>
          <p:nvPr/>
        </p:nvSpPr>
        <p:spPr>
          <a:xfrm>
            <a:off x="7598520" y="2176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4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20"/>
          <p:cNvSpPr/>
          <p:nvPr/>
        </p:nvSpPr>
        <p:spPr>
          <a:xfrm>
            <a:off x="7598520" y="265176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lt1"/>
                </a:solidFill>
                <a:latin typeface="Calibri"/>
              </a:rPr>
              <a:t>Main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21"/>
          <p:cNvSpPr/>
          <p:nvPr/>
        </p:nvSpPr>
        <p:spPr>
          <a:xfrm>
            <a:off x="7598520" y="299016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6"/>
                </a:solidFill>
                <a:latin typeface="Calibri"/>
              </a:rPr>
              <a:t>Cómo lo usa una persona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Shape 22"/>
          <p:cNvSpPr/>
          <p:nvPr/>
        </p:nvSpPr>
        <p:spPr>
          <a:xfrm>
            <a:off x="9674280" y="2011680"/>
            <a:ext cx="2056680" cy="14623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Shape 23"/>
          <p:cNvSpPr/>
          <p:nvPr/>
        </p:nvSpPr>
        <p:spPr>
          <a:xfrm>
            <a:off x="9857160" y="2176200"/>
            <a:ext cx="365040" cy="365040"/>
          </a:xfrm>
          <a:prstGeom prst="ellipse">
            <a:avLst/>
          </a:prstGeom>
          <a:solidFill>
            <a:schemeClr val="accent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 24"/>
          <p:cNvSpPr/>
          <p:nvPr/>
        </p:nvSpPr>
        <p:spPr>
          <a:xfrm>
            <a:off x="9857160" y="2176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chemeClr val="dk1"/>
                </a:solidFill>
                <a:latin typeface="Calibri"/>
              </a:rPr>
              <a:t>5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25"/>
          <p:cNvSpPr/>
          <p:nvPr/>
        </p:nvSpPr>
        <p:spPr>
          <a:xfrm>
            <a:off x="9857160" y="265176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chemeClr val="lt1"/>
                </a:solidFill>
                <a:latin typeface="Calibri"/>
              </a:rPr>
              <a:t>Pruebas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 26"/>
          <p:cNvSpPr/>
          <p:nvPr/>
        </p:nvSpPr>
        <p:spPr>
          <a:xfrm>
            <a:off x="9857160" y="299016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chemeClr val="accent6"/>
                </a:solidFill>
                <a:latin typeface="Calibri"/>
              </a:rPr>
              <a:t>14 casos que lo comprueban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 27"/>
          <p:cNvSpPr/>
          <p:nvPr/>
        </p:nvSpPr>
        <p:spPr>
          <a:xfrm>
            <a:off x="640080" y="379476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28"/>
          <p:cNvSpPr/>
          <p:nvPr/>
        </p:nvSpPr>
        <p:spPr>
          <a:xfrm>
            <a:off x="640080" y="4160520"/>
            <a:ext cx="5668560" cy="16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spcAft>
                <a:spcPts val="601"/>
              </a:spcAft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30"/>
          <p:cNvSpPr/>
          <p:nvPr/>
        </p:nvSpPr>
        <p:spPr>
          <a:xfrm>
            <a:off x="6903720" y="3794760"/>
            <a:ext cx="4525560" cy="123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 31"/>
          <p:cNvSpPr/>
          <p:nvPr/>
        </p:nvSpPr>
        <p:spPr>
          <a:xfrm>
            <a:off x="6675120" y="5212080"/>
            <a:ext cx="496440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strike="noStrike" spc="-1">
                <a:solidFill>
                  <a:schemeClr val="accent2"/>
                </a:solidFill>
                <a:latin typeface="Calibri"/>
              </a:rPr>
              <a:t>     ¿Preguntas?</a:t>
            </a:r>
            <a:endParaRPr lang="en-US" sz="4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:p15="http://schemas.microsoft.com/office/powerpoint/2012/main" xmlns=""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chMarket">
  <a:themeElements>
    <a:clrScheme name="TechMarket">
      <a:dk1>
        <a:srgbClr val="1E1B4B"/>
      </a:dk1>
      <a:lt1>
        <a:srgbClr val="FFFFFF"/>
      </a:lt1>
      <a:dk2>
        <a:srgbClr val="2B2766"/>
      </a:dk2>
      <a:lt2>
        <a:srgbClr val="EEEBFF"/>
      </a:lt2>
      <a:accent1>
        <a:srgbClr val="6C47FF"/>
      </a:accent1>
      <a:accent2>
        <a:srgbClr val="FFC93C"/>
      </a:accent2>
      <a:accent3>
        <a:srgbClr val="1DBF9F"/>
      </a:accent3>
      <a:accent4>
        <a:srgbClr val="FF6B6B"/>
      </a:accent4>
      <a:accent5>
        <a:srgbClr val="7A7FA8"/>
      </a:accent5>
      <a:accent6>
        <a:srgbClr val="B8A9FF"/>
      </a:accent6>
      <a:hlink>
        <a:srgbClr val="6C47FF"/>
      </a:hlink>
      <a:folHlink>
        <a:srgbClr val="7A7FA8"/>
      </a:folHlink>
    </a:clrScheme>
    <a:fontScheme name="TechMarket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chMarket">
  <a:themeElements>
    <a:clrScheme name="TechMarket">
      <a:dk1>
        <a:srgbClr val="1E1B4B"/>
      </a:dk1>
      <a:lt1>
        <a:srgbClr val="FFFFFF"/>
      </a:lt1>
      <a:dk2>
        <a:srgbClr val="2B2766"/>
      </a:dk2>
      <a:lt2>
        <a:srgbClr val="EEEBFF"/>
      </a:lt2>
      <a:accent1>
        <a:srgbClr val="6C47FF"/>
      </a:accent1>
      <a:accent2>
        <a:srgbClr val="FFC93C"/>
      </a:accent2>
      <a:accent3>
        <a:srgbClr val="1DBF9F"/>
      </a:accent3>
      <a:accent4>
        <a:srgbClr val="FF6B6B"/>
      </a:accent4>
      <a:accent5>
        <a:srgbClr val="7A7FA8"/>
      </a:accent5>
      <a:accent6>
        <a:srgbClr val="B8A9FF"/>
      </a:accent6>
      <a:hlink>
        <a:srgbClr val="6C47FF"/>
      </a:hlink>
      <a:folHlink>
        <a:srgbClr val="7A7FA8"/>
      </a:folHlink>
    </a:clrScheme>
    <a:fontScheme name="TechMarket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chMarket">
  <a:themeElements>
    <a:clrScheme name="TechMarket">
      <a:dk1>
        <a:srgbClr val="1E1B4B"/>
      </a:dk1>
      <a:lt1>
        <a:srgbClr val="FFFFFF"/>
      </a:lt1>
      <a:dk2>
        <a:srgbClr val="2B2766"/>
      </a:dk2>
      <a:lt2>
        <a:srgbClr val="EEEBFF"/>
      </a:lt2>
      <a:accent1>
        <a:srgbClr val="6C47FF"/>
      </a:accent1>
      <a:accent2>
        <a:srgbClr val="FFC93C"/>
      </a:accent2>
      <a:accent3>
        <a:srgbClr val="1DBF9F"/>
      </a:accent3>
      <a:accent4>
        <a:srgbClr val="FF6B6B"/>
      </a:accent4>
      <a:accent5>
        <a:srgbClr val="7A7FA8"/>
      </a:accent5>
      <a:accent6>
        <a:srgbClr val="B8A9FF"/>
      </a:accent6>
      <a:hlink>
        <a:srgbClr val="6C47FF"/>
      </a:hlink>
      <a:folHlink>
        <a:srgbClr val="7A7FA8"/>
      </a:folHlink>
    </a:clrScheme>
    <a:fontScheme name="TechMarket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</TotalTime>
  <Words>3645</Words>
  <Application>Microsoft Office PowerPoint</Application>
  <PresentationFormat>Panorámica</PresentationFormat>
  <Paragraphs>542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17</vt:i4>
      </vt:variant>
    </vt:vector>
  </HeadingPairs>
  <TitlesOfParts>
    <vt:vector size="28" baseType="lpstr">
      <vt:lpstr>Arial</vt:lpstr>
      <vt:lpstr>Calibri</vt:lpstr>
      <vt:lpstr>Cambria</vt:lpstr>
      <vt:lpstr>Courier New</vt:lpstr>
      <vt:lpstr>DejaVu Sans</vt:lpstr>
      <vt:lpstr>Symbol</vt:lpstr>
      <vt:lpstr>Times New Roman</vt:lpstr>
      <vt:lpstr>Wingdings</vt:lpstr>
      <vt:lpstr>TechMarket</vt:lpstr>
      <vt:lpstr>TechMarket</vt:lpstr>
      <vt:lpstr>TechMarket</vt:lpstr>
      <vt:lpstr>Tienda en Línea “TechMarket”</vt:lpstr>
      <vt:lpstr>Planteamiento del problema</vt:lpstr>
      <vt:lpstr>Requerimientos del sistema</vt:lpstr>
      <vt:lpstr>Nuestra solución propuesta</vt:lpstr>
      <vt:lpstr>Producto: lo que se vende</vt:lpstr>
      <vt:lpstr>List&lt;E&gt;: el contrato</vt:lpstr>
      <vt:lpstr>ArrayList&lt;E&gt;: la lista hecha por nosotros</vt:lpstr>
      <vt:lpstr>GestorTechMarket: el cerebro</vt:lpstr>
      <vt:lpstr>Filtrar por precio</vt:lpstr>
      <vt:lpstr>Descuento por marca</vt:lpstr>
      <vt:lpstr>El producto más barato</vt:lpstr>
      <vt:lpstr>Cambiar el precio</vt:lpstr>
      <vt:lpstr>Promedio por marca</vt:lpstr>
      <vt:lpstr>Main: la puerta de entrada</vt:lpstr>
      <vt:lpstr>Probamos lo que debe funcionar</vt:lpstr>
      <vt:lpstr>Probamos lo que debe fallar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TechMarket - Equipo 5</dc:title>
  <dc:subject>PptxGenJS Presentation</dc:subject>
  <dc:creator>PptxGenJS</dc:creator>
  <dc:description/>
  <cp:lastModifiedBy>Ñequita</cp:lastModifiedBy>
  <cp:revision>10</cp:revision>
  <dcterms:created xsi:type="dcterms:W3CDTF">2026-10-12T04:05:51Z</dcterms:created>
  <dcterms:modified xsi:type="dcterms:W3CDTF">2026-10-13T00:15:29Z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Panorámica</vt:lpwstr>
  </property>
  <property fmtid="{D5CDD505-2E9C-101B-9397-08002B2CF9AE}" pid="4" name="Slides">
    <vt:i4>18</vt:i4>
  </property>
</Properties>
</file>