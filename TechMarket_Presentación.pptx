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448" autoAdjust="0"/>
  </p:normalViewPr>
  <p:slideViewPr>
    <p:cSldViewPr snapToGrid="0">
      <p:cViewPr varScale="1">
        <p:scale>
          <a:sx n="74" d="100"/>
          <a:sy n="74" d="100"/>
        </p:scale>
        <p:origin x="101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Click to move the slide</a:t>
            </a:r>
          </a:p>
        </p:txBody>
      </p:sp>
      <p:sp>
        <p:nvSpPr>
          <p:cNvPr id="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8"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9" name="PlaceHolder 4"/>
          <p:cNvSpPr>
            <a:spLocks noGrp="1"/>
          </p:cNvSpPr>
          <p:nvPr>
            <p:ph type="dt" idx="2"/>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10" name="PlaceHolder 5"/>
          <p:cNvSpPr>
            <a:spLocks noGrp="1"/>
          </p:cNvSpPr>
          <p:nvPr>
            <p:ph type="ftr" idx="3"/>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11" name="PlaceHolder 6"/>
          <p:cNvSpPr>
            <a:spLocks noGrp="1"/>
          </p:cNvSpPr>
          <p:nvPr>
            <p:ph type="sldNum" idx="4"/>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AB314849-2AC9-4043-9151-8BD4EE90CBBA}" type="slidenum">
              <a:rPr lang="en-US" sz="1400" b="0" strike="noStrike" spc="-1">
                <a:solidFill>
                  <a:srgbClr val="000000"/>
                </a:solidFill>
                <a:latin typeface="Times New Roman"/>
              </a:rPr>
              <a:t>‹Nº›</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PlaceHolder 1"/>
          <p:cNvSpPr>
            <a:spLocks noGrp="1" noRot="1" noChangeAspect="1"/>
          </p:cNvSpPr>
          <p:nvPr>
            <p:ph type="sldImg"/>
          </p:nvPr>
        </p:nvSpPr>
        <p:spPr>
          <a:xfrm>
            <a:off x="685800" y="1143000"/>
            <a:ext cx="5486040" cy="3085920"/>
          </a:xfrm>
          <a:prstGeom prst="rect">
            <a:avLst/>
          </a:prstGeom>
          <a:ln w="0">
            <a:noFill/>
          </a:ln>
        </p:spPr>
      </p:sp>
      <p:sp>
        <p:nvSpPr>
          <p:cNvPr id="70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Buenas tardes. Somos el Equipo 5. Les contamos una historia: una tienda de tecnología necesita llevar el control de su catálogo, y nosotros construimos desde cero la lista dinámica que lo hace posible. Presentar a los cinco integrantes.</a:t>
            </a:r>
          </a:p>
        </p:txBody>
      </p:sp>
      <p:sp>
        <p:nvSpPr>
          <p:cNvPr id="703"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B29EE00A-73B5-446A-892E-01F4E444CC5A}" type="slidenum">
              <a:rPr lang="en-US" sz="1200" b="0" strike="noStrike" spc="-1">
                <a:solidFill>
                  <a:schemeClr val="dk1"/>
                </a:solidFill>
                <a:latin typeface="+mn-lt"/>
                <a:ea typeface="+mn-ea"/>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PlaceHolder 1"/>
          <p:cNvSpPr>
            <a:spLocks noGrp="1" noRot="1" noChangeAspect="1"/>
          </p:cNvSpPr>
          <p:nvPr>
            <p:ph type="sldImg"/>
          </p:nvPr>
        </p:nvSpPr>
        <p:spPr>
          <a:xfrm>
            <a:off x="685800" y="1143000"/>
            <a:ext cx="5486040" cy="3085920"/>
          </a:xfrm>
          <a:prstGeom prst="rect">
            <a:avLst/>
          </a:prstGeom>
          <a:ln w="0">
            <a:noFill/>
          </a:ln>
        </p:spPr>
      </p:sp>
      <p:sp>
        <p:nvSpPr>
          <p:cNvPr id="70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TechMarket es una tienda en línea de productos informáticos que necesita un sistema para gestionar su catálogo. Cada producto tiene 4 datos: id, nombre, marca y precio. Los productos deben guardarse en una lista dinámica implementada desde cero. A la derecha están los datos de prueba del enunciado, que se usan en todo el proyecto.</a:t>
            </a:r>
          </a:p>
        </p:txBody>
      </p:sp>
      <p:sp>
        <p:nvSpPr>
          <p:cNvPr id="706"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0D50ED54-E673-4EE9-99B8-606F4153CFBE}" type="slidenum">
              <a:rPr lang="en-US" sz="1200" b="0" strike="noStrike" spc="-1">
                <a:solidFill>
                  <a:schemeClr val="dk1"/>
                </a:solidFill>
                <a:latin typeface="+mn-lt"/>
                <a:ea typeface="+mn-ea"/>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7" name="PlaceHolder 1"/>
          <p:cNvSpPr>
            <a:spLocks noGrp="1" noRot="1" noChangeAspect="1"/>
          </p:cNvSpPr>
          <p:nvPr>
            <p:ph type="sldImg"/>
          </p:nvPr>
        </p:nvSpPr>
        <p:spPr>
          <a:xfrm>
            <a:off x="685800" y="1143000"/>
            <a:ext cx="5486040" cy="3085920"/>
          </a:xfrm>
          <a:prstGeom prst="rect">
            <a:avLst/>
          </a:prstGeom>
          <a:ln w="0">
            <a:noFill/>
          </a:ln>
        </p:spPr>
      </p:sp>
      <p:sp>
        <p:nvSpPr>
          <p:cNvPr id="7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El sistema debe cumplir cinco requerimientos, que son las funcionalidades del enunciado, y además tienen una restricción mencionada anteriormente usar una la lista dinámica construida desde cero, sin usar el ArrayList de Java, para entender cómo funciona por dentro.</a:t>
            </a:r>
          </a:p>
        </p:txBody>
      </p:sp>
      <p:sp>
        <p:nvSpPr>
          <p:cNvPr id="709"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A97C7BFE-C29A-4174-96DF-14806F65D80D}" type="slidenum">
              <a:rPr lang="en-US" sz="1200" b="0" strike="noStrike" spc="-1">
                <a:solidFill>
                  <a:schemeClr val="dk1"/>
                </a:solidFill>
                <a:latin typeface="+mn-lt"/>
                <a:ea typeface="+mn-ea"/>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PlaceHolder 1"/>
          <p:cNvSpPr>
            <a:spLocks noGrp="1" noRot="1" noChangeAspect="1"/>
          </p:cNvSpPr>
          <p:nvPr>
            <p:ph type="sldImg"/>
          </p:nvPr>
        </p:nvSpPr>
        <p:spPr>
          <a:xfrm>
            <a:off x="685800" y="1143000"/>
            <a:ext cx="5486040" cy="3085920"/>
          </a:xfrm>
          <a:prstGeom prst="rect">
            <a:avLst/>
          </a:prstGeom>
          <a:ln w="0">
            <a:noFill/>
          </a:ln>
        </p:spPr>
      </p:sp>
      <p:sp>
        <p:nvSpPr>
          <p:cNvPr id="7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Esta es la solución que proponemos: cinco clases, cada una con una sola responsabilidad. Este es el mapa del proyecto. Main muestra el menú y habla con el usuario. GestorTechMarket tiene la lógica y usa una ArrayList, que es nuestra lista dinámica. ArrayList cumple el contrato de la interfaz List, y lo que se guarda en ella son objetos Producto. Para explicarlo vamos de abajo hacia arriba: primero Producto, luego la lista, luego el gestor y al final Main.</a:t>
            </a:r>
          </a:p>
        </p:txBody>
      </p:sp>
      <p:sp>
        <p:nvSpPr>
          <p:cNvPr id="712"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90973D7F-F055-4F66-9E83-310A0F3C3A08}" type="slidenum">
              <a:rPr lang="en-US" sz="1200" b="0" strike="noStrike" spc="-1">
                <a:solidFill>
                  <a:schemeClr val="dk1"/>
                </a:solidFill>
                <a:latin typeface="+mn-lt"/>
                <a:ea typeface="+mn-ea"/>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noRot="1" noChangeAspect="1"/>
          </p:cNvSpPr>
          <p:nvPr>
            <p:ph type="sldImg"/>
          </p:nvPr>
        </p:nvSpPr>
        <p:spPr>
          <a:xfrm>
            <a:off x="685800" y="1143000"/>
            <a:ext cx="5486040" cy="3085920"/>
          </a:xfrm>
          <a:prstGeom prst="rect">
            <a:avLst/>
          </a:prstGeom>
          <a:ln w="0">
            <a:noFill/>
          </a:ln>
        </p:spPr>
      </p:sp>
      <p:sp>
        <p:nvSpPr>
          <p:cNvPr id="7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rPr lang="es-ES" sz="1200" b="0" kern="1200" dirty="0" smtClean="0">
                <a:solidFill>
                  <a:schemeClr val="tx1"/>
                </a:solidFill>
                <a:effectLst/>
                <a:latin typeface="+mn-lt"/>
                <a:ea typeface="+mn-ea"/>
                <a:cs typeface="+mn-cs"/>
              </a:rPr>
              <a:t>La clase producto la cual representa a un producto dentro del sistema</a:t>
            </a:r>
            <a:r>
              <a:rPr lang="es-ES" sz="1200" b="0" kern="1200" baseline="0" dirty="0" smtClean="0">
                <a:solidFill>
                  <a:schemeClr val="tx1"/>
                </a:solidFill>
                <a:effectLst/>
                <a:latin typeface="+mn-lt"/>
                <a:ea typeface="+mn-ea"/>
                <a:cs typeface="+mn-cs"/>
              </a:rPr>
              <a:t> donde cada uno de ellos</a:t>
            </a:r>
            <a:r>
              <a:rPr lang="es-ES" sz="1200" b="0" kern="1200" dirty="0" smtClean="0">
                <a:solidFill>
                  <a:schemeClr val="tx1"/>
                </a:solidFill>
                <a:effectLst/>
                <a:latin typeface="+mn-lt"/>
                <a:ea typeface="+mn-ea"/>
                <a:cs typeface="+mn-cs"/>
              </a:rPr>
              <a:t> tiene cuatro atributos: </a:t>
            </a:r>
            <a:r>
              <a:rPr lang="es-ES" sz="1200" b="1" kern="1200" dirty="0" smtClean="0">
                <a:solidFill>
                  <a:schemeClr val="tx1"/>
                </a:solidFill>
                <a:effectLst/>
                <a:latin typeface="+mn-lt"/>
                <a:ea typeface="+mn-ea"/>
                <a:cs typeface="+mn-cs"/>
              </a:rPr>
              <a:t>**ID**</a:t>
            </a:r>
            <a:r>
              <a:rPr lang="es-ES" sz="1200" b="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**nombre**</a:t>
            </a:r>
            <a:r>
              <a:rPr lang="es-ES" sz="1200" b="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**marca**</a:t>
            </a:r>
            <a:r>
              <a:rPr lang="es-ES" sz="1200" b="0" kern="1200" dirty="0" smtClean="0">
                <a:solidFill>
                  <a:schemeClr val="tx1"/>
                </a:solidFill>
                <a:effectLst/>
                <a:latin typeface="+mn-lt"/>
                <a:ea typeface="+mn-ea"/>
                <a:cs typeface="+mn-cs"/>
              </a:rPr>
              <a:t> y </a:t>
            </a:r>
            <a:r>
              <a:rPr lang="es-ES" sz="1200" b="1" kern="1200" dirty="0" smtClean="0">
                <a:solidFill>
                  <a:schemeClr val="tx1"/>
                </a:solidFill>
                <a:effectLst/>
                <a:latin typeface="+mn-lt"/>
                <a:ea typeface="+mn-ea"/>
                <a:cs typeface="+mn-cs"/>
              </a:rPr>
              <a:t>**precio**</a:t>
            </a:r>
            <a:r>
              <a:rPr lang="es-ES" sz="1200" b="0" kern="1200" dirty="0" smtClean="0">
                <a:solidFill>
                  <a:schemeClr val="tx1"/>
                </a:solidFill>
                <a:effectLst/>
                <a:latin typeface="+mn-lt"/>
                <a:ea typeface="+mn-ea"/>
                <a:cs typeface="+mn-cs"/>
              </a:rPr>
              <a:t>.</a:t>
            </a:r>
            <a:br>
              <a:rPr lang="es-ES" sz="1200" b="0" kern="1200" dirty="0" smtClean="0">
                <a:solidFill>
                  <a:schemeClr val="tx1"/>
                </a:solidFill>
                <a:effectLst/>
                <a:latin typeface="+mn-lt"/>
                <a:ea typeface="+mn-ea"/>
                <a:cs typeface="+mn-cs"/>
              </a:rPr>
            </a:br>
            <a:r>
              <a:rPr lang="es-ES" sz="1200" b="0" kern="1200" dirty="0" smtClean="0">
                <a:solidFill>
                  <a:schemeClr val="tx1"/>
                </a:solidFill>
                <a:effectLst/>
                <a:latin typeface="+mn-lt"/>
                <a:ea typeface="+mn-ea"/>
                <a:cs typeface="+mn-cs"/>
              </a:rPr>
              <a:t>Esta clase cuenta</a:t>
            </a:r>
            <a:r>
              <a:rPr lang="es-ES" sz="1200" b="0" kern="1200" baseline="0" dirty="0" smtClean="0">
                <a:solidFill>
                  <a:schemeClr val="tx1"/>
                </a:solidFill>
                <a:effectLst/>
                <a:latin typeface="+mn-lt"/>
                <a:ea typeface="+mn-ea"/>
                <a:cs typeface="+mn-cs"/>
              </a:rPr>
              <a:t> con</a:t>
            </a:r>
            <a:r>
              <a:rPr lang="es-ES" sz="1200" b="0" kern="1200" dirty="0" smtClean="0">
                <a:solidFill>
                  <a:schemeClr val="tx1"/>
                </a:solidFill>
                <a:effectLst/>
                <a:latin typeface="+mn-lt"/>
                <a:ea typeface="+mn-ea"/>
                <a:cs typeface="+mn-cs"/>
              </a:rPr>
              <a:t> métodos para obtener cada uno de estos datos (`</a:t>
            </a:r>
            <a:r>
              <a:rPr lang="es-ES" sz="1200" b="0" kern="1200" dirty="0" err="1" smtClean="0">
                <a:solidFill>
                  <a:schemeClr val="tx1"/>
                </a:solidFill>
                <a:effectLst/>
                <a:latin typeface="+mn-lt"/>
                <a:ea typeface="+mn-ea"/>
                <a:cs typeface="+mn-cs"/>
              </a:rPr>
              <a:t>getId</a:t>
            </a:r>
            <a:r>
              <a:rPr lang="es-ES" sz="1200" b="0" kern="1200" dirty="0" smtClean="0">
                <a:solidFill>
                  <a:schemeClr val="tx1"/>
                </a:solidFill>
                <a:effectLst/>
                <a:latin typeface="+mn-lt"/>
                <a:ea typeface="+mn-ea"/>
                <a:cs typeface="+mn-cs"/>
              </a:rPr>
              <a:t>`, `</a:t>
            </a:r>
            <a:r>
              <a:rPr lang="es-ES" sz="1200" b="0" kern="1200" dirty="0" err="1" smtClean="0">
                <a:solidFill>
                  <a:schemeClr val="tx1"/>
                </a:solidFill>
                <a:effectLst/>
                <a:latin typeface="+mn-lt"/>
                <a:ea typeface="+mn-ea"/>
                <a:cs typeface="+mn-cs"/>
              </a:rPr>
              <a:t>getNombre</a:t>
            </a:r>
            <a:r>
              <a:rPr lang="es-ES" sz="1200" b="0" kern="1200" dirty="0" smtClean="0">
                <a:solidFill>
                  <a:schemeClr val="tx1"/>
                </a:solidFill>
                <a:effectLst/>
                <a:latin typeface="+mn-lt"/>
                <a:ea typeface="+mn-ea"/>
                <a:cs typeface="+mn-cs"/>
              </a:rPr>
              <a:t>`, `</a:t>
            </a:r>
            <a:r>
              <a:rPr lang="es-ES" sz="1200" b="0" kern="1200" dirty="0" err="1" smtClean="0">
                <a:solidFill>
                  <a:schemeClr val="tx1"/>
                </a:solidFill>
                <a:effectLst/>
                <a:latin typeface="+mn-lt"/>
                <a:ea typeface="+mn-ea"/>
                <a:cs typeface="+mn-cs"/>
              </a:rPr>
              <a:t>getMarca</a:t>
            </a:r>
            <a:r>
              <a:rPr lang="es-ES" sz="1200" b="0" kern="1200" dirty="0" smtClean="0">
                <a:solidFill>
                  <a:schemeClr val="tx1"/>
                </a:solidFill>
                <a:effectLst/>
                <a:latin typeface="+mn-lt"/>
                <a:ea typeface="+mn-ea"/>
                <a:cs typeface="+mn-cs"/>
              </a:rPr>
              <a:t>`, `</a:t>
            </a:r>
            <a:r>
              <a:rPr lang="es-ES" sz="1200" b="0" kern="1200" dirty="0" err="1" smtClean="0">
                <a:solidFill>
                  <a:schemeClr val="tx1"/>
                </a:solidFill>
                <a:effectLst/>
                <a:latin typeface="+mn-lt"/>
                <a:ea typeface="+mn-ea"/>
                <a:cs typeface="+mn-cs"/>
              </a:rPr>
              <a:t>getPrecio</a:t>
            </a:r>
            <a:r>
              <a:rPr lang="es-ES" sz="1200" b="0" kern="1200" dirty="0" smtClean="0">
                <a:solidFill>
                  <a:schemeClr val="tx1"/>
                </a:solidFill>
                <a:effectLst/>
                <a:latin typeface="+mn-lt"/>
                <a:ea typeface="+mn-ea"/>
                <a:cs typeface="+mn-cs"/>
              </a:rPr>
              <a:t>`) y un método para actualizar el precio (`</a:t>
            </a:r>
            <a:r>
              <a:rPr lang="es-ES" sz="1200" b="0" kern="1200" dirty="0" err="1" smtClean="0">
                <a:solidFill>
                  <a:schemeClr val="tx1"/>
                </a:solidFill>
                <a:effectLst/>
                <a:latin typeface="+mn-lt"/>
                <a:ea typeface="+mn-ea"/>
                <a:cs typeface="+mn-cs"/>
              </a:rPr>
              <a:t>setPrecio</a:t>
            </a:r>
            <a:r>
              <a:rPr lang="es-ES" sz="1200" b="0" kern="1200" dirty="0" smtClean="0">
                <a:solidFill>
                  <a:schemeClr val="tx1"/>
                </a:solidFill>
                <a:effectLst/>
                <a:latin typeface="+mn-lt"/>
                <a:ea typeface="+mn-ea"/>
                <a:cs typeface="+mn-cs"/>
              </a:rPr>
              <a:t>`). También tiene un `</a:t>
            </a:r>
            <a:r>
              <a:rPr lang="es-ES" sz="1200" b="0" kern="1200" dirty="0" err="1" smtClean="0">
                <a:solidFill>
                  <a:schemeClr val="tx1"/>
                </a:solidFill>
                <a:effectLst/>
                <a:latin typeface="+mn-lt"/>
                <a:ea typeface="+mn-ea"/>
                <a:cs typeface="+mn-cs"/>
              </a:rPr>
              <a:t>toString</a:t>
            </a:r>
            <a:r>
              <a:rPr lang="es-ES" sz="1200" b="0" kern="1200" dirty="0" smtClean="0">
                <a:solidFill>
                  <a:schemeClr val="tx1"/>
                </a:solidFill>
                <a:effectLst/>
                <a:latin typeface="+mn-lt"/>
                <a:ea typeface="+mn-ea"/>
                <a:cs typeface="+mn-cs"/>
              </a:rPr>
              <a:t>()` que muestra la información del producto de forma legible.</a:t>
            </a:r>
            <a:endParaRPr lang="es-ES" sz="1200" b="0" kern="1200" dirty="0">
              <a:solidFill>
                <a:schemeClr val="tx1"/>
              </a:solidFill>
              <a:effectLst/>
              <a:latin typeface="+mn-lt"/>
              <a:ea typeface="+mn-ea"/>
              <a:cs typeface="+mn-cs"/>
            </a:endParaRPr>
          </a:p>
        </p:txBody>
      </p:sp>
      <p:sp>
        <p:nvSpPr>
          <p:cNvPr id="715"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4DDC4AD3-B9FB-495C-A86F-94DF541E8E7F}" type="slidenum">
              <a:rPr lang="en-US" sz="1200" b="0" strike="noStrike" spc="-1">
                <a:solidFill>
                  <a:schemeClr val="dk1"/>
                </a:solidFill>
                <a:latin typeface="+mn-lt"/>
                <a:ea typeface="+mn-ea"/>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PlaceHolder 1"/>
          <p:cNvSpPr>
            <a:spLocks noGrp="1" noRot="1" noChangeAspect="1"/>
          </p:cNvSpPr>
          <p:nvPr>
            <p:ph type="sldImg"/>
          </p:nvPr>
        </p:nvSpPr>
        <p:spPr>
          <a:xfrm>
            <a:off x="685800" y="1143000"/>
            <a:ext cx="5486400" cy="3086100"/>
          </a:xfrm>
          <a:prstGeom prst="rect">
            <a:avLst/>
          </a:prstGeom>
          <a:ln w="0">
            <a:noFill/>
          </a:ln>
        </p:spPr>
      </p:sp>
      <p:sp>
        <p:nvSpPr>
          <p:cNvPr id="7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marR="0" indent="0" algn="l" defTabSz="914400" rtl="0" eaLnBrk="1" fontAlgn="auto" latinLnBrk="0" hangingPunct="1">
              <a:lnSpc>
                <a:spcPct val="100000"/>
              </a:lnSpc>
              <a:spcBef>
                <a:spcPts val="0"/>
              </a:spcBef>
              <a:spcAft>
                <a:spcPts val="0"/>
              </a:spcAft>
              <a:buClrTx/>
              <a:buSzTx/>
              <a:buFontTx/>
              <a:buNone/>
              <a:tabLst>
                <a:tab pos="0" algn="l"/>
              </a:tabLst>
              <a:defRPr/>
            </a:pPr>
            <a:r>
              <a:rPr lang="es-ES" sz="1200" b="0" kern="1200" dirty="0" smtClean="0">
                <a:solidFill>
                  <a:schemeClr val="tx1"/>
                </a:solidFill>
                <a:effectLst/>
                <a:latin typeface="+mn-lt"/>
                <a:ea typeface="+mn-ea"/>
                <a:cs typeface="+mn-cs"/>
              </a:rPr>
              <a:t>Tenemos</a:t>
            </a:r>
            <a:r>
              <a:rPr lang="es-ES" sz="1200" b="0" kern="1200" baseline="0" dirty="0" smtClean="0">
                <a:solidFill>
                  <a:schemeClr val="tx1"/>
                </a:solidFill>
                <a:effectLst/>
                <a:latin typeface="+mn-lt"/>
                <a:ea typeface="+mn-ea"/>
                <a:cs typeface="+mn-cs"/>
              </a:rPr>
              <a:t> también la interfaz </a:t>
            </a:r>
            <a:r>
              <a:rPr lang="es-ES" sz="1200" b="0" kern="1200" baseline="0" dirty="0" err="1" smtClean="0">
                <a:solidFill>
                  <a:schemeClr val="tx1"/>
                </a:solidFill>
                <a:effectLst/>
                <a:latin typeface="+mn-lt"/>
                <a:ea typeface="+mn-ea"/>
                <a:cs typeface="+mn-cs"/>
              </a:rPr>
              <a:t>List</a:t>
            </a:r>
            <a:r>
              <a:rPr lang="es-ES" sz="1200" b="0" kern="1200" baseline="0" dirty="0" smtClean="0">
                <a:solidFill>
                  <a:schemeClr val="tx1"/>
                </a:solidFill>
                <a:effectLst/>
                <a:latin typeface="+mn-lt"/>
                <a:ea typeface="+mn-ea"/>
                <a:cs typeface="+mn-cs"/>
              </a:rPr>
              <a:t> la cual define</a:t>
            </a:r>
            <a:r>
              <a:rPr lang="es-ES" sz="1200" b="0" kern="1200" dirty="0" smtClean="0">
                <a:solidFill>
                  <a:schemeClr val="tx1"/>
                </a:solidFill>
                <a:effectLst/>
                <a:latin typeface="+mn-lt"/>
                <a:ea typeface="+mn-ea"/>
                <a:cs typeface="+mn-cs"/>
              </a:rPr>
              <a:t> el contrato que debe cumplir cualquier implementación de lista.</a:t>
            </a:r>
            <a:r>
              <a:rPr lang="es-ES" sz="1200" b="0" kern="1200" baseline="0" dirty="0" smtClean="0">
                <a:solidFill>
                  <a:schemeClr val="tx1"/>
                </a:solidFill>
                <a:effectLst/>
                <a:latin typeface="+mn-lt"/>
                <a:ea typeface="+mn-ea"/>
                <a:cs typeface="+mn-cs"/>
              </a:rPr>
              <a:t> Esta cuenta con</a:t>
            </a:r>
            <a:r>
              <a:rPr lang="en-US" sz="2000" b="0" strike="noStrike" spc="-1" dirty="0" smtClean="0">
                <a:solidFill>
                  <a:srgbClr val="000000"/>
                </a:solidFill>
                <a:latin typeface="Arial"/>
              </a:rPr>
              <a:t> </a:t>
            </a:r>
            <a:r>
              <a:rPr lang="en-US" sz="2000" b="0" strike="noStrike" spc="-1" dirty="0" err="1">
                <a:solidFill>
                  <a:srgbClr val="000000"/>
                </a:solidFill>
                <a:latin typeface="Arial"/>
              </a:rPr>
              <a:t>siete</a:t>
            </a:r>
            <a:r>
              <a:rPr lang="en-US" sz="2000" b="0" strike="noStrike" spc="-1" dirty="0">
                <a:solidFill>
                  <a:srgbClr val="000000"/>
                </a:solidFill>
                <a:latin typeface="Arial"/>
              </a:rPr>
              <a:t> </a:t>
            </a:r>
            <a:r>
              <a:rPr lang="en-US" sz="2000" b="0" strike="noStrike" spc="-1" dirty="0" err="1" smtClean="0">
                <a:solidFill>
                  <a:srgbClr val="000000"/>
                </a:solidFill>
                <a:latin typeface="Arial"/>
              </a:rPr>
              <a:t>métodos</a:t>
            </a:r>
            <a:r>
              <a:rPr lang="en-US" sz="2000" b="0" strike="noStrike" spc="-1" dirty="0">
                <a:solidFill>
                  <a:srgbClr val="000000"/>
                </a:solidFill>
                <a:latin typeface="Arial"/>
              </a:rPr>
              <a:t>,</a:t>
            </a:r>
            <a:r>
              <a:rPr lang="en-US" sz="2000" b="0" strike="noStrike" spc="-1" dirty="0" smtClean="0">
                <a:solidFill>
                  <a:srgbClr val="000000"/>
                </a:solidFill>
                <a:latin typeface="Arial"/>
              </a:rPr>
              <a:t> </a:t>
            </a:r>
            <a:r>
              <a:rPr lang="en-US" sz="2000" b="0" strike="noStrike" spc="-1" dirty="0" err="1">
                <a:solidFill>
                  <a:srgbClr val="000000"/>
                </a:solidFill>
                <a:latin typeface="Arial"/>
              </a:rPr>
              <a:t>e</a:t>
            </a:r>
            <a:r>
              <a:rPr lang="en-US" sz="2000" b="0" strike="noStrike" spc="-1" dirty="0" err="1" smtClean="0">
                <a:solidFill>
                  <a:srgbClr val="000000"/>
                </a:solidFill>
                <a:latin typeface="Arial"/>
              </a:rPr>
              <a:t>n</a:t>
            </a:r>
            <a:r>
              <a:rPr lang="en-US" sz="2000" b="0" strike="noStrike" spc="-1" dirty="0" smtClean="0">
                <a:solidFill>
                  <a:srgbClr val="000000"/>
                </a:solidFill>
                <a:latin typeface="Arial"/>
              </a:rPr>
              <a:t> </a:t>
            </a:r>
            <a:r>
              <a:rPr lang="en-US" sz="2000" b="0" strike="noStrike" spc="-1" dirty="0" err="1">
                <a:solidFill>
                  <a:srgbClr val="000000"/>
                </a:solidFill>
                <a:latin typeface="Arial"/>
              </a:rPr>
              <a:t>nuestro</a:t>
            </a:r>
            <a:r>
              <a:rPr lang="en-US" sz="2000" b="0" strike="noStrike" spc="-1" dirty="0">
                <a:solidFill>
                  <a:srgbClr val="000000"/>
                </a:solidFill>
                <a:latin typeface="Arial"/>
              </a:rPr>
              <a:t> </a:t>
            </a:r>
            <a:r>
              <a:rPr lang="en-US" sz="2000" b="0" strike="noStrike" spc="-1" dirty="0" err="1">
                <a:solidFill>
                  <a:srgbClr val="000000"/>
                </a:solidFill>
                <a:latin typeface="Arial"/>
              </a:rPr>
              <a:t>programa</a:t>
            </a:r>
            <a:r>
              <a:rPr lang="en-US" sz="2000" b="0" strike="noStrike" spc="-1" dirty="0">
                <a:solidFill>
                  <a:srgbClr val="000000"/>
                </a:solidFill>
                <a:latin typeface="Arial"/>
              </a:rPr>
              <a:t> </a:t>
            </a:r>
            <a:r>
              <a:rPr lang="en-US" sz="2000" b="0" strike="noStrike" spc="-1" dirty="0" err="1" smtClean="0">
                <a:solidFill>
                  <a:srgbClr val="000000"/>
                </a:solidFill>
                <a:latin typeface="Arial"/>
              </a:rPr>
              <a:t>solamente</a:t>
            </a:r>
            <a:r>
              <a:rPr lang="en-US" sz="2000" b="0" strike="noStrike" spc="-1" baseline="0" dirty="0" smtClean="0">
                <a:solidFill>
                  <a:srgbClr val="000000"/>
                </a:solidFill>
                <a:latin typeface="Arial"/>
              </a:rPr>
              <a:t> </a:t>
            </a:r>
            <a:r>
              <a:rPr lang="en-US" sz="2000" b="0" strike="noStrike" spc="-1" baseline="0" dirty="0" err="1" smtClean="0">
                <a:solidFill>
                  <a:srgbClr val="000000"/>
                </a:solidFill>
                <a:latin typeface="Arial"/>
              </a:rPr>
              <a:t>utilizamos</a:t>
            </a:r>
            <a:r>
              <a:rPr lang="en-US" sz="2000" b="0" strike="noStrike" spc="-1" dirty="0" smtClean="0">
                <a:solidFill>
                  <a:srgbClr val="000000"/>
                </a:solidFill>
                <a:latin typeface="Arial"/>
              </a:rPr>
              <a:t> </a:t>
            </a:r>
            <a:r>
              <a:rPr lang="en-US" sz="2000" b="0" strike="noStrike" spc="-1" dirty="0" err="1">
                <a:solidFill>
                  <a:srgbClr val="000000"/>
                </a:solidFill>
                <a:latin typeface="Arial"/>
              </a:rPr>
              <a:t>cuatro</a:t>
            </a:r>
            <a:r>
              <a:rPr lang="en-US" sz="2000" b="0" strike="noStrike" spc="-1" dirty="0">
                <a:solidFill>
                  <a:srgbClr val="000000"/>
                </a:solidFill>
                <a:latin typeface="Arial"/>
              </a:rPr>
              <a:t>: add, get, size e </a:t>
            </a:r>
            <a:r>
              <a:rPr lang="en-US" sz="2000" b="0" strike="noStrike" spc="-1" dirty="0" err="1" smtClean="0">
                <a:solidFill>
                  <a:srgbClr val="000000"/>
                </a:solidFill>
                <a:latin typeface="Arial"/>
              </a:rPr>
              <a:t>isEmpty</a:t>
            </a:r>
            <a:r>
              <a:rPr lang="en-US" sz="2000" b="0" strike="noStrike" spc="-1" baseline="0" dirty="0" smtClean="0">
                <a:solidFill>
                  <a:srgbClr val="000000"/>
                </a:solidFill>
                <a:latin typeface="Arial"/>
              </a:rPr>
              <a:t> y </a:t>
            </a:r>
            <a:r>
              <a:rPr lang="en-US" sz="2000" b="0" strike="noStrike" spc="-1" baseline="0" dirty="0" err="1" smtClean="0">
                <a:solidFill>
                  <a:srgbClr val="000000"/>
                </a:solidFill>
                <a:latin typeface="Arial"/>
              </a:rPr>
              <a:t>l</a:t>
            </a:r>
            <a:r>
              <a:rPr lang="en-US" sz="2000" b="0" strike="noStrike" spc="-1" dirty="0" err="1" smtClean="0">
                <a:solidFill>
                  <a:srgbClr val="000000"/>
                </a:solidFill>
                <a:latin typeface="Arial"/>
              </a:rPr>
              <a:t>os</a:t>
            </a:r>
            <a:r>
              <a:rPr lang="en-US" sz="2000" b="0" strike="noStrike" spc="-1" dirty="0" smtClean="0">
                <a:solidFill>
                  <a:srgbClr val="000000"/>
                </a:solidFill>
                <a:latin typeface="Arial"/>
              </a:rPr>
              <a:t> </a:t>
            </a:r>
            <a:r>
              <a:rPr lang="en-US" sz="2000" b="0" strike="noStrike" spc="-1" dirty="0" err="1">
                <a:solidFill>
                  <a:srgbClr val="000000"/>
                </a:solidFill>
                <a:latin typeface="Arial"/>
              </a:rPr>
              <a:t>otros</a:t>
            </a:r>
            <a:r>
              <a:rPr lang="en-US" sz="2000" b="0" strike="noStrike" spc="-1" dirty="0">
                <a:solidFill>
                  <a:srgbClr val="000000"/>
                </a:solidFill>
                <a:latin typeface="Arial"/>
              </a:rPr>
              <a:t> </a:t>
            </a:r>
            <a:r>
              <a:rPr lang="en-US" sz="2000" b="0" strike="noStrike" spc="-1" dirty="0" err="1">
                <a:solidFill>
                  <a:srgbClr val="000000"/>
                </a:solidFill>
                <a:latin typeface="Arial"/>
              </a:rPr>
              <a:t>tres</a:t>
            </a:r>
            <a:r>
              <a:rPr lang="en-US" sz="2000" b="0" strike="noStrike" spc="-1" dirty="0">
                <a:solidFill>
                  <a:srgbClr val="000000"/>
                </a:solidFill>
                <a:latin typeface="Arial"/>
              </a:rPr>
              <a:t>, add con </a:t>
            </a:r>
            <a:r>
              <a:rPr lang="en-US" sz="2000" b="0" strike="noStrike" spc="-1" dirty="0" err="1">
                <a:solidFill>
                  <a:srgbClr val="000000"/>
                </a:solidFill>
                <a:latin typeface="Arial"/>
              </a:rPr>
              <a:t>posición</a:t>
            </a:r>
            <a:r>
              <a:rPr lang="en-US" sz="2000" b="0" strike="noStrike" spc="-1" dirty="0">
                <a:solidFill>
                  <a:srgbClr val="000000"/>
                </a:solidFill>
                <a:latin typeface="Arial"/>
              </a:rPr>
              <a:t>, remove y clear, </a:t>
            </a:r>
            <a:r>
              <a:rPr lang="en-US" sz="2000" b="0" strike="noStrike" spc="-1" dirty="0" err="1">
                <a:solidFill>
                  <a:srgbClr val="000000"/>
                </a:solidFill>
                <a:latin typeface="Arial"/>
              </a:rPr>
              <a:t>forman</a:t>
            </a:r>
            <a:r>
              <a:rPr lang="en-US" sz="2000" b="0" strike="noStrike" spc="-1" dirty="0">
                <a:solidFill>
                  <a:srgbClr val="000000"/>
                </a:solidFill>
                <a:latin typeface="Arial"/>
              </a:rPr>
              <a:t> parte del </a:t>
            </a:r>
            <a:r>
              <a:rPr lang="en-US" sz="2000" b="0" strike="noStrike" spc="-1" dirty="0" err="1">
                <a:solidFill>
                  <a:srgbClr val="000000"/>
                </a:solidFill>
                <a:latin typeface="Arial"/>
              </a:rPr>
              <a:t>contrato</a:t>
            </a:r>
            <a:r>
              <a:rPr lang="en-US" sz="2000" b="0" strike="noStrike" spc="-1" dirty="0">
                <a:solidFill>
                  <a:srgbClr val="000000"/>
                </a:solidFill>
                <a:latin typeface="Arial"/>
              </a:rPr>
              <a:t> de </a:t>
            </a:r>
            <a:r>
              <a:rPr lang="en-US" sz="2000" b="0" strike="noStrike" spc="-1" dirty="0" err="1">
                <a:solidFill>
                  <a:srgbClr val="000000"/>
                </a:solidFill>
                <a:latin typeface="Arial"/>
              </a:rPr>
              <a:t>una</a:t>
            </a:r>
            <a:r>
              <a:rPr lang="en-US" sz="2000" b="0" strike="noStrike" spc="-1" dirty="0">
                <a:solidFill>
                  <a:srgbClr val="000000"/>
                </a:solidFill>
                <a:latin typeface="Arial"/>
              </a:rPr>
              <a:t> </a:t>
            </a:r>
            <a:r>
              <a:rPr lang="en-US" sz="2000" b="0" strike="noStrike" spc="-1" dirty="0" err="1">
                <a:solidFill>
                  <a:srgbClr val="000000"/>
                </a:solidFill>
                <a:latin typeface="Arial"/>
              </a:rPr>
              <a:t>lista</a:t>
            </a:r>
            <a:r>
              <a:rPr lang="en-US" sz="2000" b="0" strike="noStrike" spc="-1" dirty="0">
                <a:solidFill>
                  <a:srgbClr val="000000"/>
                </a:solidFill>
                <a:latin typeface="Arial"/>
              </a:rPr>
              <a:t> </a:t>
            </a:r>
            <a:r>
              <a:rPr lang="en-US" sz="2000" b="0" strike="noStrike" spc="-1" dirty="0" err="1">
                <a:solidFill>
                  <a:srgbClr val="000000"/>
                </a:solidFill>
                <a:latin typeface="Arial"/>
              </a:rPr>
              <a:t>completa</a:t>
            </a:r>
            <a:r>
              <a:rPr lang="en-US" sz="2000" b="0" strike="noStrike" spc="-1" dirty="0">
                <a:solidFill>
                  <a:srgbClr val="000000"/>
                </a:solidFill>
                <a:latin typeface="Arial"/>
              </a:rPr>
              <a:t>, </a:t>
            </a:r>
            <a:r>
              <a:rPr lang="en-US" sz="2000" b="0" strike="noStrike" spc="-1" dirty="0" err="1" smtClean="0">
                <a:solidFill>
                  <a:srgbClr val="000000"/>
                </a:solidFill>
                <a:latin typeface="Arial"/>
              </a:rPr>
              <a:t>pero</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en</a:t>
            </a:r>
            <a:r>
              <a:rPr lang="en-US" sz="2000" b="0" strike="noStrike" spc="-1" dirty="0" smtClean="0">
                <a:solidFill>
                  <a:srgbClr val="000000"/>
                </a:solidFill>
                <a:latin typeface="Arial"/>
              </a:rPr>
              <a:t> </a:t>
            </a:r>
            <a:r>
              <a:rPr lang="en-US" sz="2000" b="0" strike="noStrike" spc="-1" dirty="0" err="1">
                <a:solidFill>
                  <a:srgbClr val="000000"/>
                </a:solidFill>
                <a:latin typeface="Arial"/>
              </a:rPr>
              <a:t>este</a:t>
            </a:r>
            <a:r>
              <a:rPr lang="en-US" sz="2000" b="0" strike="noStrike" spc="-1" dirty="0">
                <a:solidFill>
                  <a:srgbClr val="000000"/>
                </a:solidFill>
                <a:latin typeface="Arial"/>
              </a:rPr>
              <a:t> </a:t>
            </a:r>
            <a:r>
              <a:rPr lang="en-US" sz="2000" b="0" strike="noStrike" spc="-1" dirty="0" err="1">
                <a:solidFill>
                  <a:srgbClr val="000000"/>
                </a:solidFill>
                <a:latin typeface="Arial"/>
              </a:rPr>
              <a:t>ejercicio</a:t>
            </a:r>
            <a:r>
              <a:rPr lang="en-US" sz="2000" b="0" strike="noStrike" spc="-1" dirty="0">
                <a:solidFill>
                  <a:srgbClr val="000000"/>
                </a:solidFill>
                <a:latin typeface="Arial"/>
              </a:rPr>
              <a:t> no </a:t>
            </a:r>
            <a:r>
              <a:rPr lang="en-US" sz="2000" b="0" strike="noStrike" spc="-1" dirty="0" err="1">
                <a:solidFill>
                  <a:srgbClr val="000000"/>
                </a:solidFill>
                <a:latin typeface="Arial"/>
              </a:rPr>
              <a:t>los</a:t>
            </a:r>
            <a:r>
              <a:rPr lang="en-US" sz="2000" b="0" strike="noStrike" spc="-1" dirty="0">
                <a:solidFill>
                  <a:srgbClr val="000000"/>
                </a:solidFill>
                <a:latin typeface="Arial"/>
              </a:rPr>
              <a:t> </a:t>
            </a:r>
            <a:r>
              <a:rPr lang="en-US" sz="2000" b="0" strike="noStrike" spc="-1" dirty="0" err="1" smtClean="0">
                <a:solidFill>
                  <a:srgbClr val="000000"/>
                </a:solidFill>
                <a:latin typeface="Arial"/>
              </a:rPr>
              <a:t>necesitamos</a:t>
            </a:r>
            <a:r>
              <a:rPr lang="en-US" sz="2000" b="0" strike="noStrike" spc="-1" dirty="0" smtClean="0">
                <a:solidFill>
                  <a:srgbClr val="000000"/>
                </a:solidFill>
                <a:latin typeface="Arial"/>
              </a:rPr>
              <a:t>,</a:t>
            </a:r>
            <a:r>
              <a:rPr lang="en-US" sz="2000" b="0" strike="noStrike" spc="-1" baseline="0" dirty="0" smtClean="0">
                <a:solidFill>
                  <a:srgbClr val="000000"/>
                </a:solidFill>
                <a:latin typeface="Arial"/>
              </a:rPr>
              <a:t> </a:t>
            </a:r>
            <a:r>
              <a:rPr lang="en-US" sz="2000" b="0" strike="noStrike" spc="-1" baseline="0" dirty="0" err="1" smtClean="0">
                <a:solidFill>
                  <a:srgbClr val="000000"/>
                </a:solidFill>
                <a:latin typeface="Arial"/>
              </a:rPr>
              <a:t>ademas</a:t>
            </a:r>
            <a:r>
              <a:rPr lang="en-US" sz="2000" b="0" strike="noStrike" spc="-1" baseline="0" dirty="0" smtClean="0">
                <a:solidFill>
                  <a:srgbClr val="000000"/>
                </a:solidFill>
                <a:latin typeface="Arial"/>
              </a:rPr>
              <a:t> g</a:t>
            </a:r>
            <a:r>
              <a:rPr lang="es-ES" sz="1200" b="0" kern="1200" dirty="0" err="1" smtClean="0">
                <a:solidFill>
                  <a:schemeClr val="tx1"/>
                </a:solidFill>
                <a:effectLst/>
                <a:latin typeface="+mn-lt"/>
                <a:ea typeface="+mn-ea"/>
                <a:cs typeface="+mn-cs"/>
              </a:rPr>
              <a:t>racias</a:t>
            </a:r>
            <a:r>
              <a:rPr lang="es-ES" sz="1200" b="0" kern="1200" dirty="0" smtClean="0">
                <a:solidFill>
                  <a:schemeClr val="tx1"/>
                </a:solidFill>
                <a:effectLst/>
                <a:latin typeface="+mn-lt"/>
                <a:ea typeface="+mn-ea"/>
                <a:cs typeface="+mn-cs"/>
              </a:rPr>
              <a:t> a esta interfaz, la clase `</a:t>
            </a:r>
            <a:r>
              <a:rPr lang="es-ES" sz="1200" b="0" kern="1200" dirty="0" err="1" smtClean="0">
                <a:solidFill>
                  <a:schemeClr val="tx1"/>
                </a:solidFill>
                <a:effectLst/>
                <a:latin typeface="+mn-lt"/>
                <a:ea typeface="+mn-ea"/>
                <a:cs typeface="+mn-cs"/>
              </a:rPr>
              <a:t>ArrayList</a:t>
            </a:r>
            <a:r>
              <a:rPr lang="es-ES" sz="1200" b="0" kern="1200" dirty="0" smtClean="0">
                <a:solidFill>
                  <a:schemeClr val="tx1"/>
                </a:solidFill>
                <a:effectLst/>
                <a:latin typeface="+mn-lt"/>
                <a:ea typeface="+mn-ea"/>
                <a:cs typeface="+mn-cs"/>
              </a:rPr>
              <a:t>` puede ser reemplazada por otra implementación sin que el resto del código se vea afectado.</a:t>
            </a:r>
          </a:p>
          <a:p>
            <a:pPr marL="216000" marR="0" indent="0" algn="l" defTabSz="914400" rtl="0" eaLnBrk="1" fontAlgn="auto" latinLnBrk="0" hangingPunct="1">
              <a:lnSpc>
                <a:spcPct val="100000"/>
              </a:lnSpc>
              <a:spcBef>
                <a:spcPts val="0"/>
              </a:spcBef>
              <a:spcAft>
                <a:spcPts val="0"/>
              </a:spcAft>
              <a:buClrTx/>
              <a:buSzTx/>
              <a:buFontTx/>
              <a:buNone/>
              <a:tabLst>
                <a:tab pos="0" algn="l"/>
              </a:tabLst>
              <a:defRPr/>
            </a:pPr>
            <a:endParaRPr lang="en-US" sz="2000" b="0" strike="noStrike" spc="-1" dirty="0">
              <a:solidFill>
                <a:srgbClr val="000000"/>
              </a:solidFill>
              <a:latin typeface="Arial"/>
            </a:endParaRPr>
          </a:p>
        </p:txBody>
      </p:sp>
      <p:sp>
        <p:nvSpPr>
          <p:cNvPr id="718"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9426D293-4925-4A35-9F17-AF00A5CF00EA}" type="slidenum">
              <a:rPr lang="en-US" sz="1200" b="0" strike="noStrike" spc="-1">
                <a:solidFill>
                  <a:schemeClr val="dk1"/>
                </a:solidFill>
                <a:latin typeface="+mn-lt"/>
                <a:ea typeface="+mn-ea"/>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noRot="1" noChangeAspect="1"/>
          </p:cNvSpPr>
          <p:nvPr>
            <p:ph type="sldImg"/>
          </p:nvPr>
        </p:nvSpPr>
        <p:spPr>
          <a:xfrm>
            <a:off x="685800" y="1143000"/>
            <a:ext cx="5486400" cy="3086100"/>
          </a:xfrm>
          <a:prstGeom prst="rect">
            <a:avLst/>
          </a:prstGeom>
          <a:ln w="0">
            <a:noFill/>
          </a:ln>
        </p:spPr>
      </p:sp>
      <p:sp>
        <p:nvSpPr>
          <p:cNvPr id="7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marR="0" indent="0" algn="l" defTabSz="914400" rtl="0" eaLnBrk="1" fontAlgn="auto" latinLnBrk="0" hangingPunct="1">
              <a:lnSpc>
                <a:spcPct val="100000"/>
              </a:lnSpc>
              <a:spcBef>
                <a:spcPts val="0"/>
              </a:spcBef>
              <a:spcAft>
                <a:spcPts val="0"/>
              </a:spcAft>
              <a:buClrTx/>
              <a:buSzTx/>
              <a:buFontTx/>
              <a:buNone/>
              <a:tabLst>
                <a:tab pos="0" algn="l"/>
              </a:tabLst>
              <a:defRPr/>
            </a:pPr>
            <a:r>
              <a:rPr lang="es-ES" sz="1200" b="0" kern="1200" dirty="0" smtClean="0">
                <a:solidFill>
                  <a:schemeClr val="tx1"/>
                </a:solidFill>
                <a:effectLst/>
                <a:latin typeface="+mn-lt"/>
                <a:ea typeface="+mn-ea"/>
                <a:cs typeface="+mn-cs"/>
              </a:rPr>
              <a:t>La</a:t>
            </a:r>
            <a:r>
              <a:rPr lang="es-ES" sz="1200" b="0" kern="1200" baseline="0" dirty="0" smtClean="0">
                <a:solidFill>
                  <a:schemeClr val="tx1"/>
                </a:solidFill>
                <a:effectLst/>
                <a:latin typeface="+mn-lt"/>
                <a:ea typeface="+mn-ea"/>
                <a:cs typeface="+mn-cs"/>
              </a:rPr>
              <a:t> clase </a:t>
            </a:r>
            <a:r>
              <a:rPr lang="es-ES" sz="1200" b="0" kern="1200" baseline="0" dirty="0" err="1" smtClean="0">
                <a:solidFill>
                  <a:schemeClr val="tx1"/>
                </a:solidFill>
                <a:effectLst/>
                <a:latin typeface="+mn-lt"/>
                <a:ea typeface="+mn-ea"/>
                <a:cs typeface="+mn-cs"/>
              </a:rPr>
              <a:t>ArrayList</a:t>
            </a:r>
            <a:r>
              <a:rPr lang="es-ES" sz="1200" b="0" kern="1200" dirty="0" smtClean="0">
                <a:solidFill>
                  <a:schemeClr val="tx1"/>
                </a:solidFill>
                <a:effectLst/>
                <a:latin typeface="+mn-lt"/>
                <a:ea typeface="+mn-ea"/>
                <a:cs typeface="+mn-cs"/>
              </a:rPr>
              <a:t> es una implementación propia de una lista dinámica basada en un arreglo que se expande automáticamente</a:t>
            </a:r>
            <a:r>
              <a:rPr lang="es-ES" sz="1200" b="0" kern="1200" baseline="0" dirty="0" smtClean="0">
                <a:solidFill>
                  <a:schemeClr val="tx1"/>
                </a:solidFill>
                <a:effectLst/>
                <a:latin typeface="+mn-lt"/>
                <a:ea typeface="+mn-ea"/>
                <a:cs typeface="+mn-cs"/>
              </a:rPr>
              <a:t> y e</a:t>
            </a:r>
            <a:r>
              <a:rPr lang="es-ES" sz="1200" b="0" kern="1200" dirty="0" smtClean="0">
                <a:solidFill>
                  <a:schemeClr val="tx1"/>
                </a:solidFill>
                <a:effectLst/>
                <a:latin typeface="+mn-lt"/>
                <a:ea typeface="+mn-ea"/>
                <a:cs typeface="+mn-cs"/>
              </a:rPr>
              <a:t>n lugar de usar el `</a:t>
            </a:r>
            <a:r>
              <a:rPr lang="es-ES" sz="1200" b="0" kern="1200" dirty="0" err="1" smtClean="0">
                <a:solidFill>
                  <a:schemeClr val="tx1"/>
                </a:solidFill>
                <a:effectLst/>
                <a:latin typeface="+mn-lt"/>
                <a:ea typeface="+mn-ea"/>
                <a:cs typeface="+mn-cs"/>
              </a:rPr>
              <a:t>ArrayList</a:t>
            </a:r>
            <a:r>
              <a:rPr lang="es-ES" sz="1200" b="0" kern="1200" dirty="0" smtClean="0">
                <a:solidFill>
                  <a:schemeClr val="tx1"/>
                </a:solidFill>
                <a:effectLst/>
                <a:latin typeface="+mn-lt"/>
                <a:ea typeface="+mn-ea"/>
                <a:cs typeface="+mn-cs"/>
              </a:rPr>
              <a:t>` de Java, aquí construimos</a:t>
            </a:r>
            <a:r>
              <a:rPr lang="es-ES" sz="1200" b="0" kern="1200" baseline="0" dirty="0" smtClean="0">
                <a:solidFill>
                  <a:schemeClr val="tx1"/>
                </a:solidFill>
                <a:effectLst/>
                <a:latin typeface="+mn-lt"/>
                <a:ea typeface="+mn-ea"/>
                <a:cs typeface="+mn-cs"/>
              </a:rPr>
              <a:t> una</a:t>
            </a:r>
            <a:r>
              <a:rPr lang="es-ES" sz="1200" b="0" kern="1200" dirty="0" smtClean="0">
                <a:solidFill>
                  <a:schemeClr val="tx1"/>
                </a:solidFill>
                <a:effectLst/>
                <a:latin typeface="+mn-lt"/>
                <a:ea typeface="+mn-ea"/>
                <a:cs typeface="+mn-cs"/>
              </a:rPr>
              <a:t> desde cero para comprender mejor cómo funciona este tipo de estructura.</a:t>
            </a:r>
            <a:r>
              <a:rPr lang="es-ES" sz="1200" b="0" kern="1200" baseline="0" dirty="0" smtClean="0">
                <a:solidFill>
                  <a:schemeClr val="tx1"/>
                </a:solidFill>
                <a:effectLst/>
                <a:latin typeface="+mn-lt"/>
                <a:ea typeface="+mn-ea"/>
                <a:cs typeface="+mn-cs"/>
              </a:rPr>
              <a:t> Este t</a:t>
            </a:r>
            <a:r>
              <a:rPr lang="en-US" sz="2000" b="0" strike="noStrike" spc="-1" dirty="0" err="1" smtClean="0">
                <a:solidFill>
                  <a:srgbClr val="000000"/>
                </a:solidFill>
                <a:latin typeface="Arial"/>
              </a:rPr>
              <a:t>iene</a:t>
            </a:r>
            <a:r>
              <a:rPr lang="en-US" sz="2000" b="0" strike="noStrike" spc="-1" dirty="0" smtClean="0">
                <a:solidFill>
                  <a:srgbClr val="000000"/>
                </a:solidFill>
                <a:latin typeface="Arial"/>
              </a:rPr>
              <a:t> </a:t>
            </a:r>
            <a:r>
              <a:rPr lang="en-US" sz="2000" b="0" strike="noStrike" spc="-1" dirty="0" err="1">
                <a:solidFill>
                  <a:srgbClr val="000000"/>
                </a:solidFill>
                <a:latin typeface="Arial"/>
              </a:rPr>
              <a:t>tres</a:t>
            </a:r>
            <a:r>
              <a:rPr lang="en-US" sz="2000" b="0" strike="noStrike" spc="-1" dirty="0">
                <a:solidFill>
                  <a:srgbClr val="000000"/>
                </a:solidFill>
                <a:latin typeface="Arial"/>
              </a:rPr>
              <a:t> </a:t>
            </a:r>
            <a:r>
              <a:rPr lang="en-US" sz="2000" b="0" strike="noStrike" spc="-1" dirty="0" err="1">
                <a:solidFill>
                  <a:srgbClr val="000000"/>
                </a:solidFill>
                <a:latin typeface="Arial"/>
              </a:rPr>
              <a:t>atributos</a:t>
            </a:r>
            <a:r>
              <a:rPr lang="en-US" sz="2000" b="0" strike="noStrike" spc="-1" dirty="0">
                <a:solidFill>
                  <a:srgbClr val="000000"/>
                </a:solidFill>
                <a:latin typeface="Arial"/>
              </a:rPr>
              <a:t> </a:t>
            </a:r>
            <a:r>
              <a:rPr lang="en-US" sz="2000" b="0" strike="noStrike" spc="-1" dirty="0" err="1" smtClean="0">
                <a:solidFill>
                  <a:srgbClr val="000000"/>
                </a:solidFill>
                <a:latin typeface="Arial"/>
              </a:rPr>
              <a:t>privados</a:t>
            </a:r>
            <a:r>
              <a:rPr lang="es-ES" sz="1200" b="0" strike="noStrike" kern="1200" spc="0" dirty="0" smtClean="0">
                <a:solidFill>
                  <a:schemeClr val="tx1"/>
                </a:solidFill>
                <a:effectLst/>
                <a:latin typeface="+mn-lt"/>
                <a:ea typeface="+mn-ea"/>
                <a:cs typeface="+mn-cs"/>
              </a:rPr>
              <a:t>:</a:t>
            </a:r>
            <a:r>
              <a:rPr lang="es-ES" sz="1200" b="0" strike="noStrike" kern="1200" spc="0" baseline="0" dirty="0" smtClean="0">
                <a:solidFill>
                  <a:schemeClr val="tx1"/>
                </a:solidFill>
                <a:effectLst/>
                <a:latin typeface="+mn-lt"/>
                <a:ea typeface="+mn-ea"/>
                <a:cs typeface="+mn-cs"/>
              </a:rPr>
              <a:t> </a:t>
            </a:r>
            <a:r>
              <a:rPr lang="es-ES" sz="1200" b="0" kern="1200" dirty="0" smtClean="0">
                <a:solidFill>
                  <a:schemeClr val="tx1"/>
                </a:solidFill>
                <a:effectLst/>
                <a:latin typeface="+mn-lt"/>
                <a:ea typeface="+mn-ea"/>
                <a:cs typeface="+mn-cs"/>
              </a:rPr>
              <a:t>un arreglo de objetos (`</a:t>
            </a:r>
            <a:r>
              <a:rPr lang="es-ES" sz="1200" b="0" kern="1200" dirty="0" err="1" smtClean="0">
                <a:solidFill>
                  <a:schemeClr val="tx1"/>
                </a:solidFill>
                <a:effectLst/>
                <a:latin typeface="+mn-lt"/>
                <a:ea typeface="+mn-ea"/>
                <a:cs typeface="+mn-cs"/>
              </a:rPr>
              <a:t>items</a:t>
            </a:r>
            <a:r>
              <a:rPr lang="es-ES" sz="1200" b="0" kern="1200" dirty="0" smtClean="0">
                <a:solidFill>
                  <a:schemeClr val="tx1"/>
                </a:solidFill>
                <a:effectLst/>
                <a:latin typeface="+mn-lt"/>
                <a:ea typeface="+mn-ea"/>
                <a:cs typeface="+mn-cs"/>
              </a:rPr>
              <a:t>`), un contador de tamaño (`</a:t>
            </a:r>
            <a:r>
              <a:rPr lang="es-ES" sz="1200" b="0" kern="1200" dirty="0" err="1" smtClean="0">
                <a:solidFill>
                  <a:schemeClr val="tx1"/>
                </a:solidFill>
                <a:effectLst/>
                <a:latin typeface="+mn-lt"/>
                <a:ea typeface="+mn-ea"/>
                <a:cs typeface="+mn-cs"/>
              </a:rPr>
              <a:t>size</a:t>
            </a:r>
            <a:r>
              <a:rPr lang="es-ES" sz="1200" b="0" kern="1200" dirty="0" smtClean="0">
                <a:solidFill>
                  <a:schemeClr val="tx1"/>
                </a:solidFill>
                <a:effectLst/>
                <a:latin typeface="+mn-lt"/>
                <a:ea typeface="+mn-ea"/>
                <a:cs typeface="+mn-cs"/>
              </a:rPr>
              <a:t>`) y una capacidad (`</a:t>
            </a:r>
            <a:r>
              <a:rPr lang="es-ES" sz="1200" b="0" kern="1200" dirty="0" err="1" smtClean="0">
                <a:solidFill>
                  <a:schemeClr val="tx1"/>
                </a:solidFill>
                <a:effectLst/>
                <a:latin typeface="+mn-lt"/>
                <a:ea typeface="+mn-ea"/>
                <a:cs typeface="+mn-cs"/>
              </a:rPr>
              <a:t>capacity</a:t>
            </a:r>
            <a:r>
              <a:rPr lang="es-ES" sz="1200" b="0" kern="1200" dirty="0" smtClean="0">
                <a:solidFill>
                  <a:schemeClr val="tx1"/>
                </a:solidFill>
                <a:effectLst/>
                <a:latin typeface="+mn-lt"/>
                <a:ea typeface="+mn-ea"/>
                <a:cs typeface="+mn-cs"/>
              </a:rPr>
              <a:t>`)</a:t>
            </a:r>
            <a:r>
              <a:rPr lang="es-ES" sz="1200" b="0" kern="1200" baseline="0" dirty="0" smtClean="0">
                <a:solidFill>
                  <a:schemeClr val="tx1"/>
                </a:solidFill>
                <a:effectLst/>
                <a:latin typeface="+mn-lt"/>
                <a:ea typeface="+mn-ea"/>
                <a:cs typeface="+mn-cs"/>
              </a:rPr>
              <a:t> </a:t>
            </a:r>
            <a:r>
              <a:rPr lang="en-US" sz="2000" b="0" strike="noStrike" kern="1200" spc="-1" baseline="0" dirty="0" smtClean="0">
                <a:solidFill>
                  <a:srgbClr val="000000"/>
                </a:solidFill>
                <a:effectLst/>
                <a:latin typeface="Arial"/>
                <a:ea typeface="+mn-ea"/>
                <a:cs typeface="+mn-cs"/>
              </a:rPr>
              <a:t>la </a:t>
            </a:r>
            <a:r>
              <a:rPr lang="en-US" sz="2000" b="0" strike="noStrike" kern="1200" spc="-1" baseline="0" dirty="0" err="1" smtClean="0">
                <a:solidFill>
                  <a:srgbClr val="000000"/>
                </a:solidFill>
                <a:effectLst/>
                <a:latin typeface="Arial"/>
                <a:ea typeface="+mn-ea"/>
                <a:cs typeface="+mn-cs"/>
              </a:rPr>
              <a:t>cual</a:t>
            </a:r>
            <a:r>
              <a:rPr lang="en-US" sz="2000" b="0" strike="noStrike" kern="1200" spc="-1" baseline="0" dirty="0" smtClean="0">
                <a:solidFill>
                  <a:srgbClr val="000000"/>
                </a:solidFill>
                <a:effectLst/>
                <a:latin typeface="Arial"/>
                <a:ea typeface="+mn-ea"/>
                <a:cs typeface="+mn-cs"/>
              </a:rPr>
              <a:t> </a:t>
            </a:r>
            <a:r>
              <a:rPr lang="en-US" sz="2000" b="0" strike="noStrike" kern="1200" spc="-1" baseline="0" dirty="0" err="1" smtClean="0">
                <a:solidFill>
                  <a:srgbClr val="000000"/>
                </a:solidFill>
                <a:effectLst/>
                <a:latin typeface="Arial"/>
                <a:ea typeface="+mn-ea"/>
                <a:cs typeface="+mn-cs"/>
              </a:rPr>
              <a:t>comienza</a:t>
            </a:r>
            <a:r>
              <a:rPr lang="en-US" sz="2000" b="0" strike="noStrike" spc="-1" dirty="0" smtClean="0">
                <a:solidFill>
                  <a:srgbClr val="000000"/>
                </a:solidFill>
                <a:latin typeface="Arial"/>
              </a:rPr>
              <a:t> </a:t>
            </a:r>
            <a:r>
              <a:rPr lang="en-US" sz="2000" b="0" strike="noStrike" spc="-1" dirty="0">
                <a:solidFill>
                  <a:srgbClr val="000000"/>
                </a:solidFill>
                <a:latin typeface="Arial"/>
              </a:rPr>
              <a:t>10. </a:t>
            </a:r>
            <a:r>
              <a:rPr lang="en-US" sz="2000" b="0" strike="noStrike" spc="-1" dirty="0" err="1">
                <a:solidFill>
                  <a:srgbClr val="000000"/>
                </a:solidFill>
                <a:latin typeface="Arial"/>
              </a:rPr>
              <a:t>Cuando</a:t>
            </a:r>
            <a:r>
              <a:rPr lang="en-US" sz="2000" b="0" strike="noStrike" spc="-1" dirty="0">
                <a:solidFill>
                  <a:srgbClr val="000000"/>
                </a:solidFill>
                <a:latin typeface="Arial"/>
              </a:rPr>
              <a:t> size </a:t>
            </a:r>
            <a:r>
              <a:rPr lang="en-US" sz="2000" b="0" strike="noStrike" spc="-1" dirty="0" err="1">
                <a:solidFill>
                  <a:srgbClr val="000000"/>
                </a:solidFill>
                <a:latin typeface="Arial"/>
              </a:rPr>
              <a:t>llega</a:t>
            </a:r>
            <a:r>
              <a:rPr lang="en-US" sz="2000" b="0" strike="noStrike" spc="-1" dirty="0">
                <a:solidFill>
                  <a:srgbClr val="000000"/>
                </a:solidFill>
                <a:latin typeface="Arial"/>
              </a:rPr>
              <a:t> </a:t>
            </a:r>
            <a:r>
              <a:rPr lang="en-US" sz="2000" b="0" strike="noStrike" spc="-1" dirty="0" smtClean="0">
                <a:solidFill>
                  <a:srgbClr val="000000"/>
                </a:solidFill>
                <a:latin typeface="Arial"/>
              </a:rPr>
              <a:t>a </a:t>
            </a:r>
            <a:r>
              <a:rPr lang="en-US" sz="2000" b="0" strike="noStrike" spc="-1" dirty="0" err="1" smtClean="0">
                <a:solidFill>
                  <a:srgbClr val="000000"/>
                </a:solidFill>
                <a:latin typeface="Arial"/>
              </a:rPr>
              <a:t>ser</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igual</a:t>
            </a:r>
            <a:r>
              <a:rPr lang="en-US" sz="2000" b="0" strike="noStrike" spc="-1" dirty="0" smtClean="0">
                <a:solidFill>
                  <a:srgbClr val="000000"/>
                </a:solidFill>
                <a:latin typeface="Arial"/>
              </a:rPr>
              <a:t> a </a:t>
            </a:r>
            <a:r>
              <a:rPr lang="en-US" sz="2000" b="0" strike="noStrike" spc="-1" dirty="0">
                <a:solidFill>
                  <a:srgbClr val="000000"/>
                </a:solidFill>
                <a:latin typeface="Arial"/>
              </a:rPr>
              <a:t>capacity, </a:t>
            </a:r>
            <a:r>
              <a:rPr lang="en-US" sz="2000" b="0" strike="noStrike" spc="-1" dirty="0" smtClean="0">
                <a:solidFill>
                  <a:srgbClr val="000000"/>
                </a:solidFill>
                <a:latin typeface="Arial"/>
              </a:rPr>
              <a:t>el </a:t>
            </a:r>
            <a:r>
              <a:rPr lang="en-US" sz="2000" b="0" strike="noStrike" spc="-1" dirty="0" err="1" smtClean="0">
                <a:solidFill>
                  <a:srgbClr val="000000"/>
                </a:solidFill>
                <a:latin typeface="Arial"/>
              </a:rPr>
              <a:t>metodo</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isFull</a:t>
            </a:r>
            <a:r>
              <a:rPr lang="en-US" sz="2000" b="0" strike="noStrike" spc="-1" dirty="0" smtClean="0">
                <a:solidFill>
                  <a:srgbClr val="000000"/>
                </a:solidFill>
                <a:latin typeface="Arial"/>
              </a:rPr>
              <a:t> ( dice </a:t>
            </a:r>
            <a:r>
              <a:rPr lang="en-US" sz="2000" b="0" strike="noStrike" spc="-1" dirty="0" err="1" smtClean="0">
                <a:solidFill>
                  <a:srgbClr val="000000"/>
                </a:solidFill>
                <a:latin typeface="Arial"/>
              </a:rPr>
              <a:t>cuando</a:t>
            </a:r>
            <a:r>
              <a:rPr lang="en-US" sz="2000" b="0" strike="noStrike" spc="-1" dirty="0" smtClean="0">
                <a:solidFill>
                  <a:srgbClr val="000000"/>
                </a:solidFill>
                <a:latin typeface="Arial"/>
              </a:rPr>
              <a:t> un </a:t>
            </a:r>
            <a:r>
              <a:rPr lang="en-US" sz="2000" b="0" strike="noStrike" spc="-1" dirty="0" err="1" smtClean="0">
                <a:solidFill>
                  <a:srgbClr val="000000"/>
                </a:solidFill>
                <a:latin typeface="Arial"/>
              </a:rPr>
              <a:t>arreglo</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esta</a:t>
            </a:r>
            <a:r>
              <a:rPr lang="en-US" sz="2000" b="0" strike="noStrike" spc="-1" baseline="0" dirty="0" smtClean="0">
                <a:solidFill>
                  <a:srgbClr val="000000"/>
                </a:solidFill>
                <a:latin typeface="Arial"/>
              </a:rPr>
              <a:t> </a:t>
            </a:r>
            <a:r>
              <a:rPr lang="en-US" sz="2000" b="0" strike="noStrike" spc="-1" baseline="0" dirty="0" err="1" smtClean="0">
                <a:solidFill>
                  <a:srgbClr val="000000"/>
                </a:solidFill>
                <a:latin typeface="Arial"/>
              </a:rPr>
              <a:t>lleno</a:t>
            </a:r>
            <a:r>
              <a:rPr lang="en-US" sz="2000" b="0" strike="noStrike" spc="-1" baseline="0" dirty="0" smtClean="0">
                <a:solidFill>
                  <a:srgbClr val="000000"/>
                </a:solidFill>
                <a:latin typeface="Arial"/>
              </a:rPr>
              <a:t>)</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devuelve</a:t>
            </a:r>
            <a:r>
              <a:rPr lang="en-US" sz="2000" b="0" strike="noStrike" spc="-1" baseline="0" dirty="0" smtClean="0">
                <a:solidFill>
                  <a:srgbClr val="000000"/>
                </a:solidFill>
                <a:latin typeface="Arial"/>
              </a:rPr>
              <a:t> true</a:t>
            </a:r>
            <a:r>
              <a:rPr lang="en-US" sz="2000" b="0" strike="noStrike" spc="-1" dirty="0" smtClean="0">
                <a:solidFill>
                  <a:srgbClr val="000000"/>
                </a:solidFill>
                <a:latin typeface="Arial"/>
              </a:rPr>
              <a:t> </a:t>
            </a:r>
            <a:r>
              <a:rPr lang="en-US" sz="2000" b="0" strike="noStrike" spc="-1" dirty="0">
                <a:solidFill>
                  <a:srgbClr val="000000"/>
                </a:solidFill>
                <a:latin typeface="Arial"/>
              </a:rPr>
              <a:t>y </a:t>
            </a:r>
            <a:r>
              <a:rPr lang="en-US" sz="2000" b="0" strike="noStrike" spc="-1" dirty="0" smtClean="0">
                <a:solidFill>
                  <a:srgbClr val="000000"/>
                </a:solidFill>
                <a:latin typeface="Arial"/>
              </a:rPr>
              <a:t>el </a:t>
            </a:r>
            <a:r>
              <a:rPr lang="en-US" sz="2000" b="0" strike="noStrike" spc="-1" dirty="0" err="1" smtClean="0">
                <a:solidFill>
                  <a:srgbClr val="000000"/>
                </a:solidFill>
                <a:latin typeface="Arial"/>
              </a:rPr>
              <a:t>metodo</a:t>
            </a:r>
            <a:r>
              <a:rPr lang="en-US" sz="2000" b="0" strike="noStrike" spc="-1" baseline="0" dirty="0" smtClean="0">
                <a:solidFill>
                  <a:srgbClr val="000000"/>
                </a:solidFill>
                <a:latin typeface="Arial"/>
              </a:rPr>
              <a:t> </a:t>
            </a:r>
            <a:r>
              <a:rPr lang="en-US" sz="2000" b="0" strike="noStrike" spc="-1" dirty="0" smtClean="0">
                <a:solidFill>
                  <a:srgbClr val="000000"/>
                </a:solidFill>
                <a:latin typeface="Arial"/>
              </a:rPr>
              <a:t>add </a:t>
            </a:r>
            <a:r>
              <a:rPr lang="en-US" sz="2000" b="0" strike="noStrike" spc="-1" dirty="0">
                <a:solidFill>
                  <a:srgbClr val="000000"/>
                </a:solidFill>
                <a:latin typeface="Arial"/>
              </a:rPr>
              <a:t>llama </a:t>
            </a:r>
            <a:r>
              <a:rPr lang="en-US" sz="2000" b="0" strike="noStrike" spc="-1" dirty="0" smtClean="0">
                <a:solidFill>
                  <a:srgbClr val="000000"/>
                </a:solidFill>
                <a:latin typeface="Arial"/>
              </a:rPr>
              <a:t>al </a:t>
            </a:r>
            <a:r>
              <a:rPr lang="en-US" sz="2000" b="0" strike="noStrike" spc="-1" dirty="0" err="1" smtClean="0">
                <a:solidFill>
                  <a:srgbClr val="000000"/>
                </a:solidFill>
                <a:latin typeface="Arial"/>
              </a:rPr>
              <a:t>metodo</a:t>
            </a:r>
            <a:r>
              <a:rPr lang="en-US" sz="2000" b="0" strike="noStrike" spc="-1" dirty="0" smtClean="0">
                <a:solidFill>
                  <a:srgbClr val="000000"/>
                </a:solidFill>
                <a:latin typeface="Arial"/>
              </a:rPr>
              <a:t> Expand</a:t>
            </a:r>
            <a:r>
              <a:rPr lang="en-US" sz="2000" b="0" strike="noStrike" spc="-1" baseline="0" dirty="0" smtClean="0">
                <a:solidFill>
                  <a:srgbClr val="000000"/>
                </a:solidFill>
                <a:latin typeface="Arial"/>
              </a:rPr>
              <a:t>, el </a:t>
            </a:r>
            <a:r>
              <a:rPr lang="en-US" sz="2000" b="0" strike="noStrike" spc="-1" baseline="0" dirty="0" err="1" smtClean="0">
                <a:solidFill>
                  <a:srgbClr val="000000"/>
                </a:solidFill>
                <a:latin typeface="Arial"/>
              </a:rPr>
              <a:t>cual</a:t>
            </a:r>
            <a:r>
              <a:rPr lang="en-US" sz="2000" b="0" strike="noStrike" spc="-1" baseline="0" dirty="0" smtClean="0">
                <a:solidFill>
                  <a:srgbClr val="000000"/>
                </a:solidFill>
                <a:latin typeface="Arial"/>
              </a:rPr>
              <a:t> </a:t>
            </a:r>
            <a:r>
              <a:rPr lang="en-US" sz="2000" b="0" strike="noStrike" spc="-1" dirty="0" err="1" smtClean="0">
                <a:solidFill>
                  <a:srgbClr val="000000"/>
                </a:solidFill>
                <a:latin typeface="Arial"/>
              </a:rPr>
              <a:t>crea</a:t>
            </a:r>
            <a:r>
              <a:rPr lang="en-US" sz="2000" b="0" strike="noStrike" spc="-1" dirty="0" smtClean="0">
                <a:solidFill>
                  <a:srgbClr val="000000"/>
                </a:solidFill>
                <a:latin typeface="Arial"/>
              </a:rPr>
              <a:t> </a:t>
            </a:r>
            <a:r>
              <a:rPr lang="en-US" sz="2000" b="0" strike="noStrike" spc="-1" dirty="0">
                <a:solidFill>
                  <a:srgbClr val="000000"/>
                </a:solidFill>
                <a:latin typeface="Arial"/>
              </a:rPr>
              <a:t>un </a:t>
            </a:r>
            <a:r>
              <a:rPr lang="en-US" sz="2000" b="0" strike="noStrike" spc="-1" dirty="0" err="1">
                <a:solidFill>
                  <a:srgbClr val="000000"/>
                </a:solidFill>
                <a:latin typeface="Arial"/>
              </a:rPr>
              <a:t>arreglo</a:t>
            </a:r>
            <a:r>
              <a:rPr lang="en-US" sz="2000" b="0" strike="noStrike" spc="-1" dirty="0">
                <a:solidFill>
                  <a:srgbClr val="000000"/>
                </a:solidFill>
                <a:latin typeface="Arial"/>
              </a:rPr>
              <a:t> con 10 </a:t>
            </a:r>
            <a:r>
              <a:rPr lang="en-US" sz="2000" b="0" strike="noStrike" spc="-1" dirty="0" err="1">
                <a:solidFill>
                  <a:srgbClr val="000000"/>
                </a:solidFill>
                <a:latin typeface="Arial"/>
              </a:rPr>
              <a:t>espacios</a:t>
            </a:r>
            <a:r>
              <a:rPr lang="en-US" sz="2000" b="0" strike="noStrike" spc="-1" dirty="0">
                <a:solidFill>
                  <a:srgbClr val="000000"/>
                </a:solidFill>
                <a:latin typeface="Arial"/>
              </a:rPr>
              <a:t> </a:t>
            </a:r>
            <a:r>
              <a:rPr lang="en-US" sz="2000" b="0" strike="noStrike" spc="-1" dirty="0" err="1" smtClean="0">
                <a:solidFill>
                  <a:srgbClr val="000000"/>
                </a:solidFill>
                <a:latin typeface="Arial"/>
              </a:rPr>
              <a:t>más</a:t>
            </a:r>
            <a:r>
              <a:rPr lang="en-US" sz="2000" b="0" strike="noStrike" spc="-1" baseline="0" dirty="0">
                <a:solidFill>
                  <a:srgbClr val="000000"/>
                </a:solidFill>
                <a:latin typeface="Arial"/>
              </a:rPr>
              <a:t> </a:t>
            </a:r>
            <a:r>
              <a:rPr lang="en-US" sz="2000" b="0" strike="noStrike" spc="-1" baseline="0" dirty="0" smtClean="0">
                <a:solidFill>
                  <a:srgbClr val="000000"/>
                </a:solidFill>
                <a:latin typeface="Arial"/>
              </a:rPr>
              <a:t>y</a:t>
            </a:r>
            <a:r>
              <a:rPr lang="en-US" sz="2000" b="0" strike="noStrike" spc="-1" dirty="0" smtClean="0">
                <a:solidFill>
                  <a:srgbClr val="000000"/>
                </a:solidFill>
                <a:latin typeface="Arial"/>
              </a:rPr>
              <a:t> </a:t>
            </a:r>
            <a:r>
              <a:rPr lang="en-US" sz="2000" b="0" strike="noStrike" spc="-1" dirty="0" err="1">
                <a:solidFill>
                  <a:srgbClr val="000000"/>
                </a:solidFill>
                <a:latin typeface="Arial"/>
              </a:rPr>
              <a:t>copia</a:t>
            </a:r>
            <a:r>
              <a:rPr lang="en-US" sz="2000" b="0" strike="noStrike" spc="-1" dirty="0">
                <a:solidFill>
                  <a:srgbClr val="000000"/>
                </a:solidFill>
                <a:latin typeface="Arial"/>
              </a:rPr>
              <a:t> </a:t>
            </a:r>
            <a:r>
              <a:rPr lang="en-US" sz="2000" b="0" strike="noStrike" spc="-1" dirty="0" err="1" smtClean="0">
                <a:solidFill>
                  <a:srgbClr val="000000"/>
                </a:solidFill>
                <a:latin typeface="Arial"/>
              </a:rPr>
              <a:t>todos</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los</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elementos</a:t>
            </a:r>
            <a:r>
              <a:rPr lang="en-US" sz="2000" b="0" strike="noStrike" spc="-1" dirty="0" smtClean="0">
                <a:solidFill>
                  <a:srgbClr val="000000"/>
                </a:solidFill>
                <a:latin typeface="Arial"/>
              </a:rPr>
              <a:t> del </a:t>
            </a:r>
            <a:r>
              <a:rPr lang="en-US" sz="2000" b="0" strike="noStrike" spc="-1" dirty="0" err="1" smtClean="0">
                <a:solidFill>
                  <a:srgbClr val="000000"/>
                </a:solidFill>
                <a:latin typeface="Arial"/>
              </a:rPr>
              <a:t>arreglo</a:t>
            </a:r>
            <a:r>
              <a:rPr lang="en-US" sz="2000" b="0" strike="noStrike" spc="-1" dirty="0" smtClean="0">
                <a:solidFill>
                  <a:srgbClr val="000000"/>
                </a:solidFill>
                <a:latin typeface="Arial"/>
              </a:rPr>
              <a:t> anterior </a:t>
            </a:r>
            <a:r>
              <a:rPr lang="en-US" sz="2000" b="0" strike="noStrike" spc="-1" dirty="0">
                <a:solidFill>
                  <a:srgbClr val="000000"/>
                </a:solidFill>
                <a:latin typeface="Arial"/>
              </a:rPr>
              <a:t>con </a:t>
            </a:r>
            <a:r>
              <a:rPr lang="en-US" sz="2000" b="0" strike="noStrike" spc="-1" dirty="0" err="1" smtClean="0">
                <a:solidFill>
                  <a:srgbClr val="000000"/>
                </a:solidFill>
                <a:latin typeface="Arial"/>
              </a:rPr>
              <a:t>System.arraycopy</a:t>
            </a:r>
            <a:r>
              <a:rPr lang="en-US" sz="2000" b="0" strike="noStrike" spc="-1" baseline="0" dirty="0" smtClean="0">
                <a:solidFill>
                  <a:srgbClr val="000000"/>
                </a:solidFill>
                <a:latin typeface="Arial"/>
              </a:rPr>
              <a:t> al</a:t>
            </a:r>
            <a:r>
              <a:rPr lang="en-US" sz="2000" b="0" strike="noStrike" spc="-1" dirty="0" smtClean="0">
                <a:solidFill>
                  <a:srgbClr val="000000"/>
                </a:solidFill>
                <a:latin typeface="Arial"/>
              </a:rPr>
              <a:t> </a:t>
            </a:r>
            <a:r>
              <a:rPr lang="en-US" sz="2000" b="0" strike="noStrike" spc="-1" dirty="0" err="1">
                <a:solidFill>
                  <a:srgbClr val="000000"/>
                </a:solidFill>
                <a:latin typeface="Arial"/>
              </a:rPr>
              <a:t>nuevo</a:t>
            </a:r>
            <a:r>
              <a:rPr lang="en-US" sz="2000" b="0" strike="noStrike" spc="-1" dirty="0">
                <a:solidFill>
                  <a:srgbClr val="000000"/>
                </a:solidFill>
                <a:latin typeface="Arial"/>
              </a:rPr>
              <a:t>. </a:t>
            </a:r>
            <a:r>
              <a:rPr lang="en-US" sz="2000" b="0" strike="noStrike" spc="-1" dirty="0" err="1">
                <a:solidFill>
                  <a:srgbClr val="000000"/>
                </a:solidFill>
                <a:latin typeface="Arial"/>
              </a:rPr>
              <a:t>Por</a:t>
            </a:r>
            <a:r>
              <a:rPr lang="en-US" sz="2000" b="0" strike="noStrike" spc="-1" dirty="0">
                <a:solidFill>
                  <a:srgbClr val="000000"/>
                </a:solidFill>
                <a:latin typeface="Arial"/>
              </a:rPr>
              <a:t> </a:t>
            </a:r>
            <a:r>
              <a:rPr lang="en-US" sz="2000" b="0" strike="noStrike" spc="-1" dirty="0" err="1" smtClean="0">
                <a:solidFill>
                  <a:srgbClr val="000000"/>
                </a:solidFill>
                <a:latin typeface="Arial"/>
              </a:rPr>
              <a:t>esto</a:t>
            </a:r>
            <a:r>
              <a:rPr lang="en-US" sz="2000" b="0" strike="noStrike" spc="-1" dirty="0" smtClean="0">
                <a:solidFill>
                  <a:srgbClr val="000000"/>
                </a:solidFill>
                <a:latin typeface="Arial"/>
              </a:rPr>
              <a:t> </a:t>
            </a:r>
            <a:r>
              <a:rPr lang="en-US" sz="2000" b="0" strike="noStrike" spc="-1" dirty="0">
                <a:solidFill>
                  <a:srgbClr val="000000"/>
                </a:solidFill>
                <a:latin typeface="Arial"/>
              </a:rPr>
              <a:t>la </a:t>
            </a:r>
            <a:r>
              <a:rPr lang="en-US" sz="2000" b="0" strike="noStrike" spc="-1" dirty="0" err="1">
                <a:solidFill>
                  <a:srgbClr val="000000"/>
                </a:solidFill>
                <a:latin typeface="Arial"/>
              </a:rPr>
              <a:t>lista</a:t>
            </a:r>
            <a:r>
              <a:rPr lang="en-US" sz="2000" b="0" strike="noStrike" spc="-1" dirty="0">
                <a:solidFill>
                  <a:srgbClr val="000000"/>
                </a:solidFill>
                <a:latin typeface="Arial"/>
              </a:rPr>
              <a:t> </a:t>
            </a:r>
            <a:r>
              <a:rPr lang="en-US" sz="2000" b="0" strike="noStrike" spc="-1" dirty="0" err="1">
                <a:solidFill>
                  <a:srgbClr val="000000"/>
                </a:solidFill>
                <a:latin typeface="Arial"/>
              </a:rPr>
              <a:t>crece</a:t>
            </a:r>
            <a:r>
              <a:rPr lang="en-US" sz="2000" b="0" strike="noStrike" spc="-1" dirty="0">
                <a:solidFill>
                  <a:srgbClr val="000000"/>
                </a:solidFill>
                <a:latin typeface="Arial"/>
              </a:rPr>
              <a:t> de 10 </a:t>
            </a:r>
            <a:r>
              <a:rPr lang="en-US" sz="2000" b="0" strike="noStrike" spc="-1" dirty="0" err="1">
                <a:solidFill>
                  <a:srgbClr val="000000"/>
                </a:solidFill>
                <a:latin typeface="Arial"/>
              </a:rPr>
              <a:t>en</a:t>
            </a:r>
            <a:r>
              <a:rPr lang="en-US" sz="2000" b="0" strike="noStrike" spc="-1" dirty="0">
                <a:solidFill>
                  <a:srgbClr val="000000"/>
                </a:solidFill>
                <a:latin typeface="Arial"/>
              </a:rPr>
              <a:t> 10. </a:t>
            </a:r>
            <a:r>
              <a:rPr lang="en-US" sz="2000" b="0" strike="noStrike" spc="-1" dirty="0" err="1">
                <a:solidFill>
                  <a:srgbClr val="000000"/>
                </a:solidFill>
                <a:latin typeface="Arial"/>
              </a:rPr>
              <a:t>Dato</a:t>
            </a:r>
            <a:r>
              <a:rPr lang="en-US" sz="2000" b="0" strike="noStrike" spc="-1" dirty="0">
                <a:solidFill>
                  <a:srgbClr val="000000"/>
                </a:solidFill>
                <a:latin typeface="Arial"/>
              </a:rPr>
              <a:t> </a:t>
            </a:r>
            <a:r>
              <a:rPr lang="en-US" sz="2000" b="0" strike="noStrike" spc="-1" dirty="0" err="1">
                <a:solidFill>
                  <a:srgbClr val="000000"/>
                </a:solidFill>
                <a:latin typeface="Arial"/>
              </a:rPr>
              <a:t>técnico</a:t>
            </a:r>
            <a:r>
              <a:rPr lang="en-US" sz="2000" b="0" strike="noStrike" spc="-1" dirty="0">
                <a:solidFill>
                  <a:srgbClr val="000000"/>
                </a:solidFill>
                <a:latin typeface="Arial"/>
              </a:rPr>
              <a:t>: items </a:t>
            </a:r>
            <a:r>
              <a:rPr lang="en-US" sz="2000" b="0" strike="noStrike" spc="-1" dirty="0" err="1">
                <a:solidFill>
                  <a:srgbClr val="000000"/>
                </a:solidFill>
                <a:latin typeface="Arial"/>
              </a:rPr>
              <a:t>es</a:t>
            </a:r>
            <a:r>
              <a:rPr lang="en-US" sz="2000" b="0" strike="noStrike" spc="-1" dirty="0">
                <a:solidFill>
                  <a:srgbClr val="000000"/>
                </a:solidFill>
                <a:latin typeface="Arial"/>
              </a:rPr>
              <a:t> un Object[] </a:t>
            </a:r>
            <a:r>
              <a:rPr lang="en-US" sz="2000" b="0" strike="noStrike" spc="-1" dirty="0" err="1">
                <a:solidFill>
                  <a:srgbClr val="000000"/>
                </a:solidFill>
                <a:latin typeface="Arial"/>
              </a:rPr>
              <a:t>porque</a:t>
            </a:r>
            <a:r>
              <a:rPr lang="en-US" sz="2000" b="0" strike="noStrike" spc="-1" dirty="0">
                <a:solidFill>
                  <a:srgbClr val="000000"/>
                </a:solidFill>
                <a:latin typeface="Arial"/>
              </a:rPr>
              <a:t> Java no </a:t>
            </a:r>
            <a:r>
              <a:rPr lang="en-US" sz="2000" b="0" strike="noStrike" spc="-1" dirty="0" err="1">
                <a:solidFill>
                  <a:srgbClr val="000000"/>
                </a:solidFill>
                <a:latin typeface="Arial"/>
              </a:rPr>
              <a:t>deja</a:t>
            </a:r>
            <a:r>
              <a:rPr lang="en-US" sz="2000" b="0" strike="noStrike" spc="-1" dirty="0">
                <a:solidFill>
                  <a:srgbClr val="000000"/>
                </a:solidFill>
                <a:latin typeface="Arial"/>
              </a:rPr>
              <a:t> </a:t>
            </a:r>
            <a:r>
              <a:rPr lang="en-US" sz="2000" b="0" strike="noStrike" spc="-1" dirty="0" err="1">
                <a:solidFill>
                  <a:srgbClr val="000000"/>
                </a:solidFill>
                <a:latin typeface="Arial"/>
              </a:rPr>
              <a:t>crear</a:t>
            </a:r>
            <a:r>
              <a:rPr lang="en-US" sz="2000" b="0" strike="noStrike" spc="-1" dirty="0">
                <a:solidFill>
                  <a:srgbClr val="000000"/>
                </a:solidFill>
                <a:latin typeface="Arial"/>
              </a:rPr>
              <a:t> un </a:t>
            </a:r>
            <a:r>
              <a:rPr lang="en-US" sz="2000" b="0" strike="noStrike" spc="-1" dirty="0" err="1">
                <a:solidFill>
                  <a:srgbClr val="000000"/>
                </a:solidFill>
                <a:latin typeface="Arial"/>
              </a:rPr>
              <a:t>arreglo</a:t>
            </a:r>
            <a:r>
              <a:rPr lang="en-US" sz="2000" b="0" strike="noStrike" spc="-1" dirty="0">
                <a:solidFill>
                  <a:srgbClr val="000000"/>
                </a:solidFill>
                <a:latin typeface="Arial"/>
              </a:rPr>
              <a:t> </a:t>
            </a:r>
            <a:r>
              <a:rPr lang="en-US" sz="2000" b="0" strike="noStrike" spc="-1" dirty="0" err="1">
                <a:solidFill>
                  <a:srgbClr val="000000"/>
                </a:solidFill>
                <a:latin typeface="Arial"/>
              </a:rPr>
              <a:t>genérico</a:t>
            </a:r>
            <a:r>
              <a:rPr lang="en-US" sz="2000" b="0" strike="noStrike" spc="-1" dirty="0">
                <a:solidFill>
                  <a:srgbClr val="000000"/>
                </a:solidFill>
                <a:latin typeface="Arial"/>
              </a:rPr>
              <a:t> con new E[n].</a:t>
            </a:r>
          </a:p>
        </p:txBody>
      </p:sp>
      <p:sp>
        <p:nvSpPr>
          <p:cNvPr id="721"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898406EA-EA90-44C6-BD6F-1387A0179AFF}" type="slidenum">
              <a:rPr lang="en-US" sz="1200" b="0" strike="noStrike" spc="-1">
                <a:solidFill>
                  <a:schemeClr val="dk1"/>
                </a:solidFill>
                <a:latin typeface="+mn-lt"/>
                <a:ea typeface="+mn-ea"/>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noRot="1" noChangeAspect="1"/>
          </p:cNvSpPr>
          <p:nvPr>
            <p:ph type="sldImg"/>
          </p:nvPr>
        </p:nvSpPr>
        <p:spPr>
          <a:xfrm>
            <a:off x="685800" y="1143000"/>
            <a:ext cx="5486040" cy="3085920"/>
          </a:xfrm>
          <a:prstGeom prst="rect">
            <a:avLst/>
          </a:prstGeom>
          <a:ln w="0">
            <a:noFill/>
          </a:ln>
        </p:spPr>
      </p:sp>
      <p:sp>
        <p:nvSpPr>
          <p:cNvPr id="7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marR="0" indent="0" algn="l" defTabSz="914400" rtl="0" eaLnBrk="1" fontAlgn="auto" latinLnBrk="0" hangingPunct="1">
              <a:lnSpc>
                <a:spcPct val="100000"/>
              </a:lnSpc>
              <a:spcBef>
                <a:spcPts val="0"/>
              </a:spcBef>
              <a:spcAft>
                <a:spcPts val="0"/>
              </a:spcAft>
              <a:buClrTx/>
              <a:buSzTx/>
              <a:buFontTx/>
              <a:buNone/>
              <a:tabLst>
                <a:tab pos="0" algn="l"/>
              </a:tabLst>
              <a:defRPr/>
            </a:pPr>
            <a:r>
              <a:rPr lang="es-ES" sz="1200" b="0" kern="1200" dirty="0" smtClean="0">
                <a:solidFill>
                  <a:schemeClr val="tx1"/>
                </a:solidFill>
                <a:effectLst/>
                <a:latin typeface="+mn-lt"/>
                <a:ea typeface="+mn-ea"/>
                <a:cs typeface="+mn-cs"/>
              </a:rPr>
              <a:t>Esta es la clase principal del sistema, la que contiene toda la lógica del</a:t>
            </a:r>
            <a:r>
              <a:rPr lang="es-ES" sz="1200" b="0" kern="1200" baseline="0" dirty="0" smtClean="0">
                <a:solidFill>
                  <a:schemeClr val="tx1"/>
                </a:solidFill>
                <a:effectLst/>
                <a:latin typeface="+mn-lt"/>
                <a:ea typeface="+mn-ea"/>
                <a:cs typeface="+mn-cs"/>
              </a:rPr>
              <a:t> programa, d</a:t>
            </a:r>
            <a:r>
              <a:rPr lang="es-ES" sz="1200" b="0" kern="1200" dirty="0" smtClean="0">
                <a:solidFill>
                  <a:schemeClr val="tx1"/>
                </a:solidFill>
                <a:effectLst/>
                <a:latin typeface="+mn-lt"/>
                <a:ea typeface="+mn-ea"/>
                <a:cs typeface="+mn-cs"/>
              </a:rPr>
              <a:t>entro de ella se guarda un catálogo de productos, que no es más que una lista dinámica (implementada en otra clase) que almacena objetos de tipo `Producto`.</a:t>
            </a:r>
            <a:r>
              <a:rPr lang="es-ES" sz="1200" b="0" kern="1200" baseline="0" dirty="0" smtClean="0">
                <a:solidFill>
                  <a:schemeClr val="tx1"/>
                </a:solidFill>
                <a:effectLst/>
                <a:latin typeface="+mn-lt"/>
                <a:ea typeface="+mn-ea"/>
                <a:cs typeface="+mn-cs"/>
              </a:rPr>
              <a:t> Esta clase </a:t>
            </a:r>
            <a:r>
              <a:rPr lang="es-ES" sz="1200" b="0" kern="1200" baseline="0" dirty="0" err="1" smtClean="0">
                <a:solidFill>
                  <a:schemeClr val="tx1"/>
                </a:solidFill>
                <a:effectLst/>
                <a:latin typeface="+mn-lt"/>
                <a:ea typeface="+mn-ea"/>
                <a:cs typeface="+mn-cs"/>
              </a:rPr>
              <a:t>cont</a:t>
            </a:r>
            <a:r>
              <a:rPr lang="en-US" sz="2000" b="0" strike="noStrike" spc="-1" dirty="0" err="1" smtClean="0">
                <a:solidFill>
                  <a:srgbClr val="000000"/>
                </a:solidFill>
                <a:latin typeface="Arial"/>
              </a:rPr>
              <a:t>iene</a:t>
            </a:r>
            <a:r>
              <a:rPr lang="en-US" sz="2000" b="0" strike="noStrike" spc="-1" dirty="0" smtClean="0">
                <a:solidFill>
                  <a:srgbClr val="000000"/>
                </a:solidFill>
                <a:latin typeface="Arial"/>
              </a:rPr>
              <a:t> </a:t>
            </a:r>
            <a:r>
              <a:rPr lang="en-US" sz="2000" b="0" strike="noStrike" spc="-1" dirty="0">
                <a:solidFill>
                  <a:srgbClr val="000000"/>
                </a:solidFill>
                <a:latin typeface="Arial"/>
              </a:rPr>
              <a:t>las </a:t>
            </a:r>
            <a:r>
              <a:rPr lang="en-US" sz="2000" b="0" strike="noStrike" spc="-1" dirty="0" err="1">
                <a:solidFill>
                  <a:srgbClr val="000000"/>
                </a:solidFill>
                <a:latin typeface="Arial"/>
              </a:rPr>
              <a:t>cinco</a:t>
            </a:r>
            <a:r>
              <a:rPr lang="en-US" sz="2000" b="0" strike="noStrike" spc="-1" dirty="0">
                <a:solidFill>
                  <a:srgbClr val="000000"/>
                </a:solidFill>
                <a:latin typeface="Arial"/>
              </a:rPr>
              <a:t> </a:t>
            </a:r>
            <a:r>
              <a:rPr lang="en-US" sz="2000" b="0" strike="noStrike" spc="-1" dirty="0" err="1" smtClean="0">
                <a:solidFill>
                  <a:srgbClr val="000000"/>
                </a:solidFill>
                <a:latin typeface="Arial"/>
              </a:rPr>
              <a:t>funcionalidades</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principales</a:t>
            </a:r>
            <a:r>
              <a:rPr lang="en-US" sz="2000" b="0" strike="noStrike" spc="-1" dirty="0" smtClean="0">
                <a:solidFill>
                  <a:srgbClr val="000000"/>
                </a:solidFill>
                <a:latin typeface="Arial"/>
              </a:rPr>
              <a:t> del </a:t>
            </a:r>
            <a:r>
              <a:rPr lang="en-US" sz="2000" b="0" strike="noStrike" spc="-1" dirty="0" err="1" smtClean="0">
                <a:solidFill>
                  <a:srgbClr val="000000"/>
                </a:solidFill>
                <a:latin typeface="Arial"/>
              </a:rPr>
              <a:t>progrma</a:t>
            </a:r>
            <a:r>
              <a:rPr lang="en-US" sz="2000" b="0" strike="noStrike" spc="-1" dirty="0" smtClean="0">
                <a:solidFill>
                  <a:srgbClr val="000000"/>
                </a:solidFill>
                <a:latin typeface="Arial"/>
              </a:rPr>
              <a:t> </a:t>
            </a:r>
            <a:r>
              <a:rPr lang="en-US" sz="2000" b="0" strike="noStrike" spc="-1" dirty="0">
                <a:solidFill>
                  <a:srgbClr val="000000"/>
                </a:solidFill>
                <a:latin typeface="Arial"/>
              </a:rPr>
              <a:t>y </a:t>
            </a:r>
            <a:r>
              <a:rPr lang="en-US" sz="2000" b="0" strike="noStrike" spc="-1" dirty="0" err="1" smtClean="0">
                <a:solidFill>
                  <a:srgbClr val="000000"/>
                </a:solidFill>
                <a:latin typeface="Arial"/>
              </a:rPr>
              <a:t>los</a:t>
            </a:r>
            <a:r>
              <a:rPr lang="en-US" sz="2000" b="0" strike="noStrike" spc="-1" dirty="0" smtClean="0">
                <a:solidFill>
                  <a:srgbClr val="000000"/>
                </a:solidFill>
                <a:latin typeface="Arial"/>
              </a:rPr>
              <a:t> </a:t>
            </a:r>
            <a:r>
              <a:rPr lang="en-US" sz="2000" b="0" strike="noStrike" spc="-1" dirty="0" err="1" smtClean="0">
                <a:solidFill>
                  <a:srgbClr val="000000"/>
                </a:solidFill>
                <a:latin typeface="Arial"/>
              </a:rPr>
              <a:t>métodos</a:t>
            </a:r>
            <a:r>
              <a:rPr lang="en-US" sz="2000" b="0" strike="noStrike" spc="-1" dirty="0" smtClean="0">
                <a:solidFill>
                  <a:srgbClr val="000000"/>
                </a:solidFill>
                <a:latin typeface="Arial"/>
              </a:rPr>
              <a:t> </a:t>
            </a:r>
            <a:r>
              <a:rPr lang="en-US" sz="2000" b="0" strike="noStrike" spc="-1" dirty="0">
                <a:solidFill>
                  <a:srgbClr val="000000"/>
                </a:solidFill>
                <a:latin typeface="Arial"/>
              </a:rPr>
              <a:t>de </a:t>
            </a:r>
            <a:r>
              <a:rPr lang="en-US" sz="2000" b="0" strike="noStrike" spc="-1" dirty="0" err="1">
                <a:solidFill>
                  <a:srgbClr val="000000"/>
                </a:solidFill>
                <a:latin typeface="Arial"/>
              </a:rPr>
              <a:t>apoyo</a:t>
            </a:r>
            <a:r>
              <a:rPr lang="en-US" sz="2000" b="0" strike="noStrike" spc="-1" dirty="0">
                <a:solidFill>
                  <a:srgbClr val="000000"/>
                </a:solidFill>
                <a:latin typeface="Arial"/>
              </a:rPr>
              <a:t>: </a:t>
            </a:r>
            <a:r>
              <a:rPr lang="en-US" sz="2000" b="0" strike="noStrike" spc="-1" dirty="0" err="1">
                <a:solidFill>
                  <a:srgbClr val="000000"/>
                </a:solidFill>
                <a:latin typeface="Arial"/>
              </a:rPr>
              <a:t>buscarPorId</a:t>
            </a:r>
            <a:r>
              <a:rPr lang="en-US" sz="2000" b="0" strike="noStrike" spc="-1" dirty="0">
                <a:solidFill>
                  <a:srgbClr val="000000"/>
                </a:solidFill>
                <a:latin typeface="Arial"/>
              </a:rPr>
              <a:t>, </a:t>
            </a:r>
            <a:r>
              <a:rPr lang="en-US" sz="2000" b="0" strike="noStrike" spc="-1" dirty="0" err="1">
                <a:solidFill>
                  <a:srgbClr val="000000"/>
                </a:solidFill>
                <a:latin typeface="Arial"/>
              </a:rPr>
              <a:t>mostrarProductos</a:t>
            </a:r>
            <a:r>
              <a:rPr lang="en-US" sz="2000" b="0" strike="noStrike" spc="-1" dirty="0">
                <a:solidFill>
                  <a:srgbClr val="000000"/>
                </a:solidFill>
                <a:latin typeface="Arial"/>
              </a:rPr>
              <a:t>, </a:t>
            </a:r>
            <a:r>
              <a:rPr lang="en-US" sz="2000" b="0" strike="noStrike" spc="-1" dirty="0" err="1">
                <a:solidFill>
                  <a:srgbClr val="000000"/>
                </a:solidFill>
                <a:latin typeface="Arial"/>
              </a:rPr>
              <a:t>agregar</a:t>
            </a:r>
            <a:r>
              <a:rPr lang="en-US" sz="2000" b="0" strike="noStrike" spc="-1" dirty="0">
                <a:solidFill>
                  <a:srgbClr val="000000"/>
                </a:solidFill>
                <a:latin typeface="Arial"/>
              </a:rPr>
              <a:t>, </a:t>
            </a:r>
            <a:r>
              <a:rPr lang="en-US" sz="2000" b="0" strike="noStrike" spc="-1" dirty="0" err="1">
                <a:solidFill>
                  <a:srgbClr val="000000"/>
                </a:solidFill>
                <a:latin typeface="Arial"/>
              </a:rPr>
              <a:t>agregarPedir</a:t>
            </a:r>
            <a:r>
              <a:rPr lang="en-US" sz="2000" b="0" strike="noStrike" spc="-1" dirty="0">
                <a:solidFill>
                  <a:srgbClr val="000000"/>
                </a:solidFill>
                <a:latin typeface="Arial"/>
              </a:rPr>
              <a:t> y </a:t>
            </a:r>
            <a:r>
              <a:rPr lang="en-US" sz="2000" b="0" strike="noStrike" spc="-1" dirty="0" smtClean="0">
                <a:solidFill>
                  <a:srgbClr val="000000"/>
                </a:solidFill>
                <a:latin typeface="Arial"/>
              </a:rPr>
              <a:t>las </a:t>
            </a:r>
            <a:r>
              <a:rPr lang="en-US" sz="2000" b="0" strike="noStrike" spc="-1" dirty="0" err="1" smtClean="0">
                <a:solidFill>
                  <a:srgbClr val="000000"/>
                </a:solidFill>
                <a:latin typeface="Arial"/>
              </a:rPr>
              <a:t>validaciones</a:t>
            </a:r>
            <a:r>
              <a:rPr lang="en-US" sz="2000" b="0" strike="noStrike" spc="-1" dirty="0" smtClean="0">
                <a:solidFill>
                  <a:srgbClr val="000000"/>
                </a:solidFill>
                <a:latin typeface="Arial"/>
              </a:rPr>
              <a:t>. </a:t>
            </a:r>
            <a:r>
              <a:rPr lang="en-US" sz="2000" b="0" strike="noStrike" spc="-1" dirty="0" err="1">
                <a:solidFill>
                  <a:srgbClr val="000000"/>
                </a:solidFill>
                <a:latin typeface="Arial"/>
              </a:rPr>
              <a:t>Todas</a:t>
            </a:r>
            <a:r>
              <a:rPr lang="en-US" sz="2000" b="0" strike="noStrike" spc="-1" dirty="0">
                <a:solidFill>
                  <a:srgbClr val="000000"/>
                </a:solidFill>
                <a:latin typeface="Arial"/>
              </a:rPr>
              <a:t> las </a:t>
            </a:r>
            <a:r>
              <a:rPr lang="en-US" sz="2000" b="0" strike="noStrike" spc="-1" dirty="0" err="1">
                <a:solidFill>
                  <a:srgbClr val="000000"/>
                </a:solidFill>
                <a:latin typeface="Arial"/>
              </a:rPr>
              <a:t>funcionalidades</a:t>
            </a:r>
            <a:r>
              <a:rPr lang="en-US" sz="2000" b="0" strike="noStrike" spc="-1" dirty="0">
                <a:solidFill>
                  <a:srgbClr val="000000"/>
                </a:solidFill>
                <a:latin typeface="Arial"/>
              </a:rPr>
              <a:t> </a:t>
            </a:r>
            <a:r>
              <a:rPr lang="en-US" sz="2000" b="0" strike="noStrike" spc="-1" dirty="0" err="1">
                <a:solidFill>
                  <a:srgbClr val="000000"/>
                </a:solidFill>
                <a:latin typeface="Arial"/>
              </a:rPr>
              <a:t>siguen</a:t>
            </a:r>
            <a:r>
              <a:rPr lang="en-US" sz="2000" b="0" strike="noStrike" spc="-1" dirty="0">
                <a:solidFill>
                  <a:srgbClr val="000000"/>
                </a:solidFill>
                <a:latin typeface="Arial"/>
              </a:rPr>
              <a:t> el </a:t>
            </a:r>
            <a:r>
              <a:rPr lang="en-US" sz="2000" b="0" strike="noStrike" spc="-1" dirty="0" err="1">
                <a:solidFill>
                  <a:srgbClr val="000000"/>
                </a:solidFill>
                <a:latin typeface="Arial"/>
              </a:rPr>
              <a:t>mismo</a:t>
            </a:r>
            <a:r>
              <a:rPr lang="en-US" sz="2000" b="0" strike="noStrike" spc="-1" dirty="0">
                <a:solidFill>
                  <a:srgbClr val="000000"/>
                </a:solidFill>
                <a:latin typeface="Arial"/>
              </a:rPr>
              <a:t> </a:t>
            </a:r>
            <a:r>
              <a:rPr lang="en-US" sz="2000" b="0" strike="noStrike" spc="-1" dirty="0" err="1">
                <a:solidFill>
                  <a:srgbClr val="000000"/>
                </a:solidFill>
                <a:latin typeface="Arial"/>
              </a:rPr>
              <a:t>camino</a:t>
            </a:r>
            <a:r>
              <a:rPr lang="en-US" sz="2000" b="0" strike="noStrike" spc="-1" dirty="0">
                <a:solidFill>
                  <a:srgbClr val="000000"/>
                </a:solidFill>
                <a:latin typeface="Arial"/>
              </a:rPr>
              <a:t>: </a:t>
            </a:r>
            <a:r>
              <a:rPr lang="en-US" sz="2000" b="0" strike="noStrike" spc="-1" dirty="0" err="1">
                <a:solidFill>
                  <a:srgbClr val="000000"/>
                </a:solidFill>
                <a:latin typeface="Arial"/>
              </a:rPr>
              <a:t>validan</a:t>
            </a:r>
            <a:r>
              <a:rPr lang="en-US" sz="2000" b="0" strike="noStrike" spc="-1" dirty="0">
                <a:solidFill>
                  <a:srgbClr val="000000"/>
                </a:solidFill>
                <a:latin typeface="Arial"/>
              </a:rPr>
              <a:t>, </a:t>
            </a:r>
            <a:r>
              <a:rPr lang="en-US" sz="2000" b="0" strike="noStrike" spc="-1" dirty="0" err="1">
                <a:solidFill>
                  <a:srgbClr val="000000"/>
                </a:solidFill>
                <a:latin typeface="Arial"/>
              </a:rPr>
              <a:t>recorren</a:t>
            </a:r>
            <a:r>
              <a:rPr lang="en-US" sz="2000" b="0" strike="noStrike" spc="-1" dirty="0">
                <a:solidFill>
                  <a:srgbClr val="000000"/>
                </a:solidFill>
                <a:latin typeface="Arial"/>
              </a:rPr>
              <a:t> la </a:t>
            </a:r>
            <a:r>
              <a:rPr lang="en-US" sz="2000" b="0" strike="noStrike" spc="-1" dirty="0" err="1">
                <a:solidFill>
                  <a:srgbClr val="000000"/>
                </a:solidFill>
                <a:latin typeface="Arial"/>
              </a:rPr>
              <a:t>lista</a:t>
            </a:r>
            <a:r>
              <a:rPr lang="en-US" sz="2000" b="0" strike="noStrike" spc="-1" dirty="0">
                <a:solidFill>
                  <a:srgbClr val="000000"/>
                </a:solidFill>
                <a:latin typeface="Arial"/>
              </a:rPr>
              <a:t> </a:t>
            </a:r>
            <a:r>
              <a:rPr lang="en-US" sz="2000" b="0" strike="noStrike" spc="-1" dirty="0" err="1">
                <a:solidFill>
                  <a:srgbClr val="000000"/>
                </a:solidFill>
                <a:latin typeface="Arial"/>
              </a:rPr>
              <a:t>producto</a:t>
            </a:r>
            <a:r>
              <a:rPr lang="en-US" sz="2000" b="0" strike="noStrike" spc="-1" dirty="0">
                <a:solidFill>
                  <a:srgbClr val="000000"/>
                </a:solidFill>
                <a:latin typeface="Arial"/>
              </a:rPr>
              <a:t> </a:t>
            </a:r>
            <a:r>
              <a:rPr lang="en-US" sz="2000" b="0" strike="noStrike" spc="-1" dirty="0" err="1">
                <a:solidFill>
                  <a:srgbClr val="000000"/>
                </a:solidFill>
                <a:latin typeface="Arial"/>
              </a:rPr>
              <a:t>por</a:t>
            </a:r>
            <a:r>
              <a:rPr lang="en-US" sz="2000" b="0" strike="noStrike" spc="-1" dirty="0">
                <a:solidFill>
                  <a:srgbClr val="000000"/>
                </a:solidFill>
                <a:latin typeface="Arial"/>
              </a:rPr>
              <a:t> </a:t>
            </a:r>
            <a:r>
              <a:rPr lang="en-US" sz="2000" b="0" strike="noStrike" spc="-1" dirty="0" err="1">
                <a:solidFill>
                  <a:srgbClr val="000000"/>
                </a:solidFill>
                <a:latin typeface="Arial"/>
              </a:rPr>
              <a:t>producto</a:t>
            </a:r>
            <a:r>
              <a:rPr lang="en-US" sz="2000" b="0" strike="noStrike" spc="-1" dirty="0">
                <a:solidFill>
                  <a:srgbClr val="000000"/>
                </a:solidFill>
                <a:latin typeface="Arial"/>
              </a:rPr>
              <a:t> y </a:t>
            </a:r>
            <a:r>
              <a:rPr lang="en-US" sz="2000" b="0" strike="noStrike" spc="-1" dirty="0" err="1">
                <a:solidFill>
                  <a:srgbClr val="000000"/>
                </a:solidFill>
                <a:latin typeface="Arial"/>
              </a:rPr>
              <a:t>muestran</a:t>
            </a:r>
            <a:r>
              <a:rPr lang="en-US" sz="2000" b="0" strike="noStrike" spc="-1" dirty="0">
                <a:solidFill>
                  <a:srgbClr val="000000"/>
                </a:solidFill>
                <a:latin typeface="Arial"/>
              </a:rPr>
              <a:t> el </a:t>
            </a:r>
            <a:r>
              <a:rPr lang="en-US" sz="2000" b="0" strike="noStrike" spc="-1" dirty="0" err="1">
                <a:solidFill>
                  <a:srgbClr val="000000"/>
                </a:solidFill>
                <a:latin typeface="Arial"/>
              </a:rPr>
              <a:t>resultado</a:t>
            </a:r>
            <a:r>
              <a:rPr lang="en-US" sz="2000" b="0" strike="noStrike" spc="-1" dirty="0">
                <a:solidFill>
                  <a:srgbClr val="000000"/>
                </a:solidFill>
                <a:latin typeface="Arial"/>
              </a:rPr>
              <a:t> o un ERROR</a:t>
            </a:r>
            <a:r>
              <a:rPr lang="en-US" sz="2000" b="0" strike="noStrike" spc="-1" dirty="0" smtClean="0">
                <a:solidFill>
                  <a:srgbClr val="000000"/>
                </a:solidFill>
                <a:latin typeface="Arial"/>
              </a:rPr>
              <a:t>.</a:t>
            </a:r>
            <a:endParaRPr lang="en-US" sz="2000" b="0" strike="noStrike" spc="-1" dirty="0">
              <a:solidFill>
                <a:srgbClr val="000000"/>
              </a:solidFill>
              <a:latin typeface="Arial"/>
            </a:endParaRPr>
          </a:p>
        </p:txBody>
      </p:sp>
      <p:sp>
        <p:nvSpPr>
          <p:cNvPr id="724"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A696232D-EB11-48A6-8D3B-01D517F8BC54}" type="slidenum">
              <a:rPr lang="en-US" sz="1200" b="0" strike="noStrike" spc="-1">
                <a:solidFill>
                  <a:schemeClr val="dk1"/>
                </a:solidFill>
                <a:latin typeface="+mn-lt"/>
                <a:ea typeface="+mn-ea"/>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5" name="PlaceHolder 1"/>
          <p:cNvSpPr>
            <a:spLocks noGrp="1" noRot="1" noChangeAspect="1"/>
          </p:cNvSpPr>
          <p:nvPr>
            <p:ph type="sldImg"/>
          </p:nvPr>
        </p:nvSpPr>
        <p:spPr>
          <a:xfrm>
            <a:off x="685800" y="1143000"/>
            <a:ext cx="5486040" cy="3085920"/>
          </a:xfrm>
          <a:prstGeom prst="rect">
            <a:avLst/>
          </a:prstGeom>
          <a:ln w="0">
            <a:noFill/>
          </a:ln>
        </p:spPr>
      </p:sp>
      <p:sp>
        <p:nvSpPr>
          <p:cNvPr id="7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Recibe un precio mínimo y uno máximo y muestra los nombres de los productos dentro del rango, incluyendo los extremos. Primero valida que haya productos y que el mínimo no sea mayor que el máximo. Recorre la lista y guarda los nombres en otra ArrayList, la muestra también. De 50 a 200 entran el Teclado y el Monitor.</a:t>
            </a:r>
          </a:p>
        </p:txBody>
      </p:sp>
      <p:sp>
        <p:nvSpPr>
          <p:cNvPr id="727"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D49B726D-F0B7-49DD-8273-76FE3785CDF8}" type="slidenum">
              <a:rPr lang="en-US" sz="1200" b="0" strike="noStrike" spc="-1">
                <a:solidFill>
                  <a:schemeClr val="dk1"/>
                </a:solidFill>
                <a:latin typeface="+mn-lt"/>
                <a:ea typeface="+mn-ea"/>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 name="PlaceHolder 1"/>
          <p:cNvSpPr>
            <a:spLocks noGrp="1" noRot="1" noChangeAspect="1"/>
          </p:cNvSpPr>
          <p:nvPr>
            <p:ph type="sldImg"/>
          </p:nvPr>
        </p:nvSpPr>
        <p:spPr>
          <a:xfrm>
            <a:off x="685800" y="1143000"/>
            <a:ext cx="5486040" cy="3085920"/>
          </a:xfrm>
          <a:prstGeom prst="rect">
            <a:avLst/>
          </a:prstGeom>
          <a:ln w="0">
            <a:noFill/>
          </a:ln>
        </p:spPr>
      </p:sp>
      <p:sp>
        <p:nvSpPr>
          <p:cNvPr id="7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Baja el precio a todos los productos de una marca. Compara la marca sin importar mayúsculas y calcula el precio nuevo con precio por uno menos porcentaje entre cien. Con 10 por ciento a ASUS, la laptop pasa de 1200 a 1080 y el teclado de 80 a 72. Cuenta cuántos modificó, en este caso 2. Avisa con ERROR si no hay productos, si el porcentaje no está entre 0 y 100 o si no hay productos de esa marca.</a:t>
            </a:r>
          </a:p>
        </p:txBody>
      </p:sp>
      <p:sp>
        <p:nvSpPr>
          <p:cNvPr id="730"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1643BB6A-A446-4E79-806A-D1D4D2C6B923}" type="slidenum">
              <a:rPr lang="en-US" sz="1200" b="0" strike="noStrike" spc="-1">
                <a:solidFill>
                  <a:schemeClr val="dk1"/>
                </a:solidFill>
                <a:latin typeface="+mn-lt"/>
                <a:ea typeface="+mn-ea"/>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noRot="1" noChangeAspect="1"/>
          </p:cNvSpPr>
          <p:nvPr>
            <p:ph type="sldImg"/>
          </p:nvPr>
        </p:nvSpPr>
        <p:spPr>
          <a:xfrm>
            <a:off x="685800" y="1143000"/>
            <a:ext cx="5486040" cy="3085920"/>
          </a:xfrm>
          <a:prstGeom prst="rect">
            <a:avLst/>
          </a:prstGeom>
          <a:ln w="0">
            <a:noFill/>
          </a:ln>
        </p:spPr>
      </p:sp>
      <p:sp>
        <p:nvSpPr>
          <p:cNvPr id="7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Tomamos el primer producto como candidato y lo comparamos con los demás. Si aparece uno con precio menor, pasa a ser el candidato. Con los precios ya rebajados, la laptop empieza como candidata, el mouse con 25 le gana y ni el teclado ni el monitor lo superan. Si hay empate se queda el primero, porque solo cambiamos si es estrictamente menor.</a:t>
            </a:r>
          </a:p>
        </p:txBody>
      </p:sp>
      <p:sp>
        <p:nvSpPr>
          <p:cNvPr id="733"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73939003-AC4D-447E-B87A-2AD4026DC839}" type="slidenum">
              <a:rPr lang="en-US" sz="1200" b="0" strike="noStrike" spc="-1">
                <a:solidFill>
                  <a:schemeClr val="dk1"/>
                </a:solidFill>
                <a:latin typeface="+mn-lt"/>
                <a:ea typeface="+mn-ea"/>
              </a:rPr>
              <a:t>11</a:t>
            </a:fld>
            <a:endParaRPr lang="en-US"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 name="PlaceHolder 1"/>
          <p:cNvSpPr>
            <a:spLocks noGrp="1" noRot="1" noChangeAspect="1"/>
          </p:cNvSpPr>
          <p:nvPr>
            <p:ph type="sldImg"/>
          </p:nvPr>
        </p:nvSpPr>
        <p:spPr>
          <a:xfrm>
            <a:off x="685800" y="1143000"/>
            <a:ext cx="5486040" cy="3085920"/>
          </a:xfrm>
          <a:prstGeom prst="rect">
            <a:avLst/>
          </a:prstGeom>
          <a:ln w="0">
            <a:noFill/>
          </a:ln>
        </p:spPr>
      </p:sp>
      <p:sp>
        <p:nvSpPr>
          <p:cNvPr id="7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Actualiza el precio de un producto usando su ID. Valida que haya productos y que el precio nuevo sea mayor que 0. Busca el producto con buscarPorId. Si no existe, como P99, avisa con ERROR y devuelve false. Si existe, le cambia el precio con setPrecio y devuelve true. Aclaramos que aunque se llama reponer stock, el enunciado pide solo cambiar el precio.</a:t>
            </a:r>
          </a:p>
        </p:txBody>
      </p:sp>
      <p:sp>
        <p:nvSpPr>
          <p:cNvPr id="736"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31855A1D-3643-488C-B0D5-AC5241DD7ABB}" type="slidenum">
              <a:rPr lang="en-US" sz="1200" b="0" strike="noStrike" spc="-1">
                <a:solidFill>
                  <a:schemeClr val="dk1"/>
                </a:solidFill>
                <a:latin typeface="+mn-lt"/>
                <a:ea typeface="+mn-ea"/>
              </a:rPr>
              <a:t>12</a:t>
            </a:fld>
            <a:endParaRPr lang="en-US"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PlaceHolder 1"/>
          <p:cNvSpPr>
            <a:spLocks noGrp="1" noRot="1" noChangeAspect="1"/>
          </p:cNvSpPr>
          <p:nvPr>
            <p:ph type="sldImg"/>
          </p:nvPr>
        </p:nvSpPr>
        <p:spPr>
          <a:xfrm>
            <a:off x="685800" y="1143000"/>
            <a:ext cx="5486400" cy="3086100"/>
          </a:xfrm>
          <a:prstGeom prst="rect">
            <a:avLst/>
          </a:prstGeom>
          <a:ln w="0">
            <a:noFill/>
          </a:ln>
        </p:spPr>
      </p:sp>
      <p:sp>
        <p:nvSpPr>
          <p:cNvPr id="7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rPr lang="es-ES" sz="1200" b="0" i="0" kern="1200" dirty="0" smtClean="0">
                <a:solidFill>
                  <a:schemeClr val="tx1"/>
                </a:solidFill>
                <a:effectLst/>
                <a:latin typeface="+mn-lt"/>
                <a:ea typeface="+mn-ea"/>
                <a:cs typeface="+mn-cs"/>
              </a:rPr>
              <a:t>El</a:t>
            </a:r>
            <a:r>
              <a:rPr lang="es-ES" sz="1200" b="0" i="0" kern="1200" baseline="0" dirty="0" smtClean="0">
                <a:solidFill>
                  <a:schemeClr val="tx1"/>
                </a:solidFill>
                <a:effectLst/>
                <a:latin typeface="+mn-lt"/>
                <a:ea typeface="+mn-ea"/>
                <a:cs typeface="+mn-cs"/>
              </a:rPr>
              <a:t> método </a:t>
            </a:r>
            <a:r>
              <a:rPr lang="es-ES" sz="1200" b="0" i="0" kern="1200" dirty="0" err="1" smtClean="0">
                <a:solidFill>
                  <a:schemeClr val="tx1"/>
                </a:solidFill>
                <a:effectLst/>
                <a:latin typeface="+mn-lt"/>
                <a:ea typeface="+mn-ea"/>
                <a:cs typeface="+mn-cs"/>
              </a:rPr>
              <a:t>promedioPrecioPorMarca</a:t>
            </a:r>
            <a:r>
              <a:rPr lang="es-ES" sz="1200" b="0" i="0" kern="1200" dirty="0" smtClean="0">
                <a:solidFill>
                  <a:schemeClr val="tx1"/>
                </a:solidFill>
                <a:effectLst/>
                <a:latin typeface="+mn-lt"/>
                <a:ea typeface="+mn-ea"/>
                <a:cs typeface="+mn-cs"/>
              </a:rPr>
              <a:t> sirve para calcular el precio promedio de todos los productos que pertenecen a una marca específica.</a:t>
            </a:r>
            <a:r>
              <a:rPr lang="es-ES" sz="1200" b="0" i="0" kern="1200" baseline="0" dirty="0" smtClean="0">
                <a:solidFill>
                  <a:schemeClr val="tx1"/>
                </a:solidFill>
                <a:effectLst/>
                <a:latin typeface="+mn-lt"/>
                <a:ea typeface="+mn-ea"/>
                <a:cs typeface="+mn-cs"/>
              </a:rPr>
              <a:t> </a:t>
            </a:r>
            <a:r>
              <a:rPr lang="es-ES" sz="1200" b="0" i="0" kern="1200" dirty="0" smtClean="0">
                <a:solidFill>
                  <a:schemeClr val="tx1"/>
                </a:solidFill>
                <a:effectLst/>
                <a:latin typeface="+mn-lt"/>
                <a:ea typeface="+mn-ea"/>
                <a:cs typeface="+mn-cs"/>
              </a:rPr>
              <a:t>Para lograrlo, el método recorre la lista acumulando la suma de los precios y contando cuántos productos coinciden con la marca buscada. Al final, divide la suma total entre la cantidad de productos encontrados. Además, si no hay ningún producto de esa marca, devuelve 0.0 para evitar una división entre cero. Por ejemplo, los dos productos ASUS a los cuales se les aplicaron un descuento en uno de los métodos anteriores se suman y</a:t>
            </a:r>
            <a:r>
              <a:rPr lang="es-ES" sz="1200" b="0" i="0" kern="1200" baseline="0" dirty="0" smtClean="0">
                <a:solidFill>
                  <a:schemeClr val="tx1"/>
                </a:solidFill>
                <a:effectLst/>
                <a:latin typeface="+mn-lt"/>
                <a:ea typeface="+mn-ea"/>
                <a:cs typeface="+mn-cs"/>
              </a:rPr>
              <a:t> dividen entre 2</a:t>
            </a:r>
            <a:r>
              <a:rPr lang="es-ES" sz="1200" b="0" i="0" kern="1200" dirty="0" smtClean="0">
                <a:solidFill>
                  <a:schemeClr val="tx1"/>
                </a:solidFill>
                <a:effectLst/>
                <a:latin typeface="+mn-lt"/>
                <a:ea typeface="+mn-ea"/>
                <a:cs typeface="+mn-cs"/>
              </a:rPr>
              <a:t> dando como resultado un promedio de 576.0.</a:t>
            </a:r>
          </a:p>
          <a:p>
            <a:r>
              <a:rPr lang="es-ES" sz="2000" dirty="0" smtClean="0"/>
              <a:t/>
            </a:r>
            <a:br>
              <a:rPr lang="es-ES" sz="2000" dirty="0" smtClean="0"/>
            </a:br>
            <a:endParaRPr lang="en-US" sz="2000" b="0" strike="noStrike" spc="-1" dirty="0">
              <a:solidFill>
                <a:srgbClr val="000000"/>
              </a:solidFill>
              <a:latin typeface="Arial"/>
            </a:endParaRPr>
          </a:p>
        </p:txBody>
      </p:sp>
      <p:sp>
        <p:nvSpPr>
          <p:cNvPr id="739"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8A283D6B-573A-431F-B729-A7A3ADE0D331}" type="slidenum">
              <a:rPr lang="en-US" sz="1200" b="0" strike="noStrike" spc="-1">
                <a:solidFill>
                  <a:schemeClr val="dk1"/>
                </a:solidFill>
                <a:latin typeface="+mn-lt"/>
                <a:ea typeface="+mn-ea"/>
              </a:rPr>
              <a:t>13</a:t>
            </a:fld>
            <a:endParaRPr lang="en-US" sz="12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0" name="PlaceHolder 1"/>
          <p:cNvSpPr>
            <a:spLocks noGrp="1" noRot="1" noChangeAspect="1"/>
          </p:cNvSpPr>
          <p:nvPr>
            <p:ph type="sldImg"/>
          </p:nvPr>
        </p:nvSpPr>
        <p:spPr>
          <a:xfrm>
            <a:off x="685800" y="1143000"/>
            <a:ext cx="5486040" cy="3085920"/>
          </a:xfrm>
          <a:prstGeom prst="rect">
            <a:avLst/>
          </a:prstGeom>
          <a:ln w="0">
            <a:noFill/>
          </a:ln>
        </p:spPr>
      </p:sp>
      <p:sp>
        <p:nvSpPr>
          <p:cNvPr id="7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Main solo habla con el usuario: muestra el menú y lee lo que escribe. Cada opción llama a un método del gestor. Hay dos niveles de control: lo que escribe el usuario, donde los métodos validan y repiten la pregunta hasta que el dato sea correcto, y las reglas del negocio, donde cada funcionalidad avisa con un ERROR en vez de fallar.</a:t>
            </a:r>
          </a:p>
        </p:txBody>
      </p:sp>
      <p:sp>
        <p:nvSpPr>
          <p:cNvPr id="742"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863BF5FE-73F8-4DD4-8F52-A601502F5518}" type="slidenum">
              <a:rPr lang="en-US" sz="1200" b="0" strike="noStrike" spc="-1">
                <a:solidFill>
                  <a:schemeClr val="dk1"/>
                </a:solidFill>
                <a:latin typeface="+mn-lt"/>
                <a:ea typeface="+mn-ea"/>
              </a:rPr>
              <a:t>14</a:t>
            </a:fld>
            <a:endParaRPr lang="en-US" sz="12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 name="PlaceHolder 1"/>
          <p:cNvSpPr>
            <a:spLocks noGrp="1" noRot="1" noChangeAspect="1"/>
          </p:cNvSpPr>
          <p:nvPr>
            <p:ph type="sldImg"/>
          </p:nvPr>
        </p:nvSpPr>
        <p:spPr>
          <a:xfrm>
            <a:off x="685800" y="1143000"/>
            <a:ext cx="5486040" cy="3085920"/>
          </a:xfrm>
          <a:prstGeom prst="rect">
            <a:avLst/>
          </a:prstGeom>
          <a:ln w="0">
            <a:noFill/>
          </a:ln>
        </p:spPr>
      </p:sp>
      <p:sp>
        <p:nvSpPr>
          <p:cNvPr id="7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La opción 8 del menú ejecuta todas las pruebas automáticamente. El primer escenario usa los datos del enunciado y tiene 6 casos positivos: mostrar los productos, filtrar entre 50 y 200, aplicar 10 por ciento a ASUS, buscar el más barato, cambiar el precio de P02 y calcular el promedio de ASUS, que da 576.0. Si hay tiempo, ejecutarlo en vivo.</a:t>
            </a:r>
          </a:p>
        </p:txBody>
      </p:sp>
      <p:sp>
        <p:nvSpPr>
          <p:cNvPr id="745"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1B74A521-FBA9-4F12-BFB2-1155225C1B69}" type="slidenum">
              <a:rPr lang="en-US" sz="1200" b="0" strike="noStrike" spc="-1">
                <a:solidFill>
                  <a:schemeClr val="dk1"/>
                </a:solidFill>
                <a:latin typeface="+mn-lt"/>
                <a:ea typeface="+mn-ea"/>
              </a:rPr>
              <a:t>15</a:t>
            </a:fld>
            <a:endParaRPr lang="en-US" sz="1200" b="0" strike="noStrike" spc="-1">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 name="PlaceHolder 1"/>
          <p:cNvSpPr>
            <a:spLocks noGrp="1" noRot="1" noChangeAspect="1"/>
          </p:cNvSpPr>
          <p:nvPr>
            <p:ph type="sldImg"/>
          </p:nvPr>
        </p:nvSpPr>
        <p:spPr>
          <a:xfrm>
            <a:off x="685800" y="1143000"/>
            <a:ext cx="5486040" cy="3085920"/>
          </a:xfrm>
          <a:prstGeom prst="rect">
            <a:avLst/>
          </a:prstGeom>
          <a:ln w="0">
            <a:noFill/>
          </a:ln>
        </p:spPr>
      </p:sp>
      <p:sp>
        <p:nvSpPr>
          <p:cNvPr id="7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El segundo escenario tiene 8 casos negativos y de borde: catálogo vacío en los 6 métodos, marca sin productos, ID inexistente, rango al revés, descuentos de 150 y de menos 10, precio nuevo negativo y un rango sin resultados. En todos el programa avisa con un mensaje en lugar de romperse.</a:t>
            </a:r>
          </a:p>
        </p:txBody>
      </p:sp>
      <p:sp>
        <p:nvSpPr>
          <p:cNvPr id="748"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8539FF15-6F58-4A8C-AED8-67BDC73C8CC4}" type="slidenum">
              <a:rPr lang="en-US" sz="1200" b="0" strike="noStrike" spc="-1">
                <a:solidFill>
                  <a:schemeClr val="dk1"/>
                </a:solidFill>
                <a:latin typeface="+mn-lt"/>
                <a:ea typeface="+mn-ea"/>
              </a:rPr>
              <a:t>16</a:t>
            </a:fld>
            <a:endParaRPr lang="en-US" sz="1200" b="0" strike="noStrike" spc="-1">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noRot="1" noChangeAspect="1"/>
          </p:cNvSpPr>
          <p:nvPr>
            <p:ph type="sldImg"/>
          </p:nvPr>
        </p:nvSpPr>
        <p:spPr>
          <a:xfrm>
            <a:off x="685800" y="1143000"/>
            <a:ext cx="5486040" cy="3085920"/>
          </a:xfrm>
          <a:prstGeom prst="rect">
            <a:avLst/>
          </a:prstGeom>
          <a:ln w="0">
            <a:noFill/>
          </a:ln>
        </p:spPr>
      </p:sp>
      <p:sp>
        <p:nvSpPr>
          <p:cNvPr id="7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n-US" sz="2000" b="0" strike="noStrike" spc="-1">
                <a:solidFill>
                  <a:srgbClr val="000000"/>
                </a:solidFill>
                <a:latin typeface="Arial"/>
              </a:rPr>
              <a:t>Para cerrar: la tienda necesitaba control de su catálogo y lo resolvimos con cinco piezas que trabajan juntas. Producto es lo que se guarda, ArrayList es dónde se guarda y crece sola, el Gestor tiene las cinco funcionalidades, Main las pone en manos del usuario y las 14 pruebas comprueban que todo funciona. Como mejoras vemos duplicar la capacidad al crecer, lanzar excepciones, pruebas con JUnit y que los métodos devuelvan resultados. Abrimos a preguntas.</a:t>
            </a:r>
          </a:p>
        </p:txBody>
      </p:sp>
      <p:sp>
        <p:nvSpPr>
          <p:cNvPr id="751"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strike="noStrike" spc="-1">
                <a:solidFill>
                  <a:schemeClr val="dk1"/>
                </a:solidFill>
                <a:latin typeface="+mn-lt"/>
                <a:ea typeface="+mn-ea"/>
              </a:defRPr>
            </a:lvl1pPr>
          </a:lstStyle>
          <a:p>
            <a:pPr indent="0" algn="r" defTabSz="914400">
              <a:lnSpc>
                <a:spcPct val="100000"/>
              </a:lnSpc>
              <a:buNone/>
              <a:tabLst>
                <a:tab pos="0" algn="l"/>
              </a:tabLst>
            </a:pPr>
            <a:fld id="{73EC5C61-5072-4532-BC3B-3857F1A7F431}" type="slidenum">
              <a:rPr lang="en-US" sz="1200" b="0" strike="noStrike" spc="-1">
                <a:solidFill>
                  <a:schemeClr val="dk1"/>
                </a:solidFill>
                <a:latin typeface="+mn-lt"/>
                <a:ea typeface="+mn-ea"/>
              </a:rPr>
              <a:t>17</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CONTENT">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lstStyle/>
          <a:p>
            <a:fld id="{7870297F-FD87-4024-ACF4-3362380BA0DC}"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DAR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0"/>
          <p:cNvSpPr/>
          <p:nvPr/>
        </p:nvSpPr>
        <p:spPr>
          <a:xfrm>
            <a:off x="7863840" y="63093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000" b="0" strike="noStrike" spc="-1">
                <a:solidFill>
                  <a:srgbClr val="7A7FA8"/>
                </a:solidFill>
                <a:latin typeface="Calibri"/>
              </a:rPr>
              <a:t>TechMarket · Equipo 5</a:t>
            </a:r>
            <a:endParaRPr lang="en-US" sz="1000" b="0" strike="noStrike" spc="-1">
              <a:solidFill>
                <a:srgbClr val="000000"/>
              </a:solidFill>
              <a:latin typeface="Arial"/>
            </a:endParaRPr>
          </a:p>
        </p:txBody>
      </p:sp>
      <p:sp>
        <p:nvSpPr>
          <p:cNvPr id="5" name="PlaceHolder 1"/>
          <p:cNvSpPr>
            <a:spLocks noGrp="1"/>
          </p:cNvSpPr>
          <p:nvPr>
            <p:ph type="sldNum" idx="1"/>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87E06AB1-A2D5-4B8C-8601-F905A92D4A79}" type="slidenum">
              <a:rPr lang="en-US" sz="1000" b="0" strike="noStrike" spc="-1">
                <a:solidFill>
                  <a:srgbClr val="7A7FA8"/>
                </a:solidFill>
                <a:latin typeface="Calibri"/>
              </a:rPr>
              <a:t>‹Nº›</a:t>
            </a:fld>
            <a:endParaRPr lang="en-US" sz="1000" b="0" strike="noStrike" spc="-1">
              <a:solidFill>
                <a:srgbClr val="000000"/>
              </a:solidFill>
              <a:latin typeface="Times New Roman"/>
            </a:endParaRPr>
          </a:p>
        </p:txBody>
      </p:sp>
      <p:sp>
        <p:nvSpPr>
          <p:cNvPr id="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Click to edit the title text format</a:t>
            </a:r>
          </a:p>
        </p:txBody>
      </p:sp>
      <p:sp>
        <p:nvSpPr>
          <p:cNvPr id="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strike="noStrike" spc="-1">
                <a:solidFill>
                  <a:schemeClr val="dk1"/>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2000" b="0" strike="noStrike" spc="-1">
                <a:solidFill>
                  <a:schemeClr val="dk1"/>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800" b="0" strike="noStrike" spc="-1">
                <a:solidFill>
                  <a:schemeClr val="dk1"/>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800" b="0" strike="noStrike" spc="-1">
                <a:solidFill>
                  <a:schemeClr val="dk1"/>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1E1B4B"/>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Click to edit the title text format</a:t>
            </a: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FFFFFF"/>
              </a:buClr>
              <a:buSzPct val="45000"/>
              <a:buFont typeface="Wingdings" charset="2"/>
              <a:buChar char=""/>
            </a:pPr>
            <a:r>
              <a:rPr lang="en-US" sz="2800" b="0" strike="noStrike" spc="-1">
                <a:solidFill>
                  <a:schemeClr val="dk1"/>
                </a:solidFill>
                <a:latin typeface="Calibri"/>
              </a:rPr>
              <a:t>Click to edit the outline text format</a:t>
            </a:r>
          </a:p>
          <a:p>
            <a:pPr marL="864000" lvl="1" indent="-324000">
              <a:lnSpc>
                <a:spcPct val="90000"/>
              </a:lnSpc>
              <a:spcBef>
                <a:spcPts val="1134"/>
              </a:spcBef>
              <a:buClr>
                <a:srgbClr val="FFFFFF"/>
              </a:buClr>
              <a:buSzPct val="75000"/>
              <a:buFont typeface="Symbol" charset="2"/>
              <a:buChar char=""/>
            </a:pPr>
            <a:r>
              <a:rPr lang="en-US" sz="2000" b="0" strike="noStrike" spc="-1">
                <a:solidFill>
                  <a:schemeClr val="dk1"/>
                </a:solidFill>
                <a:latin typeface="Calibri"/>
              </a:rPr>
              <a:t>Second Outline Level</a:t>
            </a:r>
          </a:p>
          <a:p>
            <a:pPr marL="1296000" lvl="2" indent="-288000">
              <a:lnSpc>
                <a:spcPct val="90000"/>
              </a:lnSpc>
              <a:spcBef>
                <a:spcPts val="850"/>
              </a:spcBef>
              <a:buClr>
                <a:srgbClr val="FFFFFF"/>
              </a:buClr>
              <a:buSzPct val="45000"/>
              <a:buFont typeface="Wingdings" charset="2"/>
              <a:buChar char=""/>
            </a:pPr>
            <a:r>
              <a:rPr lang="en-US" sz="1800" b="0" strike="noStrike" spc="-1">
                <a:solidFill>
                  <a:schemeClr val="dk1"/>
                </a:solidFill>
                <a:latin typeface="Calibri"/>
              </a:rPr>
              <a:t>Third Outline Level</a:t>
            </a:r>
          </a:p>
          <a:p>
            <a:pPr marL="1728000" lvl="3" indent="-216000">
              <a:lnSpc>
                <a:spcPct val="90000"/>
              </a:lnSpc>
              <a:spcBef>
                <a:spcPts val="567"/>
              </a:spcBef>
              <a:buClr>
                <a:srgbClr val="FFFFFF"/>
              </a:buClr>
              <a:buSzPct val="75000"/>
              <a:buFont typeface="Symbol" charset="2"/>
              <a:buChar char=""/>
            </a:pPr>
            <a:r>
              <a:rPr lang="en-US" sz="1800" b="0" strike="noStrike" spc="-1">
                <a:solidFill>
                  <a:schemeClr val="dk1"/>
                </a:solidFill>
                <a:latin typeface="Calibri"/>
              </a:rPr>
              <a:t>Fourth Outline Level</a:t>
            </a:r>
          </a:p>
          <a:p>
            <a:pPr marL="2160000" lvl="4" indent="-216000">
              <a:lnSpc>
                <a:spcPct val="90000"/>
              </a:lnSpc>
              <a:spcBef>
                <a:spcPts val="283"/>
              </a:spcBef>
              <a:buClr>
                <a:srgbClr val="FFFFFF"/>
              </a:buClr>
              <a:buSzPct val="45000"/>
              <a:buFont typeface="Wingdings" charset="2"/>
              <a:buChar char=""/>
            </a:pPr>
            <a:r>
              <a:rPr lang="en-US" sz="2000" b="0" strike="noStrike" spc="-1">
                <a:solidFill>
                  <a:schemeClr val="dk1"/>
                </a:solidFill>
                <a:latin typeface="Calibri"/>
              </a:rPr>
              <a:t>Fifth Outline Level</a:t>
            </a:r>
          </a:p>
          <a:p>
            <a:pPr marL="2592000" lvl="5" indent="-216000">
              <a:lnSpc>
                <a:spcPct val="90000"/>
              </a:lnSpc>
              <a:spcBef>
                <a:spcPts val="283"/>
              </a:spcBef>
              <a:buClr>
                <a:srgbClr val="FFFFFF"/>
              </a:buClr>
              <a:buSzPct val="45000"/>
              <a:buFont typeface="Wingdings" charset="2"/>
              <a:buChar char=""/>
            </a:pPr>
            <a:r>
              <a:rPr lang="en-US" sz="2000" b="0" strike="noStrike" spc="-1">
                <a:solidFill>
                  <a:schemeClr val="dk1"/>
                </a:solidFill>
                <a:latin typeface="Calibri"/>
              </a:rPr>
              <a:t>Sixth Outline Level</a:t>
            </a:r>
          </a:p>
          <a:p>
            <a:pPr marL="3024000" lvl="6" indent="-216000">
              <a:lnSpc>
                <a:spcPct val="90000"/>
              </a:lnSpc>
              <a:spcBef>
                <a:spcPts val="283"/>
              </a:spcBef>
              <a:buClr>
                <a:srgbClr val="FFFFFF"/>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 0"/>
          <p:cNvSpPr/>
          <p:nvPr/>
        </p:nvSpPr>
        <p:spPr>
          <a:xfrm>
            <a:off x="640080" y="914400"/>
            <a:ext cx="265104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3" name="Text 1"/>
          <p:cNvSpPr/>
          <p:nvPr/>
        </p:nvSpPr>
        <p:spPr>
          <a:xfrm>
            <a:off x="640080" y="91440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EQUIPO 5 </a:t>
            </a:r>
            <a:endParaRPr lang="en-US" sz="1200" b="0" strike="noStrike" spc="-1">
              <a:solidFill>
                <a:srgbClr val="FFFFFF"/>
              </a:solidFill>
              <a:latin typeface="Arial"/>
            </a:endParaRPr>
          </a:p>
        </p:txBody>
      </p:sp>
      <p:sp>
        <p:nvSpPr>
          <p:cNvPr id="14" name="PlaceHolder 1"/>
          <p:cNvSpPr>
            <a:spLocks noGrp="1"/>
          </p:cNvSpPr>
          <p:nvPr>
            <p:ph type="title"/>
          </p:nvPr>
        </p:nvSpPr>
        <p:spPr>
          <a:xfrm>
            <a:off x="640080" y="1715040"/>
            <a:ext cx="6217560" cy="166788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6400" b="1" strike="noStrike" spc="-1">
                <a:solidFill>
                  <a:schemeClr val="lt1"/>
                </a:solidFill>
                <a:latin typeface="Cambria"/>
              </a:rPr>
              <a:t>Tienda en Línea “TechMarket”</a:t>
            </a:r>
            <a:endParaRPr lang="en-US" sz="6400" b="0" strike="noStrike" spc="-1">
              <a:solidFill>
                <a:schemeClr val="dk1"/>
              </a:solidFill>
              <a:latin typeface="Calibri"/>
            </a:endParaRPr>
          </a:p>
        </p:txBody>
      </p:sp>
      <p:sp>
        <p:nvSpPr>
          <p:cNvPr id="15" name="Text 3"/>
          <p:cNvSpPr/>
          <p:nvPr/>
        </p:nvSpPr>
        <p:spPr>
          <a:xfrm>
            <a:off x="640080" y="3611880"/>
            <a:ext cx="5760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strike="noStrike" spc="-1">
                <a:solidFill>
                  <a:schemeClr val="lt1"/>
                </a:solidFill>
                <a:latin typeface="Calibri"/>
              </a:rPr>
              <a:t>Una tienda de tecnología, un catálogo que crece y una lista dinámica construida desde cero</a:t>
            </a:r>
            <a:endParaRPr lang="en-US" sz="2000" b="0" strike="noStrike" spc="-1">
              <a:solidFill>
                <a:srgbClr val="FFFFFF"/>
              </a:solidFill>
              <a:latin typeface="Arial"/>
            </a:endParaRPr>
          </a:p>
        </p:txBody>
      </p:sp>
      <p:sp>
        <p:nvSpPr>
          <p:cNvPr id="16" name="Text 4"/>
          <p:cNvSpPr/>
          <p:nvPr/>
        </p:nvSpPr>
        <p:spPr>
          <a:xfrm>
            <a:off x="640080" y="4526640"/>
            <a:ext cx="5760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accent2"/>
                </a:solidFill>
                <a:latin typeface="Calibri"/>
              </a:rPr>
              <a:t>Examen Parcial · Estructura de Datos</a:t>
            </a:r>
            <a:endParaRPr lang="en-US" sz="1600" b="0" strike="noStrike" spc="-1">
              <a:solidFill>
                <a:srgbClr val="FFFFFF"/>
              </a:solidFill>
              <a:latin typeface="Arial"/>
            </a:endParaRPr>
          </a:p>
        </p:txBody>
      </p:sp>
      <p:sp>
        <p:nvSpPr>
          <p:cNvPr id="17" name="Text 5"/>
          <p:cNvSpPr/>
          <p:nvPr/>
        </p:nvSpPr>
        <p:spPr>
          <a:xfrm>
            <a:off x="640080" y="4971240"/>
            <a:ext cx="576000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6"/>
                </a:solidFill>
                <a:latin typeface="Calibri"/>
              </a:rPr>
              <a:t>Lauren Rosa Barrios Bosque · Liz Anel López Vives · Osmany Manuel Ungo Seara · Jorge Luis Hernández Avila · José Javier Fernández Bravo</a:t>
            </a:r>
            <a:endParaRPr lang="en-US" sz="1300" b="0" strike="noStrike" spc="-1">
              <a:solidFill>
                <a:srgbClr val="FFFFFF"/>
              </a:solidFill>
              <a:latin typeface="Arial"/>
            </a:endParaRPr>
          </a:p>
        </p:txBody>
      </p:sp>
      <p:sp>
        <p:nvSpPr>
          <p:cNvPr id="18" name="Shape 6"/>
          <p:cNvSpPr/>
          <p:nvPr/>
        </p:nvSpPr>
        <p:spPr>
          <a:xfrm>
            <a:off x="7315200" y="914400"/>
            <a:ext cx="3839760" cy="1050840"/>
          </a:xfrm>
          <a:prstGeom prst="roundRect">
            <a:avLst>
              <a:gd name="adj" fmla="val 10435"/>
            </a:avLst>
          </a:prstGeom>
          <a:solidFill>
            <a:schemeClr val="bg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9" name="Shape 7"/>
          <p:cNvSpPr/>
          <p:nvPr/>
        </p:nvSpPr>
        <p:spPr>
          <a:xfrm>
            <a:off x="7543800" y="1170360"/>
            <a:ext cx="547920" cy="5479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0" name="Text 8"/>
          <p:cNvSpPr/>
          <p:nvPr/>
        </p:nvSpPr>
        <p:spPr>
          <a:xfrm>
            <a:off x="7543800" y="117036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lt1"/>
                </a:solidFill>
                <a:latin typeface="Calibri"/>
              </a:rPr>
              <a:t>P01</a:t>
            </a:r>
            <a:endParaRPr lang="en-US" sz="1300" b="0" strike="noStrike" spc="-1">
              <a:solidFill>
                <a:srgbClr val="FFFFFF"/>
              </a:solidFill>
              <a:latin typeface="Arial"/>
            </a:endParaRPr>
          </a:p>
        </p:txBody>
      </p:sp>
      <p:sp>
        <p:nvSpPr>
          <p:cNvPr id="21" name="Text 9"/>
          <p:cNvSpPr/>
          <p:nvPr/>
        </p:nvSpPr>
        <p:spPr>
          <a:xfrm>
            <a:off x="8275320" y="1143000"/>
            <a:ext cx="20109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dk1"/>
                </a:solidFill>
                <a:latin typeface="Calibri"/>
              </a:rPr>
              <a:t>Laptop Gaming</a:t>
            </a:r>
            <a:endParaRPr lang="en-US" sz="1600" b="0" strike="noStrike" spc="-1">
              <a:solidFill>
                <a:srgbClr val="FFFFFF"/>
              </a:solidFill>
              <a:latin typeface="Arial"/>
            </a:endParaRPr>
          </a:p>
        </p:txBody>
      </p:sp>
      <p:sp>
        <p:nvSpPr>
          <p:cNvPr id="22" name="Text 10"/>
          <p:cNvSpPr/>
          <p:nvPr/>
        </p:nvSpPr>
        <p:spPr>
          <a:xfrm>
            <a:off x="8275320" y="1463040"/>
            <a:ext cx="2010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dk2"/>
                </a:solidFill>
                <a:latin typeface="Calibri"/>
              </a:rPr>
              <a:t>ASUS</a:t>
            </a:r>
            <a:endParaRPr lang="en-US" sz="1200" b="0" strike="noStrike" spc="-1">
              <a:solidFill>
                <a:srgbClr val="FFFFFF"/>
              </a:solidFill>
              <a:latin typeface="Arial"/>
            </a:endParaRPr>
          </a:p>
        </p:txBody>
      </p:sp>
      <p:sp>
        <p:nvSpPr>
          <p:cNvPr id="23" name="Text 11"/>
          <p:cNvSpPr/>
          <p:nvPr/>
        </p:nvSpPr>
        <p:spPr>
          <a:xfrm>
            <a:off x="10058400" y="1143000"/>
            <a:ext cx="91368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200" b="1" strike="noStrike" spc="-1">
                <a:solidFill>
                  <a:schemeClr val="accent1"/>
                </a:solidFill>
                <a:latin typeface="Calibri"/>
              </a:rPr>
              <a:t>$1200</a:t>
            </a:r>
            <a:endParaRPr lang="en-US" sz="2200" b="0" strike="noStrike" spc="-1">
              <a:solidFill>
                <a:srgbClr val="FFFFFF"/>
              </a:solidFill>
              <a:latin typeface="Arial"/>
            </a:endParaRPr>
          </a:p>
        </p:txBody>
      </p:sp>
      <p:sp>
        <p:nvSpPr>
          <p:cNvPr id="24" name="Shape 12"/>
          <p:cNvSpPr/>
          <p:nvPr/>
        </p:nvSpPr>
        <p:spPr>
          <a:xfrm>
            <a:off x="7772400" y="2148840"/>
            <a:ext cx="3839760" cy="1050840"/>
          </a:xfrm>
          <a:prstGeom prst="roundRect">
            <a:avLst>
              <a:gd name="adj" fmla="val 10435"/>
            </a:avLst>
          </a:prstGeom>
          <a:solidFill>
            <a:schemeClr val="bg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 name="Shape 13"/>
          <p:cNvSpPr/>
          <p:nvPr/>
        </p:nvSpPr>
        <p:spPr>
          <a:xfrm>
            <a:off x="8001000" y="2404800"/>
            <a:ext cx="547920" cy="54792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6" name="Text 14"/>
          <p:cNvSpPr/>
          <p:nvPr/>
        </p:nvSpPr>
        <p:spPr>
          <a:xfrm>
            <a:off x="8001000" y="240480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P02</a:t>
            </a:r>
            <a:endParaRPr lang="en-US" sz="1300" b="0" strike="noStrike" spc="-1">
              <a:solidFill>
                <a:srgbClr val="FFFFFF"/>
              </a:solidFill>
              <a:latin typeface="Arial"/>
            </a:endParaRPr>
          </a:p>
        </p:txBody>
      </p:sp>
      <p:sp>
        <p:nvSpPr>
          <p:cNvPr id="27" name="Text 15"/>
          <p:cNvSpPr/>
          <p:nvPr/>
        </p:nvSpPr>
        <p:spPr>
          <a:xfrm>
            <a:off x="8732520" y="2377440"/>
            <a:ext cx="20109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dk1"/>
                </a:solidFill>
                <a:latin typeface="Calibri"/>
              </a:rPr>
              <a:t>Mouse Inalámbrico</a:t>
            </a:r>
            <a:endParaRPr lang="en-US" sz="1600" b="0" strike="noStrike" spc="-1">
              <a:solidFill>
                <a:srgbClr val="FFFFFF"/>
              </a:solidFill>
              <a:latin typeface="Arial"/>
            </a:endParaRPr>
          </a:p>
        </p:txBody>
      </p:sp>
      <p:sp>
        <p:nvSpPr>
          <p:cNvPr id="28" name="Text 16"/>
          <p:cNvSpPr/>
          <p:nvPr/>
        </p:nvSpPr>
        <p:spPr>
          <a:xfrm>
            <a:off x="8732520" y="2697480"/>
            <a:ext cx="2010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dk2"/>
                </a:solidFill>
                <a:latin typeface="Calibri"/>
              </a:rPr>
              <a:t>Logitech</a:t>
            </a:r>
            <a:endParaRPr lang="en-US" sz="1200" b="0" strike="noStrike" spc="-1">
              <a:solidFill>
                <a:srgbClr val="FFFFFF"/>
              </a:solidFill>
              <a:latin typeface="Arial"/>
            </a:endParaRPr>
          </a:p>
        </p:txBody>
      </p:sp>
      <p:sp>
        <p:nvSpPr>
          <p:cNvPr id="29" name="Text 17"/>
          <p:cNvSpPr/>
          <p:nvPr/>
        </p:nvSpPr>
        <p:spPr>
          <a:xfrm>
            <a:off x="10515600" y="2377440"/>
            <a:ext cx="91368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200" b="1" strike="noStrike" spc="-1">
                <a:solidFill>
                  <a:schemeClr val="accent1"/>
                </a:solidFill>
                <a:latin typeface="Calibri"/>
              </a:rPr>
              <a:t>$25</a:t>
            </a:r>
            <a:endParaRPr lang="en-US" sz="2200" b="0" strike="noStrike" spc="-1">
              <a:solidFill>
                <a:srgbClr val="FFFFFF"/>
              </a:solidFill>
              <a:latin typeface="Arial"/>
            </a:endParaRPr>
          </a:p>
        </p:txBody>
      </p:sp>
      <p:sp>
        <p:nvSpPr>
          <p:cNvPr id="30" name="Shape 18"/>
          <p:cNvSpPr/>
          <p:nvPr/>
        </p:nvSpPr>
        <p:spPr>
          <a:xfrm>
            <a:off x="7315200" y="3383280"/>
            <a:ext cx="3839760" cy="1050840"/>
          </a:xfrm>
          <a:prstGeom prst="roundRect">
            <a:avLst>
              <a:gd name="adj" fmla="val 10435"/>
            </a:avLst>
          </a:prstGeom>
          <a:solidFill>
            <a:schemeClr val="bg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1" name="Shape 19"/>
          <p:cNvSpPr/>
          <p:nvPr/>
        </p:nvSpPr>
        <p:spPr>
          <a:xfrm>
            <a:off x="7543800" y="3639240"/>
            <a:ext cx="547920" cy="54792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2" name="Text 20"/>
          <p:cNvSpPr/>
          <p:nvPr/>
        </p:nvSpPr>
        <p:spPr>
          <a:xfrm>
            <a:off x="7543800" y="363924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P03</a:t>
            </a:r>
            <a:endParaRPr lang="en-US" sz="1300" b="0" strike="noStrike" spc="-1">
              <a:solidFill>
                <a:srgbClr val="FFFFFF"/>
              </a:solidFill>
              <a:latin typeface="Arial"/>
            </a:endParaRPr>
          </a:p>
        </p:txBody>
      </p:sp>
      <p:sp>
        <p:nvSpPr>
          <p:cNvPr id="33" name="Text 21"/>
          <p:cNvSpPr/>
          <p:nvPr/>
        </p:nvSpPr>
        <p:spPr>
          <a:xfrm>
            <a:off x="8275320" y="3611880"/>
            <a:ext cx="20109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dk1"/>
                </a:solidFill>
                <a:latin typeface="Calibri"/>
              </a:rPr>
              <a:t>Teclado Mecánico</a:t>
            </a:r>
            <a:endParaRPr lang="en-US" sz="1600" b="0" strike="noStrike" spc="-1">
              <a:solidFill>
                <a:srgbClr val="FFFFFF"/>
              </a:solidFill>
              <a:latin typeface="Arial"/>
            </a:endParaRPr>
          </a:p>
        </p:txBody>
      </p:sp>
      <p:sp>
        <p:nvSpPr>
          <p:cNvPr id="34" name="Text 22"/>
          <p:cNvSpPr/>
          <p:nvPr/>
        </p:nvSpPr>
        <p:spPr>
          <a:xfrm>
            <a:off x="8275320" y="3931920"/>
            <a:ext cx="2010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dk2"/>
                </a:solidFill>
                <a:latin typeface="Calibri"/>
              </a:rPr>
              <a:t>ASUS</a:t>
            </a:r>
            <a:endParaRPr lang="en-US" sz="1200" b="0" strike="noStrike" spc="-1">
              <a:solidFill>
                <a:srgbClr val="FFFFFF"/>
              </a:solidFill>
              <a:latin typeface="Arial"/>
            </a:endParaRPr>
          </a:p>
        </p:txBody>
      </p:sp>
      <p:sp>
        <p:nvSpPr>
          <p:cNvPr id="35" name="Text 23"/>
          <p:cNvSpPr/>
          <p:nvPr/>
        </p:nvSpPr>
        <p:spPr>
          <a:xfrm>
            <a:off x="10058400" y="3611880"/>
            <a:ext cx="91368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200" b="1" strike="noStrike" spc="-1">
                <a:solidFill>
                  <a:schemeClr val="accent1"/>
                </a:solidFill>
                <a:latin typeface="Calibri"/>
              </a:rPr>
              <a:t>$80</a:t>
            </a:r>
            <a:endParaRPr lang="en-US" sz="2200" b="0" strike="noStrike" spc="-1">
              <a:solidFill>
                <a:srgbClr val="FFFFFF"/>
              </a:solidFill>
              <a:latin typeface="Arial"/>
            </a:endParaRPr>
          </a:p>
        </p:txBody>
      </p:sp>
      <p:sp>
        <p:nvSpPr>
          <p:cNvPr id="36" name="Shape 24"/>
          <p:cNvSpPr/>
          <p:nvPr/>
        </p:nvSpPr>
        <p:spPr>
          <a:xfrm>
            <a:off x="7772400" y="4617720"/>
            <a:ext cx="3839760" cy="1050840"/>
          </a:xfrm>
          <a:prstGeom prst="roundRect">
            <a:avLst>
              <a:gd name="adj" fmla="val 10435"/>
            </a:avLst>
          </a:prstGeom>
          <a:solidFill>
            <a:schemeClr val="bg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7" name="Shape 25"/>
          <p:cNvSpPr/>
          <p:nvPr/>
        </p:nvSpPr>
        <p:spPr>
          <a:xfrm>
            <a:off x="8001000" y="4873680"/>
            <a:ext cx="547920" cy="54792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8" name="Text 26"/>
          <p:cNvSpPr/>
          <p:nvPr/>
        </p:nvSpPr>
        <p:spPr>
          <a:xfrm>
            <a:off x="8001000" y="487368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P04</a:t>
            </a:r>
            <a:endParaRPr lang="en-US" sz="1300" b="0" strike="noStrike" spc="-1">
              <a:solidFill>
                <a:srgbClr val="FFFFFF"/>
              </a:solidFill>
              <a:latin typeface="Arial"/>
            </a:endParaRPr>
          </a:p>
        </p:txBody>
      </p:sp>
      <p:sp>
        <p:nvSpPr>
          <p:cNvPr id="39" name="Text 27"/>
          <p:cNvSpPr/>
          <p:nvPr/>
        </p:nvSpPr>
        <p:spPr>
          <a:xfrm>
            <a:off x="8732520" y="4846320"/>
            <a:ext cx="20109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dk1"/>
                </a:solidFill>
                <a:latin typeface="Calibri"/>
              </a:rPr>
              <a:t>Monitor 24"</a:t>
            </a:r>
            <a:endParaRPr lang="en-US" sz="1600" b="0" strike="noStrike" spc="-1">
              <a:solidFill>
                <a:srgbClr val="FFFFFF"/>
              </a:solidFill>
              <a:latin typeface="Arial"/>
            </a:endParaRPr>
          </a:p>
        </p:txBody>
      </p:sp>
      <p:sp>
        <p:nvSpPr>
          <p:cNvPr id="40" name="Text 28"/>
          <p:cNvSpPr/>
          <p:nvPr/>
        </p:nvSpPr>
        <p:spPr>
          <a:xfrm>
            <a:off x="8732520" y="5166360"/>
            <a:ext cx="2010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dk2"/>
                </a:solidFill>
                <a:latin typeface="Calibri"/>
              </a:rPr>
              <a:t>Samsung</a:t>
            </a:r>
            <a:endParaRPr lang="en-US" sz="1200" b="0" strike="noStrike" spc="-1">
              <a:solidFill>
                <a:srgbClr val="FFFFFF"/>
              </a:solidFill>
              <a:latin typeface="Arial"/>
            </a:endParaRPr>
          </a:p>
        </p:txBody>
      </p:sp>
      <p:sp>
        <p:nvSpPr>
          <p:cNvPr id="41" name="Text 29"/>
          <p:cNvSpPr/>
          <p:nvPr/>
        </p:nvSpPr>
        <p:spPr>
          <a:xfrm>
            <a:off x="10515600" y="4846320"/>
            <a:ext cx="91368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200" b="1" strike="noStrike" spc="-1">
                <a:solidFill>
                  <a:schemeClr val="accent1"/>
                </a:solidFill>
                <a:latin typeface="Calibri"/>
              </a:rPr>
              <a:t>$180</a:t>
            </a:r>
            <a:endParaRPr lang="en-US" sz="2200" b="0" strike="noStrike" spc="-1">
              <a:solidFill>
                <a:srgbClr val="FFFFFF"/>
              </a:solidFill>
              <a:latin typeface="Arial"/>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1 · EL PROBLEMA</a:t>
            </a:r>
            <a:endParaRPr lang="en-US" sz="1200" b="0" strike="noStrike" spc="-1">
              <a:solidFill>
                <a:srgbClr val="000000"/>
              </a:solidFill>
              <a:latin typeface="Arial"/>
            </a:endParaRPr>
          </a:p>
        </p:txBody>
      </p:sp>
      <p:sp>
        <p:nvSpPr>
          <p:cNvPr id="43" name="Shape 1"/>
          <p:cNvSpPr/>
          <p:nvPr/>
        </p:nvSpPr>
        <p:spPr>
          <a:xfrm>
            <a:off x="1042416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4"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5" name="Shape 3"/>
          <p:cNvSpPr/>
          <p:nvPr/>
        </p:nvSpPr>
        <p:spPr>
          <a:xfrm>
            <a:off x="108997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7"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8"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Planteamiento del problema</a:t>
            </a:r>
            <a:endParaRPr lang="en-US" sz="3400" b="0" strike="noStrike" spc="-1">
              <a:solidFill>
                <a:schemeClr val="dk1"/>
              </a:solidFill>
              <a:latin typeface="Calibri"/>
            </a:endParaRPr>
          </a:p>
        </p:txBody>
      </p:sp>
      <p:sp>
        <p:nvSpPr>
          <p:cNvPr id="49" name="Shape 7"/>
          <p:cNvSpPr/>
          <p:nvPr/>
        </p:nvSpPr>
        <p:spPr>
          <a:xfrm>
            <a:off x="548640" y="6163200"/>
            <a:ext cx="620352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 name="Text 8"/>
          <p:cNvSpPr/>
          <p:nvPr/>
        </p:nvSpPr>
        <p:spPr>
          <a:xfrm>
            <a:off x="731520" y="6163200"/>
            <a:ext cx="592920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Con estos datos, el sistema debe cumplir 5 requerimientos</a:t>
            </a:r>
            <a:endParaRPr lang="en-US" sz="1300" b="0" strike="noStrike" spc="-1">
              <a:solidFill>
                <a:srgbClr val="000000"/>
              </a:solidFill>
              <a:latin typeface="Arial"/>
            </a:endParaRPr>
          </a:p>
        </p:txBody>
      </p:sp>
      <p:sp>
        <p:nvSpPr>
          <p:cNvPr id="51" name="Text 9"/>
          <p:cNvSpPr/>
          <p:nvPr/>
        </p:nvSpPr>
        <p:spPr>
          <a:xfrm>
            <a:off x="584640" y="1888920"/>
            <a:ext cx="528264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spcAft>
                <a:spcPts val="1199"/>
              </a:spcAft>
              <a:tabLst>
                <a:tab pos="0" algn="l"/>
              </a:tabLst>
            </a:pPr>
            <a:r>
              <a:rPr lang="en-US" sz="1800" b="1" strike="noStrike" spc="-1">
                <a:solidFill>
                  <a:schemeClr val="dk1"/>
                </a:solidFill>
                <a:latin typeface="Calibri"/>
              </a:rPr>
              <a:t>TechMarket vende productos informáticos en línea,  </a:t>
            </a:r>
            <a:r>
              <a:rPr lang="en-US" sz="1800" b="0" strike="noStrike" spc="-1">
                <a:solidFill>
                  <a:srgbClr val="000000"/>
                </a:solidFill>
                <a:latin typeface="Arial"/>
              </a:rPr>
              <a:t> y n</a:t>
            </a:r>
            <a:r>
              <a:rPr lang="en-US" sz="1800" b="0" strike="noStrike" spc="-1">
                <a:solidFill>
                  <a:schemeClr val="dk1"/>
                </a:solidFill>
                <a:latin typeface="Calibri"/>
              </a:rPr>
              <a:t>ecesita un sistema para gestionar su catálogo de productos.</a:t>
            </a:r>
            <a:r>
              <a:rPr lang="en-US" sz="1800" b="0" strike="noStrike" spc="-1">
                <a:solidFill>
                  <a:srgbClr val="000000"/>
                </a:solidFill>
                <a:latin typeface="Arial"/>
              </a:rPr>
              <a:t> </a:t>
            </a:r>
            <a:r>
              <a:rPr lang="en-US" sz="1800" b="0" strike="noStrike" spc="-1">
                <a:solidFill>
                  <a:schemeClr val="dk1"/>
                </a:solidFill>
                <a:latin typeface="Calibri"/>
              </a:rPr>
              <a:t>Estos deben guardarse en una lista dinámica hecha desde cero, sin usar el ArrayList de Java.</a:t>
            </a:r>
            <a:endParaRPr lang="en-US" sz="1800" b="0" strike="noStrike" spc="-1">
              <a:solidFill>
                <a:srgbClr val="000000"/>
              </a:solidFill>
              <a:latin typeface="Arial"/>
            </a:endParaRPr>
          </a:p>
        </p:txBody>
      </p:sp>
      <p:sp>
        <p:nvSpPr>
          <p:cNvPr id="52" name="Text 10"/>
          <p:cNvSpPr/>
          <p:nvPr/>
        </p:nvSpPr>
        <p:spPr>
          <a:xfrm>
            <a:off x="594720" y="3658320"/>
            <a:ext cx="53942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alibri"/>
              </a:rPr>
              <a:t>Cada producto guarda 4 datos</a:t>
            </a:r>
            <a:endParaRPr lang="en-US" sz="1400" b="0" strike="noStrike" spc="-1">
              <a:solidFill>
                <a:srgbClr val="000000"/>
              </a:solidFill>
              <a:latin typeface="Arial"/>
            </a:endParaRPr>
          </a:p>
        </p:txBody>
      </p:sp>
      <p:sp>
        <p:nvSpPr>
          <p:cNvPr id="53" name="Shape 11"/>
          <p:cNvSpPr/>
          <p:nvPr/>
        </p:nvSpPr>
        <p:spPr>
          <a:xfrm>
            <a:off x="520200" y="4133520"/>
            <a:ext cx="2605320" cy="502200"/>
          </a:xfrm>
          <a:prstGeom prst="roundRect">
            <a:avLst>
              <a:gd name="adj" fmla="val 21818"/>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4" name="Text 12"/>
          <p:cNvSpPr/>
          <p:nvPr/>
        </p:nvSpPr>
        <p:spPr>
          <a:xfrm>
            <a:off x="731520" y="4145760"/>
            <a:ext cx="22852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alibri"/>
              </a:rPr>
              <a:t>id</a:t>
            </a:r>
            <a:r>
              <a:rPr lang="en-US" sz="1400" b="0" strike="noStrike" spc="-1">
                <a:solidFill>
                  <a:schemeClr val="dk1"/>
                </a:solidFill>
                <a:latin typeface="Calibri"/>
              </a:rPr>
              <a:t>  su código</a:t>
            </a:r>
            <a:endParaRPr lang="en-US" sz="1400" b="0" strike="noStrike" spc="-1">
              <a:solidFill>
                <a:srgbClr val="000000"/>
              </a:solidFill>
              <a:latin typeface="Arial"/>
            </a:endParaRPr>
          </a:p>
        </p:txBody>
      </p:sp>
      <p:sp>
        <p:nvSpPr>
          <p:cNvPr id="55" name="Shape 13"/>
          <p:cNvSpPr/>
          <p:nvPr/>
        </p:nvSpPr>
        <p:spPr>
          <a:xfrm>
            <a:off x="3308760" y="4110480"/>
            <a:ext cx="2605320" cy="502200"/>
          </a:xfrm>
          <a:prstGeom prst="roundRect">
            <a:avLst>
              <a:gd name="adj" fmla="val 21818"/>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 name="Text 14"/>
          <p:cNvSpPr/>
          <p:nvPr/>
        </p:nvSpPr>
        <p:spPr>
          <a:xfrm>
            <a:off x="3468600" y="4114800"/>
            <a:ext cx="2285280" cy="533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alibri"/>
              </a:rPr>
              <a:t>nombre</a:t>
            </a:r>
            <a:r>
              <a:rPr lang="en-US" sz="1400" b="0" strike="noStrike" spc="-1">
                <a:solidFill>
                  <a:schemeClr val="dk1"/>
                </a:solidFill>
                <a:latin typeface="Calibri"/>
              </a:rPr>
              <a:t>  qué es</a:t>
            </a:r>
            <a:endParaRPr lang="en-US" sz="1400" b="0" strike="noStrike" spc="-1">
              <a:solidFill>
                <a:srgbClr val="000000"/>
              </a:solidFill>
              <a:latin typeface="Arial"/>
            </a:endParaRPr>
          </a:p>
        </p:txBody>
      </p:sp>
      <p:sp>
        <p:nvSpPr>
          <p:cNvPr id="57" name="Shape 15"/>
          <p:cNvSpPr/>
          <p:nvPr/>
        </p:nvSpPr>
        <p:spPr>
          <a:xfrm>
            <a:off x="520200" y="4842000"/>
            <a:ext cx="2605320" cy="502200"/>
          </a:xfrm>
          <a:prstGeom prst="roundRect">
            <a:avLst>
              <a:gd name="adj" fmla="val 21818"/>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8" name="Text 16"/>
          <p:cNvSpPr/>
          <p:nvPr/>
        </p:nvSpPr>
        <p:spPr>
          <a:xfrm>
            <a:off x="731520" y="4850640"/>
            <a:ext cx="22852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alibri"/>
              </a:rPr>
              <a:t>marca</a:t>
            </a:r>
            <a:r>
              <a:rPr lang="en-US" sz="1400" b="0" strike="noStrike" spc="-1">
                <a:solidFill>
                  <a:schemeClr val="dk1"/>
                </a:solidFill>
                <a:latin typeface="Calibri"/>
              </a:rPr>
              <a:t>  quién lo hace</a:t>
            </a:r>
            <a:endParaRPr lang="en-US" sz="1400" b="0" strike="noStrike" spc="-1">
              <a:solidFill>
                <a:srgbClr val="000000"/>
              </a:solidFill>
              <a:latin typeface="Arial"/>
            </a:endParaRPr>
          </a:p>
        </p:txBody>
      </p:sp>
      <p:sp>
        <p:nvSpPr>
          <p:cNvPr id="59" name="Shape 17"/>
          <p:cNvSpPr/>
          <p:nvPr/>
        </p:nvSpPr>
        <p:spPr>
          <a:xfrm>
            <a:off x="3291840" y="4842000"/>
            <a:ext cx="2605320" cy="502200"/>
          </a:xfrm>
          <a:prstGeom prst="roundRect">
            <a:avLst>
              <a:gd name="adj" fmla="val 21818"/>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0" name="Text 18"/>
          <p:cNvSpPr/>
          <p:nvPr/>
        </p:nvSpPr>
        <p:spPr>
          <a:xfrm>
            <a:off x="3492000" y="4842000"/>
            <a:ext cx="22852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alibri"/>
              </a:rPr>
              <a:t>precio</a:t>
            </a:r>
            <a:r>
              <a:rPr lang="en-US" sz="1400" b="0" strike="noStrike" spc="-1">
                <a:solidFill>
                  <a:schemeClr val="dk1"/>
                </a:solidFill>
                <a:latin typeface="Calibri"/>
              </a:rPr>
              <a:t>  cuánto cuesta</a:t>
            </a:r>
            <a:endParaRPr lang="en-US" sz="1400" b="0" strike="noStrike" spc="-1">
              <a:solidFill>
                <a:srgbClr val="000000"/>
              </a:solidFill>
              <a:latin typeface="Arial"/>
            </a:endParaRPr>
          </a:p>
        </p:txBody>
      </p:sp>
      <p:sp>
        <p:nvSpPr>
          <p:cNvPr id="61" name="Text 19"/>
          <p:cNvSpPr/>
          <p:nvPr/>
        </p:nvSpPr>
        <p:spPr>
          <a:xfrm>
            <a:off x="6583680" y="1554480"/>
            <a:ext cx="5028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alibri"/>
              </a:rPr>
              <a:t>Datos de prueba del enunciado</a:t>
            </a:r>
            <a:endParaRPr lang="en-US" sz="1400" b="0" strike="noStrike" spc="-1">
              <a:solidFill>
                <a:srgbClr val="000000"/>
              </a:solidFill>
              <a:latin typeface="Arial"/>
            </a:endParaRPr>
          </a:p>
        </p:txBody>
      </p:sp>
      <p:sp>
        <p:nvSpPr>
          <p:cNvPr id="62" name="Shape 20"/>
          <p:cNvSpPr/>
          <p:nvPr/>
        </p:nvSpPr>
        <p:spPr>
          <a:xfrm>
            <a:off x="6583680" y="1920240"/>
            <a:ext cx="5055840" cy="867960"/>
          </a:xfrm>
          <a:prstGeom prst="roundRect">
            <a:avLst>
              <a:gd name="adj" fmla="val 1263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3" name="Shape 21"/>
          <p:cNvSpPr/>
          <p:nvPr/>
        </p:nvSpPr>
        <p:spPr>
          <a:xfrm>
            <a:off x="6766560" y="2075760"/>
            <a:ext cx="547920" cy="5479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4" name="Text 22"/>
          <p:cNvSpPr/>
          <p:nvPr/>
        </p:nvSpPr>
        <p:spPr>
          <a:xfrm>
            <a:off x="6766560" y="207576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lt1"/>
                </a:solidFill>
                <a:latin typeface="Calibri"/>
              </a:rPr>
              <a:t>P01</a:t>
            </a:r>
            <a:endParaRPr lang="en-US" sz="1300" b="0" strike="noStrike" spc="-1">
              <a:solidFill>
                <a:srgbClr val="000000"/>
              </a:solidFill>
              <a:latin typeface="Arial"/>
            </a:endParaRPr>
          </a:p>
        </p:txBody>
      </p:sp>
      <p:sp>
        <p:nvSpPr>
          <p:cNvPr id="65" name="Text 23"/>
          <p:cNvSpPr/>
          <p:nvPr/>
        </p:nvSpPr>
        <p:spPr>
          <a:xfrm>
            <a:off x="7498080" y="2048400"/>
            <a:ext cx="27424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Laptop Gaming</a:t>
            </a:r>
            <a:endParaRPr lang="en-US" sz="1700" b="0" strike="noStrike" spc="-1">
              <a:solidFill>
                <a:srgbClr val="000000"/>
              </a:solidFill>
              <a:latin typeface="Arial"/>
            </a:endParaRPr>
          </a:p>
        </p:txBody>
      </p:sp>
      <p:sp>
        <p:nvSpPr>
          <p:cNvPr id="66" name="Text 24"/>
          <p:cNvSpPr/>
          <p:nvPr/>
        </p:nvSpPr>
        <p:spPr>
          <a:xfrm>
            <a:off x="7498080" y="2395800"/>
            <a:ext cx="2742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2"/>
                </a:solidFill>
                <a:latin typeface="Calibri"/>
              </a:rPr>
              <a:t>ASUS</a:t>
            </a:r>
            <a:endParaRPr lang="en-US" sz="1300" b="0" strike="noStrike" spc="-1">
              <a:solidFill>
                <a:srgbClr val="000000"/>
              </a:solidFill>
              <a:latin typeface="Arial"/>
            </a:endParaRPr>
          </a:p>
        </p:txBody>
      </p:sp>
      <p:sp>
        <p:nvSpPr>
          <p:cNvPr id="67" name="Text 25"/>
          <p:cNvSpPr/>
          <p:nvPr/>
        </p:nvSpPr>
        <p:spPr>
          <a:xfrm>
            <a:off x="10332720" y="2048400"/>
            <a:ext cx="1142280" cy="612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000" b="1" strike="noStrike" spc="-1">
                <a:solidFill>
                  <a:schemeClr val="accent1"/>
                </a:solidFill>
                <a:latin typeface="Calibri"/>
              </a:rPr>
              <a:t>1200.0</a:t>
            </a:r>
            <a:endParaRPr lang="en-US" sz="2000" b="0" strike="noStrike" spc="-1">
              <a:solidFill>
                <a:srgbClr val="000000"/>
              </a:solidFill>
              <a:latin typeface="Arial"/>
            </a:endParaRPr>
          </a:p>
        </p:txBody>
      </p:sp>
      <p:sp>
        <p:nvSpPr>
          <p:cNvPr id="68" name="Shape 26"/>
          <p:cNvSpPr/>
          <p:nvPr/>
        </p:nvSpPr>
        <p:spPr>
          <a:xfrm>
            <a:off x="6583680" y="2926080"/>
            <a:ext cx="5055840" cy="867960"/>
          </a:xfrm>
          <a:prstGeom prst="roundRect">
            <a:avLst>
              <a:gd name="adj" fmla="val 1263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9" name="Shape 27"/>
          <p:cNvSpPr/>
          <p:nvPr/>
        </p:nvSpPr>
        <p:spPr>
          <a:xfrm>
            <a:off x="6766560" y="3081600"/>
            <a:ext cx="547920" cy="5479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70" name="Text 28"/>
          <p:cNvSpPr/>
          <p:nvPr/>
        </p:nvSpPr>
        <p:spPr>
          <a:xfrm>
            <a:off x="6766560" y="308160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lt1"/>
                </a:solidFill>
                <a:latin typeface="Calibri"/>
              </a:rPr>
              <a:t>P02</a:t>
            </a:r>
            <a:endParaRPr lang="en-US" sz="1300" b="0" strike="noStrike" spc="-1">
              <a:solidFill>
                <a:srgbClr val="000000"/>
              </a:solidFill>
              <a:latin typeface="Arial"/>
            </a:endParaRPr>
          </a:p>
        </p:txBody>
      </p:sp>
      <p:sp>
        <p:nvSpPr>
          <p:cNvPr id="71" name="Text 29"/>
          <p:cNvSpPr/>
          <p:nvPr/>
        </p:nvSpPr>
        <p:spPr>
          <a:xfrm>
            <a:off x="7498080" y="3054240"/>
            <a:ext cx="27424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Mouse Inalámbrico</a:t>
            </a:r>
            <a:endParaRPr lang="en-US" sz="1700" b="0" strike="noStrike" spc="-1">
              <a:solidFill>
                <a:srgbClr val="000000"/>
              </a:solidFill>
              <a:latin typeface="Arial"/>
            </a:endParaRPr>
          </a:p>
        </p:txBody>
      </p:sp>
      <p:sp>
        <p:nvSpPr>
          <p:cNvPr id="72" name="Text 30"/>
          <p:cNvSpPr/>
          <p:nvPr/>
        </p:nvSpPr>
        <p:spPr>
          <a:xfrm>
            <a:off x="7498080" y="3401640"/>
            <a:ext cx="2742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2"/>
                </a:solidFill>
                <a:latin typeface="Calibri"/>
              </a:rPr>
              <a:t>Logitech</a:t>
            </a:r>
            <a:endParaRPr lang="en-US" sz="1300" b="0" strike="noStrike" spc="-1">
              <a:solidFill>
                <a:srgbClr val="000000"/>
              </a:solidFill>
              <a:latin typeface="Arial"/>
            </a:endParaRPr>
          </a:p>
        </p:txBody>
      </p:sp>
      <p:sp>
        <p:nvSpPr>
          <p:cNvPr id="73" name="Text 31"/>
          <p:cNvSpPr/>
          <p:nvPr/>
        </p:nvSpPr>
        <p:spPr>
          <a:xfrm>
            <a:off x="10332720" y="3054240"/>
            <a:ext cx="1142280" cy="612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000" b="1" strike="noStrike" spc="-1">
                <a:solidFill>
                  <a:schemeClr val="accent1"/>
                </a:solidFill>
                <a:latin typeface="Calibri"/>
              </a:rPr>
              <a:t>25.0</a:t>
            </a:r>
            <a:endParaRPr lang="en-US" sz="2000" b="0" strike="noStrike" spc="-1">
              <a:solidFill>
                <a:srgbClr val="000000"/>
              </a:solidFill>
              <a:latin typeface="Arial"/>
            </a:endParaRPr>
          </a:p>
        </p:txBody>
      </p:sp>
      <p:sp>
        <p:nvSpPr>
          <p:cNvPr id="74" name="Shape 32"/>
          <p:cNvSpPr/>
          <p:nvPr/>
        </p:nvSpPr>
        <p:spPr>
          <a:xfrm>
            <a:off x="6583680" y="3931920"/>
            <a:ext cx="5055840" cy="867960"/>
          </a:xfrm>
          <a:prstGeom prst="roundRect">
            <a:avLst>
              <a:gd name="adj" fmla="val 1263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75" name="Shape 33"/>
          <p:cNvSpPr/>
          <p:nvPr/>
        </p:nvSpPr>
        <p:spPr>
          <a:xfrm>
            <a:off x="6766560" y="4087440"/>
            <a:ext cx="547920" cy="5479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76" name="Text 34"/>
          <p:cNvSpPr/>
          <p:nvPr/>
        </p:nvSpPr>
        <p:spPr>
          <a:xfrm>
            <a:off x="6766560" y="408744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lt1"/>
                </a:solidFill>
                <a:latin typeface="Calibri"/>
              </a:rPr>
              <a:t>P03</a:t>
            </a:r>
            <a:endParaRPr lang="en-US" sz="1300" b="0" strike="noStrike" spc="-1">
              <a:solidFill>
                <a:srgbClr val="000000"/>
              </a:solidFill>
              <a:latin typeface="Arial"/>
            </a:endParaRPr>
          </a:p>
        </p:txBody>
      </p:sp>
      <p:sp>
        <p:nvSpPr>
          <p:cNvPr id="77" name="Text 35"/>
          <p:cNvSpPr/>
          <p:nvPr/>
        </p:nvSpPr>
        <p:spPr>
          <a:xfrm>
            <a:off x="7498080" y="4060080"/>
            <a:ext cx="27424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Teclado Mecánico</a:t>
            </a:r>
            <a:endParaRPr lang="en-US" sz="1700" b="0" strike="noStrike" spc="-1">
              <a:solidFill>
                <a:srgbClr val="000000"/>
              </a:solidFill>
              <a:latin typeface="Arial"/>
            </a:endParaRPr>
          </a:p>
        </p:txBody>
      </p:sp>
      <p:sp>
        <p:nvSpPr>
          <p:cNvPr id="78" name="Text 36"/>
          <p:cNvSpPr/>
          <p:nvPr/>
        </p:nvSpPr>
        <p:spPr>
          <a:xfrm>
            <a:off x="7498080" y="4407480"/>
            <a:ext cx="2742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2"/>
                </a:solidFill>
                <a:latin typeface="Calibri"/>
              </a:rPr>
              <a:t>ASUS</a:t>
            </a:r>
            <a:endParaRPr lang="en-US" sz="1300" b="0" strike="noStrike" spc="-1">
              <a:solidFill>
                <a:srgbClr val="000000"/>
              </a:solidFill>
              <a:latin typeface="Arial"/>
            </a:endParaRPr>
          </a:p>
        </p:txBody>
      </p:sp>
      <p:sp>
        <p:nvSpPr>
          <p:cNvPr id="79" name="Text 37"/>
          <p:cNvSpPr/>
          <p:nvPr/>
        </p:nvSpPr>
        <p:spPr>
          <a:xfrm>
            <a:off x="10332720" y="4060080"/>
            <a:ext cx="1142280" cy="612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000" b="1" strike="noStrike" spc="-1">
                <a:solidFill>
                  <a:schemeClr val="accent1"/>
                </a:solidFill>
                <a:latin typeface="Calibri"/>
              </a:rPr>
              <a:t>80.0</a:t>
            </a:r>
            <a:endParaRPr lang="en-US" sz="2000" b="0" strike="noStrike" spc="-1">
              <a:solidFill>
                <a:srgbClr val="000000"/>
              </a:solidFill>
              <a:latin typeface="Arial"/>
            </a:endParaRPr>
          </a:p>
        </p:txBody>
      </p:sp>
      <p:sp>
        <p:nvSpPr>
          <p:cNvPr id="80" name="Shape 38"/>
          <p:cNvSpPr/>
          <p:nvPr/>
        </p:nvSpPr>
        <p:spPr>
          <a:xfrm>
            <a:off x="6583680" y="4937760"/>
            <a:ext cx="5055840" cy="867960"/>
          </a:xfrm>
          <a:prstGeom prst="roundRect">
            <a:avLst>
              <a:gd name="adj" fmla="val 1263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81" name="Shape 39"/>
          <p:cNvSpPr/>
          <p:nvPr/>
        </p:nvSpPr>
        <p:spPr>
          <a:xfrm>
            <a:off x="6766560" y="5093280"/>
            <a:ext cx="547920" cy="5479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82" name="Text 40"/>
          <p:cNvSpPr/>
          <p:nvPr/>
        </p:nvSpPr>
        <p:spPr>
          <a:xfrm>
            <a:off x="6766560" y="5093280"/>
            <a:ext cx="547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lt1"/>
                </a:solidFill>
                <a:latin typeface="Calibri"/>
              </a:rPr>
              <a:t>P04</a:t>
            </a:r>
            <a:endParaRPr lang="en-US" sz="1300" b="0" strike="noStrike" spc="-1">
              <a:solidFill>
                <a:srgbClr val="000000"/>
              </a:solidFill>
              <a:latin typeface="Arial"/>
            </a:endParaRPr>
          </a:p>
        </p:txBody>
      </p:sp>
      <p:sp>
        <p:nvSpPr>
          <p:cNvPr id="83" name="Text 41"/>
          <p:cNvSpPr/>
          <p:nvPr/>
        </p:nvSpPr>
        <p:spPr>
          <a:xfrm>
            <a:off x="7498080" y="5065920"/>
            <a:ext cx="27424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Monitor 24"</a:t>
            </a:r>
            <a:endParaRPr lang="en-US" sz="1700" b="0" strike="noStrike" spc="-1">
              <a:solidFill>
                <a:srgbClr val="000000"/>
              </a:solidFill>
              <a:latin typeface="Arial"/>
            </a:endParaRPr>
          </a:p>
        </p:txBody>
      </p:sp>
      <p:sp>
        <p:nvSpPr>
          <p:cNvPr id="84" name="Text 42"/>
          <p:cNvSpPr/>
          <p:nvPr/>
        </p:nvSpPr>
        <p:spPr>
          <a:xfrm>
            <a:off x="7498080" y="5413320"/>
            <a:ext cx="2742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2"/>
                </a:solidFill>
                <a:latin typeface="Calibri"/>
              </a:rPr>
              <a:t>Samsung</a:t>
            </a:r>
            <a:endParaRPr lang="en-US" sz="1300" b="0" strike="noStrike" spc="-1">
              <a:solidFill>
                <a:srgbClr val="000000"/>
              </a:solidFill>
              <a:latin typeface="Arial"/>
            </a:endParaRPr>
          </a:p>
        </p:txBody>
      </p:sp>
      <p:sp>
        <p:nvSpPr>
          <p:cNvPr id="85" name="Text 43"/>
          <p:cNvSpPr/>
          <p:nvPr/>
        </p:nvSpPr>
        <p:spPr>
          <a:xfrm>
            <a:off x="10332720" y="5065920"/>
            <a:ext cx="1142280" cy="612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2000" b="1" strike="noStrike" spc="-1">
                <a:solidFill>
                  <a:schemeClr val="accent1"/>
                </a:solidFill>
                <a:latin typeface="Calibri"/>
              </a:rPr>
              <a:t>180.0</a:t>
            </a:r>
            <a:endParaRPr lang="en-US" sz="2000" b="0" strike="noStrike" spc="-1">
              <a:solidFill>
                <a:srgbClr val="000000"/>
              </a:solidFill>
              <a:latin typeface="Arial"/>
            </a:endParaRPr>
          </a:p>
        </p:txBody>
      </p:sp>
      <p:sp>
        <p:nvSpPr>
          <p:cNvPr id="86" name="PlaceHolder 2"/>
          <p:cNvSpPr>
            <a:spLocks noGrp="1"/>
          </p:cNvSpPr>
          <p:nvPr>
            <p:ph type="sldNum" idx="5"/>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1C969ED9-E781-42AC-9FBF-7FE598D49EEC}" type="slidenum">
              <a:rPr lang="en-US" sz="1000" b="0" strike="noStrike" spc="-1">
                <a:solidFill>
                  <a:srgbClr val="7A7FA8"/>
                </a:solidFill>
                <a:latin typeface="Calibri"/>
              </a:rPr>
              <a:t>2</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1 · EL PROBLEMA</a:t>
            </a:r>
            <a:endParaRPr lang="en-US" sz="1200" b="0" strike="noStrike" spc="-1">
              <a:solidFill>
                <a:srgbClr val="000000"/>
              </a:solidFill>
              <a:latin typeface="Arial"/>
            </a:endParaRPr>
          </a:p>
        </p:txBody>
      </p:sp>
      <p:sp>
        <p:nvSpPr>
          <p:cNvPr id="88" name="Shape 1"/>
          <p:cNvSpPr/>
          <p:nvPr/>
        </p:nvSpPr>
        <p:spPr>
          <a:xfrm>
            <a:off x="1042416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89"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0" name="Shape 3"/>
          <p:cNvSpPr/>
          <p:nvPr/>
        </p:nvSpPr>
        <p:spPr>
          <a:xfrm>
            <a:off x="108997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1"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2"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3"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Requerimientos del sistema</a:t>
            </a:r>
            <a:endParaRPr lang="en-US" sz="3400" b="0" strike="noStrike" spc="-1">
              <a:solidFill>
                <a:schemeClr val="dk1"/>
              </a:solidFill>
              <a:latin typeface="Calibri"/>
            </a:endParaRPr>
          </a:p>
        </p:txBody>
      </p:sp>
      <p:sp>
        <p:nvSpPr>
          <p:cNvPr id="94" name="Shape 7"/>
          <p:cNvSpPr/>
          <p:nvPr/>
        </p:nvSpPr>
        <p:spPr>
          <a:xfrm>
            <a:off x="548640" y="6163200"/>
            <a:ext cx="572328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5" name="Text 8"/>
          <p:cNvSpPr/>
          <p:nvPr/>
        </p:nvSpPr>
        <p:spPr>
          <a:xfrm>
            <a:off x="731520" y="6163200"/>
            <a:ext cx="5448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Para cumplirlos, la solución se organiza en 5 clases</a:t>
            </a:r>
            <a:endParaRPr lang="en-US" sz="1300" b="0" strike="noStrike" spc="-1">
              <a:solidFill>
                <a:srgbClr val="000000"/>
              </a:solidFill>
              <a:latin typeface="Arial"/>
            </a:endParaRPr>
          </a:p>
        </p:txBody>
      </p:sp>
      <p:sp>
        <p:nvSpPr>
          <p:cNvPr id="96" name="Shape 9"/>
          <p:cNvSpPr/>
          <p:nvPr/>
        </p:nvSpPr>
        <p:spPr>
          <a:xfrm>
            <a:off x="548640" y="1554480"/>
            <a:ext cx="6674400" cy="785520"/>
          </a:xfrm>
          <a:prstGeom prst="roundRect">
            <a:avLst>
              <a:gd name="adj" fmla="val 13953"/>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97" name="Shape 10"/>
          <p:cNvSpPr/>
          <p:nvPr/>
        </p:nvSpPr>
        <p:spPr>
          <a:xfrm>
            <a:off x="731520" y="1728360"/>
            <a:ext cx="456480" cy="45648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98" name="Text 11"/>
          <p:cNvSpPr/>
          <p:nvPr/>
        </p:nvSpPr>
        <p:spPr>
          <a:xfrm>
            <a:off x="731520" y="1728360"/>
            <a:ext cx="45648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strike="noStrike" spc="-1">
                <a:solidFill>
                  <a:schemeClr val="lt1"/>
                </a:solidFill>
                <a:latin typeface="Calibri"/>
              </a:rPr>
              <a:t>1</a:t>
            </a:r>
            <a:endParaRPr lang="en-US" sz="1600" b="0" strike="noStrike" spc="-1">
              <a:solidFill>
                <a:srgbClr val="000000"/>
              </a:solidFill>
              <a:latin typeface="Arial"/>
            </a:endParaRPr>
          </a:p>
        </p:txBody>
      </p:sp>
      <p:sp>
        <p:nvSpPr>
          <p:cNvPr id="99" name="Text 12"/>
          <p:cNvSpPr/>
          <p:nvPr/>
        </p:nvSpPr>
        <p:spPr>
          <a:xfrm>
            <a:off x="1417320" y="1645920"/>
            <a:ext cx="5668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Filtrar productos por rango de precio</a:t>
            </a:r>
            <a:endParaRPr lang="en-US" sz="1700" b="0" strike="noStrike" spc="-1">
              <a:solidFill>
                <a:srgbClr val="000000"/>
              </a:solidFill>
              <a:latin typeface="Arial"/>
            </a:endParaRPr>
          </a:p>
        </p:txBody>
      </p:sp>
      <p:sp>
        <p:nvSpPr>
          <p:cNvPr id="100" name="Text 13"/>
          <p:cNvSpPr/>
          <p:nvPr/>
        </p:nvSpPr>
        <p:spPr>
          <a:xfrm>
            <a:off x="1417320" y="2011680"/>
            <a:ext cx="5668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1"/>
                </a:solidFill>
                <a:latin typeface="Courier New"/>
                <a:ea typeface="Courier New"/>
              </a:rPr>
              <a:t>filtrarPorRangoPrecio(min, max)</a:t>
            </a:r>
            <a:endParaRPr lang="en-US" sz="1300" b="0" strike="noStrike" spc="-1">
              <a:solidFill>
                <a:srgbClr val="000000"/>
              </a:solidFill>
              <a:latin typeface="Arial"/>
            </a:endParaRPr>
          </a:p>
        </p:txBody>
      </p:sp>
      <p:sp>
        <p:nvSpPr>
          <p:cNvPr id="101" name="Shape 14"/>
          <p:cNvSpPr/>
          <p:nvPr/>
        </p:nvSpPr>
        <p:spPr>
          <a:xfrm>
            <a:off x="548640" y="2441520"/>
            <a:ext cx="6674400" cy="785520"/>
          </a:xfrm>
          <a:prstGeom prst="roundRect">
            <a:avLst>
              <a:gd name="adj" fmla="val 13953"/>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02" name="Shape 15"/>
          <p:cNvSpPr/>
          <p:nvPr/>
        </p:nvSpPr>
        <p:spPr>
          <a:xfrm>
            <a:off x="731520" y="2615040"/>
            <a:ext cx="456480" cy="45648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03" name="Text 16"/>
          <p:cNvSpPr/>
          <p:nvPr/>
        </p:nvSpPr>
        <p:spPr>
          <a:xfrm>
            <a:off x="731520" y="2615040"/>
            <a:ext cx="45648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strike="noStrike" spc="-1">
                <a:solidFill>
                  <a:schemeClr val="lt1"/>
                </a:solidFill>
                <a:latin typeface="Calibri"/>
              </a:rPr>
              <a:t>2</a:t>
            </a:r>
            <a:endParaRPr lang="en-US" sz="1600" b="0" strike="noStrike" spc="-1">
              <a:solidFill>
                <a:srgbClr val="000000"/>
              </a:solidFill>
              <a:latin typeface="Arial"/>
            </a:endParaRPr>
          </a:p>
        </p:txBody>
      </p:sp>
      <p:sp>
        <p:nvSpPr>
          <p:cNvPr id="104" name="Text 17"/>
          <p:cNvSpPr/>
          <p:nvPr/>
        </p:nvSpPr>
        <p:spPr>
          <a:xfrm>
            <a:off x="1417320" y="2532960"/>
            <a:ext cx="5668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Aplicar descuento por marca</a:t>
            </a:r>
            <a:endParaRPr lang="en-US" sz="1700" b="0" strike="noStrike" spc="-1">
              <a:solidFill>
                <a:srgbClr val="000000"/>
              </a:solidFill>
              <a:latin typeface="Arial"/>
            </a:endParaRPr>
          </a:p>
        </p:txBody>
      </p:sp>
      <p:sp>
        <p:nvSpPr>
          <p:cNvPr id="105" name="Text 18"/>
          <p:cNvSpPr/>
          <p:nvPr/>
        </p:nvSpPr>
        <p:spPr>
          <a:xfrm>
            <a:off x="1417320" y="2898720"/>
            <a:ext cx="5668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1"/>
                </a:solidFill>
                <a:latin typeface="Courier New"/>
                <a:ea typeface="Courier New"/>
              </a:rPr>
              <a:t>aplicarDescuentoMarca(marca, %)</a:t>
            </a:r>
            <a:endParaRPr lang="en-US" sz="1300" b="0" strike="noStrike" spc="-1">
              <a:solidFill>
                <a:srgbClr val="000000"/>
              </a:solidFill>
              <a:latin typeface="Arial"/>
            </a:endParaRPr>
          </a:p>
        </p:txBody>
      </p:sp>
      <p:sp>
        <p:nvSpPr>
          <p:cNvPr id="106" name="Shape 19"/>
          <p:cNvSpPr/>
          <p:nvPr/>
        </p:nvSpPr>
        <p:spPr>
          <a:xfrm>
            <a:off x="548640" y="3328560"/>
            <a:ext cx="6674400" cy="785520"/>
          </a:xfrm>
          <a:prstGeom prst="roundRect">
            <a:avLst>
              <a:gd name="adj" fmla="val 13953"/>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07" name="Shape 20"/>
          <p:cNvSpPr/>
          <p:nvPr/>
        </p:nvSpPr>
        <p:spPr>
          <a:xfrm>
            <a:off x="731520" y="3502080"/>
            <a:ext cx="456480" cy="45648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08" name="Text 21"/>
          <p:cNvSpPr/>
          <p:nvPr/>
        </p:nvSpPr>
        <p:spPr>
          <a:xfrm>
            <a:off x="731520" y="3502080"/>
            <a:ext cx="45648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strike="noStrike" spc="-1">
                <a:solidFill>
                  <a:schemeClr val="lt1"/>
                </a:solidFill>
                <a:latin typeface="Calibri"/>
              </a:rPr>
              <a:t>3</a:t>
            </a:r>
            <a:endParaRPr lang="en-US" sz="1600" b="0" strike="noStrike" spc="-1">
              <a:solidFill>
                <a:srgbClr val="000000"/>
              </a:solidFill>
              <a:latin typeface="Arial"/>
            </a:endParaRPr>
          </a:p>
        </p:txBody>
      </p:sp>
      <p:sp>
        <p:nvSpPr>
          <p:cNvPr id="109" name="Text 22"/>
          <p:cNvSpPr/>
          <p:nvPr/>
        </p:nvSpPr>
        <p:spPr>
          <a:xfrm>
            <a:off x="1417320" y="3420000"/>
            <a:ext cx="5668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Buscar el producto más barato</a:t>
            </a:r>
            <a:endParaRPr lang="en-US" sz="1700" b="0" strike="noStrike" spc="-1">
              <a:solidFill>
                <a:srgbClr val="000000"/>
              </a:solidFill>
              <a:latin typeface="Arial"/>
            </a:endParaRPr>
          </a:p>
        </p:txBody>
      </p:sp>
      <p:sp>
        <p:nvSpPr>
          <p:cNvPr id="110" name="Text 23"/>
          <p:cNvSpPr/>
          <p:nvPr/>
        </p:nvSpPr>
        <p:spPr>
          <a:xfrm>
            <a:off x="1417320" y="3785760"/>
            <a:ext cx="5668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1"/>
                </a:solidFill>
                <a:latin typeface="Courier New"/>
                <a:ea typeface="Courier New"/>
              </a:rPr>
              <a:t>buscarProductoBarato()</a:t>
            </a:r>
            <a:endParaRPr lang="en-US" sz="1300" b="0" strike="noStrike" spc="-1">
              <a:solidFill>
                <a:srgbClr val="000000"/>
              </a:solidFill>
              <a:latin typeface="Arial"/>
            </a:endParaRPr>
          </a:p>
        </p:txBody>
      </p:sp>
      <p:sp>
        <p:nvSpPr>
          <p:cNvPr id="111" name="Shape 24"/>
          <p:cNvSpPr/>
          <p:nvPr/>
        </p:nvSpPr>
        <p:spPr>
          <a:xfrm>
            <a:off x="548640" y="4215240"/>
            <a:ext cx="6674400" cy="785520"/>
          </a:xfrm>
          <a:prstGeom prst="roundRect">
            <a:avLst>
              <a:gd name="adj" fmla="val 13953"/>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12" name="Shape 25"/>
          <p:cNvSpPr/>
          <p:nvPr/>
        </p:nvSpPr>
        <p:spPr>
          <a:xfrm>
            <a:off x="731520" y="4389120"/>
            <a:ext cx="456480" cy="45648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13" name="Text 26"/>
          <p:cNvSpPr/>
          <p:nvPr/>
        </p:nvSpPr>
        <p:spPr>
          <a:xfrm>
            <a:off x="731520" y="4389120"/>
            <a:ext cx="45648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strike="noStrike" spc="-1">
                <a:solidFill>
                  <a:schemeClr val="lt1"/>
                </a:solidFill>
                <a:latin typeface="Calibri"/>
              </a:rPr>
              <a:t>4</a:t>
            </a:r>
            <a:endParaRPr lang="en-US" sz="1600" b="0" strike="noStrike" spc="-1">
              <a:solidFill>
                <a:srgbClr val="000000"/>
              </a:solidFill>
              <a:latin typeface="Arial"/>
            </a:endParaRPr>
          </a:p>
        </p:txBody>
      </p:sp>
      <p:sp>
        <p:nvSpPr>
          <p:cNvPr id="114" name="Text 27"/>
          <p:cNvSpPr/>
          <p:nvPr/>
        </p:nvSpPr>
        <p:spPr>
          <a:xfrm>
            <a:off x="1417320" y="4306680"/>
            <a:ext cx="5668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Reponer stock (actualizar el precio)</a:t>
            </a:r>
            <a:endParaRPr lang="en-US" sz="1700" b="0" strike="noStrike" spc="-1">
              <a:solidFill>
                <a:srgbClr val="000000"/>
              </a:solidFill>
              <a:latin typeface="Arial"/>
            </a:endParaRPr>
          </a:p>
        </p:txBody>
      </p:sp>
      <p:sp>
        <p:nvSpPr>
          <p:cNvPr id="115" name="Text 28"/>
          <p:cNvSpPr/>
          <p:nvPr/>
        </p:nvSpPr>
        <p:spPr>
          <a:xfrm>
            <a:off x="1417320" y="4672440"/>
            <a:ext cx="5668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1"/>
                </a:solidFill>
                <a:latin typeface="Courier New"/>
                <a:ea typeface="Courier New"/>
              </a:rPr>
              <a:t>reponerStockProducto(id, precio)</a:t>
            </a:r>
            <a:endParaRPr lang="en-US" sz="1300" b="0" strike="noStrike" spc="-1">
              <a:solidFill>
                <a:srgbClr val="000000"/>
              </a:solidFill>
              <a:latin typeface="Arial"/>
            </a:endParaRPr>
          </a:p>
        </p:txBody>
      </p:sp>
      <p:sp>
        <p:nvSpPr>
          <p:cNvPr id="116" name="Shape 29"/>
          <p:cNvSpPr/>
          <p:nvPr/>
        </p:nvSpPr>
        <p:spPr>
          <a:xfrm>
            <a:off x="548640" y="5102280"/>
            <a:ext cx="6674400" cy="785520"/>
          </a:xfrm>
          <a:prstGeom prst="roundRect">
            <a:avLst>
              <a:gd name="adj" fmla="val 13953"/>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17" name="Shape 30"/>
          <p:cNvSpPr/>
          <p:nvPr/>
        </p:nvSpPr>
        <p:spPr>
          <a:xfrm>
            <a:off x="731520" y="5276160"/>
            <a:ext cx="456480" cy="45648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18" name="Text 31"/>
          <p:cNvSpPr/>
          <p:nvPr/>
        </p:nvSpPr>
        <p:spPr>
          <a:xfrm>
            <a:off x="731520" y="5276160"/>
            <a:ext cx="45648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strike="noStrike" spc="-1">
                <a:solidFill>
                  <a:schemeClr val="lt1"/>
                </a:solidFill>
                <a:latin typeface="Calibri"/>
              </a:rPr>
              <a:t>5</a:t>
            </a:r>
            <a:endParaRPr lang="en-US" sz="1600" b="0" strike="noStrike" spc="-1">
              <a:solidFill>
                <a:srgbClr val="000000"/>
              </a:solidFill>
              <a:latin typeface="Arial"/>
            </a:endParaRPr>
          </a:p>
        </p:txBody>
      </p:sp>
      <p:sp>
        <p:nvSpPr>
          <p:cNvPr id="119" name="Text 32"/>
          <p:cNvSpPr/>
          <p:nvPr/>
        </p:nvSpPr>
        <p:spPr>
          <a:xfrm>
            <a:off x="1417320" y="5193720"/>
            <a:ext cx="5668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Calcular el promedio de precio de una marca</a:t>
            </a:r>
            <a:endParaRPr lang="en-US" sz="1700" b="0" strike="noStrike" spc="-1">
              <a:solidFill>
                <a:srgbClr val="000000"/>
              </a:solidFill>
              <a:latin typeface="Arial"/>
            </a:endParaRPr>
          </a:p>
        </p:txBody>
      </p:sp>
      <p:sp>
        <p:nvSpPr>
          <p:cNvPr id="120" name="Text 33"/>
          <p:cNvSpPr/>
          <p:nvPr/>
        </p:nvSpPr>
        <p:spPr>
          <a:xfrm>
            <a:off x="1417320" y="5559480"/>
            <a:ext cx="5668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accent1"/>
                </a:solidFill>
                <a:latin typeface="Courier New"/>
                <a:ea typeface="Courier New"/>
              </a:rPr>
              <a:t>promedioPrecioPorMarca(marca)</a:t>
            </a:r>
            <a:endParaRPr lang="en-US" sz="1300" b="0" strike="noStrike" spc="-1">
              <a:solidFill>
                <a:srgbClr val="000000"/>
              </a:solidFill>
              <a:latin typeface="Arial"/>
            </a:endParaRPr>
          </a:p>
        </p:txBody>
      </p:sp>
      <p:sp>
        <p:nvSpPr>
          <p:cNvPr id="121" name="Shape 34"/>
          <p:cNvSpPr/>
          <p:nvPr/>
        </p:nvSpPr>
        <p:spPr>
          <a:xfrm>
            <a:off x="7589520" y="1554480"/>
            <a:ext cx="4050000" cy="4388400"/>
          </a:xfrm>
          <a:prstGeom prst="roundRect">
            <a:avLst>
              <a:gd name="adj" fmla="val 2709"/>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22" name="Text 35"/>
          <p:cNvSpPr/>
          <p:nvPr/>
        </p:nvSpPr>
        <p:spPr>
          <a:xfrm>
            <a:off x="7909560" y="1828800"/>
            <a:ext cx="3382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strike="noStrike" spc="296">
                <a:solidFill>
                  <a:schemeClr val="accent2"/>
                </a:solidFill>
                <a:latin typeface="Calibri"/>
              </a:rPr>
              <a:t>RESTRICCIÓN</a:t>
            </a:r>
            <a:endParaRPr lang="en-US" sz="1300" b="0" strike="noStrike" spc="-1">
              <a:solidFill>
                <a:srgbClr val="000000"/>
              </a:solidFill>
              <a:latin typeface="Arial"/>
            </a:endParaRPr>
          </a:p>
        </p:txBody>
      </p:sp>
      <p:sp>
        <p:nvSpPr>
          <p:cNvPr id="123" name="Text 36"/>
          <p:cNvSpPr/>
          <p:nvPr/>
        </p:nvSpPr>
        <p:spPr>
          <a:xfrm>
            <a:off x="7909560" y="2194560"/>
            <a:ext cx="347400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600" b="1" strike="noStrike" spc="-1">
                <a:solidFill>
                  <a:schemeClr val="lt1"/>
                </a:solidFill>
                <a:latin typeface="Calibri"/>
              </a:rPr>
              <a:t>Lista dinámica desde cero</a:t>
            </a:r>
            <a:endParaRPr lang="en-US" sz="2600" b="0" strike="noStrike" spc="-1">
              <a:solidFill>
                <a:srgbClr val="000000"/>
              </a:solidFill>
              <a:latin typeface="Arial"/>
            </a:endParaRPr>
          </a:p>
        </p:txBody>
      </p:sp>
      <p:sp>
        <p:nvSpPr>
          <p:cNvPr id="124" name="Text 37"/>
          <p:cNvSpPr/>
          <p:nvPr/>
        </p:nvSpPr>
        <p:spPr>
          <a:xfrm>
            <a:off x="7909560" y="3474720"/>
            <a:ext cx="3474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500" b="0" strike="noStrike" spc="-1">
                <a:solidFill>
                  <a:schemeClr val="accent6"/>
                </a:solidFill>
                <a:latin typeface="Calibri"/>
              </a:rPr>
              <a:t>Se construye la estructura propia, sin usar la que ya trae Java, para entender cómo funciona por dentro.</a:t>
            </a:r>
            <a:endParaRPr lang="en-US" sz="1500" b="0" strike="noStrike" spc="-1">
              <a:solidFill>
                <a:srgbClr val="000000"/>
              </a:solidFill>
              <a:latin typeface="Arial"/>
            </a:endParaRPr>
          </a:p>
        </p:txBody>
      </p:sp>
      <p:sp>
        <p:nvSpPr>
          <p:cNvPr id="125" name="Shape 38"/>
          <p:cNvSpPr/>
          <p:nvPr/>
        </p:nvSpPr>
        <p:spPr>
          <a:xfrm>
            <a:off x="7909560" y="4754880"/>
            <a:ext cx="493200" cy="493200"/>
          </a:xfrm>
          <a:prstGeom prst="roundRect">
            <a:avLst>
              <a:gd name="adj" fmla="val 14815"/>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26" name="Shape 39"/>
          <p:cNvSpPr/>
          <p:nvPr/>
        </p:nvSpPr>
        <p:spPr>
          <a:xfrm>
            <a:off x="8476560" y="4754880"/>
            <a:ext cx="493200" cy="493200"/>
          </a:xfrm>
          <a:prstGeom prst="roundRect">
            <a:avLst>
              <a:gd name="adj" fmla="val 14815"/>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27" name="Shape 40"/>
          <p:cNvSpPr/>
          <p:nvPr/>
        </p:nvSpPr>
        <p:spPr>
          <a:xfrm>
            <a:off x="9043560" y="4754880"/>
            <a:ext cx="493200" cy="493200"/>
          </a:xfrm>
          <a:prstGeom prst="roundRect">
            <a:avLst>
              <a:gd name="adj" fmla="val 14815"/>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28" name="Shape 41"/>
          <p:cNvSpPr/>
          <p:nvPr/>
        </p:nvSpPr>
        <p:spPr>
          <a:xfrm>
            <a:off x="9610200" y="4754880"/>
            <a:ext cx="493200" cy="493200"/>
          </a:xfrm>
          <a:prstGeom prst="roundRect">
            <a:avLst>
              <a:gd name="adj" fmla="val 14815"/>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29" name="Shape 42"/>
          <p:cNvSpPr/>
          <p:nvPr/>
        </p:nvSpPr>
        <p:spPr>
          <a:xfrm>
            <a:off x="10177200" y="4754880"/>
            <a:ext cx="493200" cy="493200"/>
          </a:xfrm>
          <a:prstGeom prst="roundRect">
            <a:avLst>
              <a:gd name="adj" fmla="val 14815"/>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30" name="Shape 43"/>
          <p:cNvSpPr/>
          <p:nvPr/>
        </p:nvSpPr>
        <p:spPr>
          <a:xfrm>
            <a:off x="10744200" y="4754880"/>
            <a:ext cx="493200" cy="493200"/>
          </a:xfrm>
          <a:prstGeom prst="roundRect">
            <a:avLst>
              <a:gd name="adj" fmla="val 14815"/>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31" name="Text 44"/>
          <p:cNvSpPr/>
          <p:nvPr/>
        </p:nvSpPr>
        <p:spPr>
          <a:xfrm>
            <a:off x="7909560" y="5349240"/>
            <a:ext cx="34740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items · size · capacity</a:t>
            </a:r>
            <a:endParaRPr lang="en-US" sz="1200" b="0" strike="noStrike" spc="-1">
              <a:solidFill>
                <a:srgbClr val="000000"/>
              </a:solidFill>
              <a:latin typeface="Arial"/>
            </a:endParaRPr>
          </a:p>
        </p:txBody>
      </p:sp>
      <p:sp>
        <p:nvSpPr>
          <p:cNvPr id="132" name="PlaceHolder 2"/>
          <p:cNvSpPr>
            <a:spLocks noGrp="1"/>
          </p:cNvSpPr>
          <p:nvPr>
            <p:ph type="sldNum" idx="6"/>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A77E146B-066F-4794-AD51-7842A1782AFB}" type="slidenum">
              <a:rPr lang="en-US" sz="1000" b="0" strike="noStrike" spc="-1">
                <a:solidFill>
                  <a:srgbClr val="7A7FA8"/>
                </a:solidFill>
                <a:latin typeface="Calibri"/>
              </a:rPr>
              <a:t>3</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2 · LA SOLUCIÓN</a:t>
            </a:r>
            <a:endParaRPr lang="en-US" sz="1200" b="0" strike="noStrike" spc="-1">
              <a:solidFill>
                <a:srgbClr val="000000"/>
              </a:solidFill>
              <a:latin typeface="Arial"/>
            </a:endParaRPr>
          </a:p>
        </p:txBody>
      </p:sp>
      <p:sp>
        <p:nvSpPr>
          <p:cNvPr id="134"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35" name="Shape 2"/>
          <p:cNvSpPr/>
          <p:nvPr/>
        </p:nvSpPr>
        <p:spPr>
          <a:xfrm>
            <a:off x="1066176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36" name="Shape 3"/>
          <p:cNvSpPr/>
          <p:nvPr/>
        </p:nvSpPr>
        <p:spPr>
          <a:xfrm>
            <a:off x="108997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37"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38"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39"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Nuestra solución propuesta</a:t>
            </a:r>
            <a:endParaRPr lang="en-US" sz="3400" b="0" strike="noStrike" spc="-1">
              <a:solidFill>
                <a:schemeClr val="dk1"/>
              </a:solidFill>
              <a:latin typeface="Calibri"/>
            </a:endParaRPr>
          </a:p>
        </p:txBody>
      </p:sp>
      <p:sp>
        <p:nvSpPr>
          <p:cNvPr id="140" name="Shape 7"/>
          <p:cNvSpPr/>
          <p:nvPr/>
        </p:nvSpPr>
        <p:spPr>
          <a:xfrm>
            <a:off x="548640" y="6163200"/>
            <a:ext cx="5243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41" name="Text 8"/>
          <p:cNvSpPr/>
          <p:nvPr/>
        </p:nvSpPr>
        <p:spPr>
          <a:xfrm>
            <a:off x="731520" y="6163200"/>
            <a:ext cx="4969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Clase por clase, empezando por lo que se guarda</a:t>
            </a:r>
            <a:endParaRPr lang="en-US" sz="1300" b="0" strike="noStrike" spc="-1">
              <a:solidFill>
                <a:srgbClr val="000000"/>
              </a:solidFill>
              <a:latin typeface="Arial"/>
            </a:endParaRPr>
          </a:p>
        </p:txBody>
      </p:sp>
      <p:sp>
        <p:nvSpPr>
          <p:cNvPr id="142" name="Shape 9"/>
          <p:cNvSpPr/>
          <p:nvPr/>
        </p:nvSpPr>
        <p:spPr>
          <a:xfrm>
            <a:off x="548640" y="1600200"/>
            <a:ext cx="3108240" cy="1416600"/>
          </a:xfrm>
          <a:prstGeom prst="roundRect">
            <a:avLst>
              <a:gd name="adj" fmla="val 7742"/>
            </a:avLst>
          </a:prstGeom>
          <a:solidFill>
            <a:schemeClr val="tx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43" name="Text 10"/>
          <p:cNvSpPr/>
          <p:nvPr/>
        </p:nvSpPr>
        <p:spPr>
          <a:xfrm>
            <a:off x="777240" y="178308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1" strike="noStrike" spc="-1">
                <a:solidFill>
                  <a:schemeClr val="lt1"/>
                </a:solidFill>
                <a:latin typeface="Calibri"/>
              </a:rPr>
              <a:t>Main</a:t>
            </a:r>
            <a:endParaRPr lang="en-US" sz="2000" b="0" strike="noStrike" spc="-1">
              <a:solidFill>
                <a:srgbClr val="000000"/>
              </a:solidFill>
              <a:latin typeface="Arial"/>
            </a:endParaRPr>
          </a:p>
        </p:txBody>
      </p:sp>
      <p:sp>
        <p:nvSpPr>
          <p:cNvPr id="144" name="Text 11"/>
          <p:cNvSpPr/>
          <p:nvPr/>
        </p:nvSpPr>
        <p:spPr>
          <a:xfrm>
            <a:off x="777240" y="2240280"/>
            <a:ext cx="265104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accent6"/>
                </a:solidFill>
                <a:latin typeface="Calibri"/>
              </a:rPr>
              <a:t>Muestra el menú y lee lo que escribe el usuario</a:t>
            </a:r>
            <a:endParaRPr lang="en-US" sz="1400" b="0" strike="noStrike" spc="-1">
              <a:solidFill>
                <a:srgbClr val="000000"/>
              </a:solidFill>
              <a:latin typeface="Arial"/>
            </a:endParaRPr>
          </a:p>
        </p:txBody>
      </p:sp>
      <p:sp>
        <p:nvSpPr>
          <p:cNvPr id="145" name="Shape 12"/>
          <p:cNvSpPr/>
          <p:nvPr/>
        </p:nvSpPr>
        <p:spPr>
          <a:xfrm>
            <a:off x="4526280" y="1600200"/>
            <a:ext cx="3108240" cy="1416600"/>
          </a:xfrm>
          <a:prstGeom prst="roundRect">
            <a:avLst>
              <a:gd name="adj" fmla="val 7742"/>
            </a:avLst>
          </a:prstGeom>
          <a:solidFill>
            <a:schemeClr val="accent1"/>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46" name="Text 13"/>
          <p:cNvSpPr/>
          <p:nvPr/>
        </p:nvSpPr>
        <p:spPr>
          <a:xfrm>
            <a:off x="4754880" y="178308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1" strike="noStrike" spc="-1">
                <a:solidFill>
                  <a:schemeClr val="lt1"/>
                </a:solidFill>
                <a:latin typeface="Calibri"/>
              </a:rPr>
              <a:t>GestorTechMarket</a:t>
            </a:r>
            <a:endParaRPr lang="en-US" sz="2000" b="0" strike="noStrike" spc="-1">
              <a:solidFill>
                <a:srgbClr val="000000"/>
              </a:solidFill>
              <a:latin typeface="Arial"/>
            </a:endParaRPr>
          </a:p>
        </p:txBody>
      </p:sp>
      <p:sp>
        <p:nvSpPr>
          <p:cNvPr id="147" name="Text 14"/>
          <p:cNvSpPr/>
          <p:nvPr/>
        </p:nvSpPr>
        <p:spPr>
          <a:xfrm>
            <a:off x="4754880" y="2240280"/>
            <a:ext cx="265104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lt1"/>
                </a:solidFill>
                <a:latin typeface="Calibri"/>
              </a:rPr>
              <a:t>La lógica: las 5 funcionalidades y las validaciones</a:t>
            </a:r>
            <a:endParaRPr lang="en-US" sz="1400" b="0" strike="noStrike" spc="-1">
              <a:solidFill>
                <a:srgbClr val="000000"/>
              </a:solidFill>
              <a:latin typeface="Arial"/>
            </a:endParaRPr>
          </a:p>
        </p:txBody>
      </p:sp>
      <p:sp>
        <p:nvSpPr>
          <p:cNvPr id="148" name="Shape 15"/>
          <p:cNvSpPr/>
          <p:nvPr/>
        </p:nvSpPr>
        <p:spPr>
          <a:xfrm>
            <a:off x="8531280" y="1600200"/>
            <a:ext cx="3108240" cy="1416600"/>
          </a:xfrm>
          <a:prstGeom prst="roundRect">
            <a:avLst>
              <a:gd name="adj" fmla="val 7742"/>
            </a:avLst>
          </a:prstGeom>
          <a:solidFill>
            <a:schemeClr val="accent2"/>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49" name="Text 16"/>
          <p:cNvSpPr/>
          <p:nvPr/>
        </p:nvSpPr>
        <p:spPr>
          <a:xfrm>
            <a:off x="8759880" y="178308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1" strike="noStrike" spc="-1">
                <a:solidFill>
                  <a:schemeClr val="dk1"/>
                </a:solidFill>
                <a:latin typeface="Calibri"/>
              </a:rPr>
              <a:t>ArrayList&lt;E&gt;</a:t>
            </a:r>
            <a:endParaRPr lang="en-US" sz="2000" b="0" strike="noStrike" spc="-1">
              <a:solidFill>
                <a:srgbClr val="000000"/>
              </a:solidFill>
              <a:latin typeface="Arial"/>
            </a:endParaRPr>
          </a:p>
        </p:txBody>
      </p:sp>
      <p:sp>
        <p:nvSpPr>
          <p:cNvPr id="150" name="Text 17"/>
          <p:cNvSpPr/>
          <p:nvPr/>
        </p:nvSpPr>
        <p:spPr>
          <a:xfrm>
            <a:off x="8759880" y="2240280"/>
            <a:ext cx="265104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1"/>
                </a:solidFill>
                <a:latin typeface="Calibri"/>
              </a:rPr>
              <a:t>Nuestra lista dinámica, hecha desde cero</a:t>
            </a:r>
            <a:endParaRPr lang="en-US" sz="1400" b="0" strike="noStrike" spc="-1">
              <a:solidFill>
                <a:srgbClr val="000000"/>
              </a:solidFill>
              <a:latin typeface="Arial"/>
            </a:endParaRPr>
          </a:p>
        </p:txBody>
      </p:sp>
      <p:sp>
        <p:nvSpPr>
          <p:cNvPr id="151" name="Shape 18"/>
          <p:cNvSpPr/>
          <p:nvPr/>
        </p:nvSpPr>
        <p:spPr>
          <a:xfrm>
            <a:off x="4526280" y="3886200"/>
            <a:ext cx="3108240" cy="1416600"/>
          </a:xfrm>
          <a:prstGeom prst="roundRect">
            <a:avLst>
              <a:gd name="adj" fmla="val 7742"/>
            </a:avLst>
          </a:prstGeom>
          <a:solidFill>
            <a:schemeClr val="accent3"/>
          </a:solidFill>
          <a:ln w="0">
            <a:noFill/>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52" name="Text 19"/>
          <p:cNvSpPr/>
          <p:nvPr/>
        </p:nvSpPr>
        <p:spPr>
          <a:xfrm>
            <a:off x="4754880" y="406908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1" strike="noStrike" spc="-1">
                <a:solidFill>
                  <a:schemeClr val="dk1"/>
                </a:solidFill>
                <a:latin typeface="Calibri"/>
              </a:rPr>
              <a:t>Producto</a:t>
            </a:r>
            <a:endParaRPr lang="en-US" sz="2000" b="0" strike="noStrike" spc="-1">
              <a:solidFill>
                <a:srgbClr val="000000"/>
              </a:solidFill>
              <a:latin typeface="Arial"/>
            </a:endParaRPr>
          </a:p>
        </p:txBody>
      </p:sp>
      <p:sp>
        <p:nvSpPr>
          <p:cNvPr id="153" name="Text 20"/>
          <p:cNvSpPr/>
          <p:nvPr/>
        </p:nvSpPr>
        <p:spPr>
          <a:xfrm>
            <a:off x="4754880" y="4526280"/>
            <a:ext cx="265104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1"/>
                </a:solidFill>
                <a:latin typeface="Calibri"/>
              </a:rPr>
              <a:t>Lo que se guarda: id, nombre, marca y precio</a:t>
            </a:r>
            <a:endParaRPr lang="en-US" sz="1400" b="0" strike="noStrike" spc="-1">
              <a:solidFill>
                <a:srgbClr val="000000"/>
              </a:solidFill>
              <a:latin typeface="Arial"/>
            </a:endParaRPr>
          </a:p>
        </p:txBody>
      </p:sp>
      <p:sp>
        <p:nvSpPr>
          <p:cNvPr id="154" name="Shape 21"/>
          <p:cNvSpPr/>
          <p:nvPr/>
        </p:nvSpPr>
        <p:spPr>
          <a:xfrm>
            <a:off x="8531280" y="3886200"/>
            <a:ext cx="3108240" cy="1416600"/>
          </a:xfrm>
          <a:prstGeom prst="roundRect">
            <a:avLst>
              <a:gd name="adj" fmla="val 7742"/>
            </a:avLst>
          </a:prstGeom>
          <a:solidFill>
            <a:schemeClr val="bg2"/>
          </a:solidFill>
          <a:ln w="19050">
            <a:solidFill>
              <a:srgbClr val="6C47FF"/>
            </a:solidFill>
            <a:prstDash val="dash"/>
            <a:round/>
          </a:ln>
          <a:effectLst>
            <a:outerShdw blurRad="101520" dist="25560" dir="5400000" algn="bl" rotWithShape="0">
              <a:srgbClr val="1E1B4B">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55" name="Text 22"/>
          <p:cNvSpPr/>
          <p:nvPr/>
        </p:nvSpPr>
        <p:spPr>
          <a:xfrm>
            <a:off x="8759880" y="4069080"/>
            <a:ext cx="2651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1" strike="noStrike" spc="-1">
                <a:solidFill>
                  <a:schemeClr val="accent1"/>
                </a:solidFill>
                <a:latin typeface="Calibri"/>
              </a:rPr>
              <a:t>List&lt;E&gt;</a:t>
            </a:r>
            <a:endParaRPr lang="en-US" sz="2000" b="0" strike="noStrike" spc="-1">
              <a:solidFill>
                <a:srgbClr val="000000"/>
              </a:solidFill>
              <a:latin typeface="Arial"/>
            </a:endParaRPr>
          </a:p>
        </p:txBody>
      </p:sp>
      <p:sp>
        <p:nvSpPr>
          <p:cNvPr id="156" name="Text 23"/>
          <p:cNvSpPr/>
          <p:nvPr/>
        </p:nvSpPr>
        <p:spPr>
          <a:xfrm>
            <a:off x="8759880" y="4526280"/>
            <a:ext cx="265104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1"/>
                </a:solidFill>
                <a:latin typeface="Calibri"/>
              </a:rPr>
              <a:t>El contrato: los métodos que ArrayList debe cumplir</a:t>
            </a:r>
            <a:endParaRPr lang="en-US" sz="1400" b="0" strike="noStrike" spc="-1">
              <a:solidFill>
                <a:srgbClr val="000000"/>
              </a:solidFill>
              <a:latin typeface="Arial"/>
            </a:endParaRPr>
          </a:p>
        </p:txBody>
      </p:sp>
      <p:sp>
        <p:nvSpPr>
          <p:cNvPr id="157" name="Shape 24"/>
          <p:cNvSpPr/>
          <p:nvPr/>
        </p:nvSpPr>
        <p:spPr>
          <a:xfrm>
            <a:off x="3657600" y="2304000"/>
            <a:ext cx="868680" cy="360"/>
          </a:xfrm>
          <a:prstGeom prst="line">
            <a:avLst/>
          </a:prstGeom>
          <a:ln w="25400">
            <a:solidFill>
              <a:srgbClr val="7A7FA8"/>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strike="noStrike" spc="-1">
              <a:solidFill>
                <a:srgbClr val="000000"/>
              </a:solidFill>
              <a:latin typeface="Arial"/>
            </a:endParaRPr>
          </a:p>
        </p:txBody>
      </p:sp>
      <p:sp>
        <p:nvSpPr>
          <p:cNvPr id="158" name="Shape 25"/>
          <p:cNvSpPr/>
          <p:nvPr/>
        </p:nvSpPr>
        <p:spPr>
          <a:xfrm>
            <a:off x="7635240" y="2304000"/>
            <a:ext cx="896040" cy="360"/>
          </a:xfrm>
          <a:prstGeom prst="line">
            <a:avLst/>
          </a:prstGeom>
          <a:ln w="25400">
            <a:solidFill>
              <a:srgbClr val="7A7FA8"/>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strike="noStrike" spc="-1">
              <a:solidFill>
                <a:srgbClr val="000000"/>
              </a:solidFill>
              <a:latin typeface="Arial"/>
            </a:endParaRPr>
          </a:p>
        </p:txBody>
      </p:sp>
      <p:sp>
        <p:nvSpPr>
          <p:cNvPr id="159" name="Shape 26"/>
          <p:cNvSpPr/>
          <p:nvPr/>
        </p:nvSpPr>
        <p:spPr>
          <a:xfrm>
            <a:off x="6080760" y="3017520"/>
            <a:ext cx="360" cy="868680"/>
          </a:xfrm>
          <a:prstGeom prst="line">
            <a:avLst/>
          </a:prstGeom>
          <a:ln w="25400">
            <a:solidFill>
              <a:srgbClr val="7A7FA8"/>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strike="noStrike" spc="-1">
              <a:solidFill>
                <a:srgbClr val="000000"/>
              </a:solidFill>
              <a:latin typeface="Arial"/>
            </a:endParaRPr>
          </a:p>
        </p:txBody>
      </p:sp>
      <p:sp>
        <p:nvSpPr>
          <p:cNvPr id="160" name="Shape 27"/>
          <p:cNvSpPr/>
          <p:nvPr/>
        </p:nvSpPr>
        <p:spPr>
          <a:xfrm>
            <a:off x="10085760" y="3017520"/>
            <a:ext cx="360" cy="868680"/>
          </a:xfrm>
          <a:prstGeom prst="line">
            <a:avLst/>
          </a:prstGeom>
          <a:ln w="25400">
            <a:solidFill>
              <a:srgbClr val="7A7FA8"/>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strike="noStrike" spc="-1">
              <a:solidFill>
                <a:srgbClr val="000000"/>
              </a:solidFill>
              <a:latin typeface="Arial"/>
            </a:endParaRPr>
          </a:p>
        </p:txBody>
      </p:sp>
      <p:sp>
        <p:nvSpPr>
          <p:cNvPr id="161" name="Text 28"/>
          <p:cNvSpPr/>
          <p:nvPr/>
        </p:nvSpPr>
        <p:spPr>
          <a:xfrm>
            <a:off x="3840480" y="2011680"/>
            <a:ext cx="5479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200" b="0" strike="noStrike" spc="-1">
                <a:solidFill>
                  <a:schemeClr val="accent5"/>
                </a:solidFill>
                <a:latin typeface="Calibri"/>
              </a:rPr>
              <a:t>usa</a:t>
            </a:r>
            <a:endParaRPr lang="en-US" sz="1200" b="0" strike="noStrike" spc="-1">
              <a:solidFill>
                <a:srgbClr val="000000"/>
              </a:solidFill>
              <a:latin typeface="Arial"/>
            </a:endParaRPr>
          </a:p>
        </p:txBody>
      </p:sp>
      <p:sp>
        <p:nvSpPr>
          <p:cNvPr id="162" name="Text 29"/>
          <p:cNvSpPr/>
          <p:nvPr/>
        </p:nvSpPr>
        <p:spPr>
          <a:xfrm>
            <a:off x="7818120" y="2011680"/>
            <a:ext cx="5479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200" b="0" strike="noStrike" spc="-1">
                <a:solidFill>
                  <a:schemeClr val="accent5"/>
                </a:solidFill>
                <a:latin typeface="Calibri"/>
              </a:rPr>
              <a:t>usa</a:t>
            </a:r>
            <a:endParaRPr lang="en-US" sz="1200" b="0" strike="noStrike" spc="-1">
              <a:solidFill>
                <a:srgbClr val="000000"/>
              </a:solidFill>
              <a:latin typeface="Arial"/>
            </a:endParaRPr>
          </a:p>
        </p:txBody>
      </p:sp>
      <p:sp>
        <p:nvSpPr>
          <p:cNvPr id="163" name="Text 30"/>
          <p:cNvSpPr/>
          <p:nvPr/>
        </p:nvSpPr>
        <p:spPr>
          <a:xfrm>
            <a:off x="6217920" y="3337560"/>
            <a:ext cx="109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5"/>
                </a:solidFill>
                <a:latin typeface="Calibri"/>
              </a:rPr>
              <a:t>maneja</a:t>
            </a:r>
            <a:endParaRPr lang="en-US" sz="1200" b="0" strike="noStrike" spc="-1">
              <a:solidFill>
                <a:srgbClr val="000000"/>
              </a:solidFill>
              <a:latin typeface="Arial"/>
            </a:endParaRPr>
          </a:p>
        </p:txBody>
      </p:sp>
      <p:sp>
        <p:nvSpPr>
          <p:cNvPr id="164" name="Text 31"/>
          <p:cNvSpPr/>
          <p:nvPr/>
        </p:nvSpPr>
        <p:spPr>
          <a:xfrm>
            <a:off x="10241280" y="3337560"/>
            <a:ext cx="12794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5"/>
                </a:solidFill>
                <a:latin typeface="Calibri"/>
              </a:rPr>
              <a:t>implementa</a:t>
            </a:r>
            <a:endParaRPr lang="en-US" sz="1200" b="0" strike="noStrike" spc="-1">
              <a:solidFill>
                <a:srgbClr val="000000"/>
              </a:solidFill>
              <a:latin typeface="Arial"/>
            </a:endParaRPr>
          </a:p>
        </p:txBody>
      </p:sp>
      <p:sp>
        <p:nvSpPr>
          <p:cNvPr id="165" name="Shape 32"/>
          <p:cNvSpPr/>
          <p:nvPr/>
        </p:nvSpPr>
        <p:spPr>
          <a:xfrm>
            <a:off x="548640" y="3886200"/>
            <a:ext cx="3565440" cy="1416600"/>
          </a:xfrm>
          <a:prstGeom prst="roundRect">
            <a:avLst>
              <a:gd name="adj" fmla="val 774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66" name="Text 33"/>
          <p:cNvSpPr/>
          <p:nvPr/>
        </p:nvSpPr>
        <p:spPr>
          <a:xfrm>
            <a:off x="777240" y="4023360"/>
            <a:ext cx="31082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alibri"/>
              </a:rPr>
              <a:t>Orden de la explicación</a:t>
            </a:r>
            <a:endParaRPr lang="en-US" sz="1400" b="0" strike="noStrike" spc="-1">
              <a:solidFill>
                <a:srgbClr val="000000"/>
              </a:solidFill>
              <a:latin typeface="Arial"/>
            </a:endParaRPr>
          </a:p>
        </p:txBody>
      </p:sp>
      <p:sp>
        <p:nvSpPr>
          <p:cNvPr id="167" name="Text 34"/>
          <p:cNvSpPr/>
          <p:nvPr/>
        </p:nvSpPr>
        <p:spPr>
          <a:xfrm>
            <a:off x="777240" y="4343400"/>
            <a:ext cx="310824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1"/>
                </a:solidFill>
                <a:latin typeface="Calibri"/>
              </a:rPr>
              <a:t>1  Producto</a:t>
            </a:r>
            <a:endParaRPr lang="en-US" sz="1400" b="0" strike="noStrike" spc="-1">
              <a:solidFill>
                <a:srgbClr val="000000"/>
              </a:solidFill>
              <a:latin typeface="Arial"/>
            </a:endParaRPr>
          </a:p>
          <a:p>
            <a:pPr defTabSz="914400">
              <a:lnSpc>
                <a:spcPct val="100000"/>
              </a:lnSpc>
              <a:tabLst>
                <a:tab pos="0" algn="l"/>
              </a:tabLst>
            </a:pPr>
            <a:r>
              <a:rPr lang="en-US" sz="1400" b="0" strike="noStrike" spc="-1">
                <a:solidFill>
                  <a:schemeClr val="dk1"/>
                </a:solidFill>
                <a:latin typeface="Calibri"/>
              </a:rPr>
              <a:t>2  List y ArrayList</a:t>
            </a:r>
            <a:endParaRPr lang="en-US" sz="1400" b="0" strike="noStrike" spc="-1">
              <a:solidFill>
                <a:srgbClr val="000000"/>
              </a:solidFill>
              <a:latin typeface="Arial"/>
            </a:endParaRPr>
          </a:p>
          <a:p>
            <a:pPr defTabSz="914400">
              <a:lnSpc>
                <a:spcPct val="100000"/>
              </a:lnSpc>
              <a:tabLst>
                <a:tab pos="0" algn="l"/>
              </a:tabLst>
            </a:pPr>
            <a:r>
              <a:rPr lang="en-US" sz="1400" b="0" strike="noStrike" spc="-1">
                <a:solidFill>
                  <a:schemeClr val="dk1"/>
                </a:solidFill>
                <a:latin typeface="Calibri"/>
              </a:rPr>
              <a:t>3  GestorTechMarket</a:t>
            </a:r>
            <a:endParaRPr lang="en-US" sz="1400" b="0" strike="noStrike" spc="-1">
              <a:solidFill>
                <a:srgbClr val="000000"/>
              </a:solidFill>
              <a:latin typeface="Arial"/>
            </a:endParaRPr>
          </a:p>
          <a:p>
            <a:pPr defTabSz="914400">
              <a:lnSpc>
                <a:spcPct val="100000"/>
              </a:lnSpc>
              <a:tabLst>
                <a:tab pos="0" algn="l"/>
              </a:tabLst>
            </a:pPr>
            <a:r>
              <a:rPr lang="en-US" sz="1400" b="0" strike="noStrike" spc="-1">
                <a:solidFill>
                  <a:schemeClr val="dk1"/>
                </a:solidFill>
                <a:latin typeface="Calibri"/>
              </a:rPr>
              <a:t>4  Main</a:t>
            </a:r>
            <a:endParaRPr lang="en-US" sz="1400" b="0" strike="noStrike" spc="-1">
              <a:solidFill>
                <a:srgbClr val="000000"/>
              </a:solidFill>
              <a:latin typeface="Arial"/>
            </a:endParaRPr>
          </a:p>
        </p:txBody>
      </p:sp>
      <p:sp>
        <p:nvSpPr>
          <p:cNvPr id="168" name="Text 35"/>
          <p:cNvSpPr/>
          <p:nvPr/>
        </p:nvSpPr>
        <p:spPr>
          <a:xfrm>
            <a:off x="548640" y="5532120"/>
            <a:ext cx="110635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500" b="0" i="1" strike="noStrike" spc="-1">
                <a:solidFill>
                  <a:schemeClr val="dk1"/>
                </a:solidFill>
                <a:latin typeface="Calibri"/>
              </a:rPr>
              <a:t>Idea central: Main habla con el usuario, el Gestor trabaja y guarda todo en nuestra propia lista.</a:t>
            </a:r>
            <a:endParaRPr lang="en-US" sz="1500" b="0" strike="noStrike" spc="-1">
              <a:solidFill>
                <a:srgbClr val="000000"/>
              </a:solidFill>
              <a:latin typeface="Arial"/>
            </a:endParaRPr>
          </a:p>
        </p:txBody>
      </p:sp>
      <p:sp>
        <p:nvSpPr>
          <p:cNvPr id="169" name="PlaceHolder 2"/>
          <p:cNvSpPr>
            <a:spLocks noGrp="1"/>
          </p:cNvSpPr>
          <p:nvPr>
            <p:ph type="sldNum" idx="7"/>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11B10A31-1E85-4DB3-B6BE-1797F5C8B7C4}" type="slidenum">
              <a:rPr lang="en-US" sz="1000" b="0" strike="noStrike" spc="-1">
                <a:solidFill>
                  <a:srgbClr val="7A7FA8"/>
                </a:solidFill>
                <a:latin typeface="Calibri"/>
              </a:rPr>
              <a:t>4</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171"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72"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73"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74"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75"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76"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Producto: lo que se vende</a:t>
            </a:r>
            <a:endParaRPr lang="en-US" sz="3400" b="0" strike="noStrike" spc="-1">
              <a:solidFill>
                <a:schemeClr val="dk1"/>
              </a:solidFill>
              <a:latin typeface="Calibri"/>
            </a:endParaRPr>
          </a:p>
        </p:txBody>
      </p:sp>
      <p:sp>
        <p:nvSpPr>
          <p:cNvPr id="177" name="Shape 7"/>
          <p:cNvSpPr/>
          <p:nvPr/>
        </p:nvSpPr>
        <p:spPr>
          <a:xfrm>
            <a:off x="548640" y="6163200"/>
            <a:ext cx="6395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78" name="Text 8"/>
          <p:cNvSpPr/>
          <p:nvPr/>
        </p:nvSpPr>
        <p:spPr>
          <a:xfrm>
            <a:off x="731520" y="6163200"/>
            <a:ext cx="6121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Los productos se guardan en una lista. Primero, su contrato</a:t>
            </a:r>
            <a:endParaRPr lang="en-US" sz="1300" b="0" strike="noStrike" spc="-1">
              <a:solidFill>
                <a:srgbClr val="000000"/>
              </a:solidFill>
              <a:latin typeface="Arial"/>
            </a:endParaRPr>
          </a:p>
        </p:txBody>
      </p:sp>
      <p:sp>
        <p:nvSpPr>
          <p:cNvPr id="179" name="Shape 9"/>
          <p:cNvSpPr/>
          <p:nvPr/>
        </p:nvSpPr>
        <p:spPr>
          <a:xfrm>
            <a:off x="548640" y="1554480"/>
            <a:ext cx="4662720" cy="1325160"/>
          </a:xfrm>
          <a:prstGeom prst="roundRect">
            <a:avLst>
              <a:gd name="adj" fmla="val 8276"/>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80" name="Shape 10"/>
          <p:cNvSpPr/>
          <p:nvPr/>
        </p:nvSpPr>
        <p:spPr>
          <a:xfrm>
            <a:off x="777240" y="1920240"/>
            <a:ext cx="593640" cy="5936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81" name="Text 11"/>
          <p:cNvSpPr/>
          <p:nvPr/>
        </p:nvSpPr>
        <p:spPr>
          <a:xfrm>
            <a:off x="777240" y="1920240"/>
            <a:ext cx="59364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chemeClr val="lt1"/>
                </a:solidFill>
                <a:latin typeface="Calibri"/>
              </a:rPr>
              <a:t>4</a:t>
            </a:r>
            <a:endParaRPr lang="en-US" sz="2200" b="0" strike="noStrike" spc="-1">
              <a:solidFill>
                <a:srgbClr val="000000"/>
              </a:solidFill>
              <a:latin typeface="Arial"/>
            </a:endParaRPr>
          </a:p>
        </p:txBody>
      </p:sp>
      <p:sp>
        <p:nvSpPr>
          <p:cNvPr id="182" name="Text 12"/>
          <p:cNvSpPr/>
          <p:nvPr/>
        </p:nvSpPr>
        <p:spPr>
          <a:xfrm>
            <a:off x="1600200" y="1783080"/>
            <a:ext cx="3474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Cuatro atributos privados</a:t>
            </a:r>
            <a:endParaRPr lang="en-US" sz="1700" b="0" strike="noStrike" spc="-1">
              <a:solidFill>
                <a:srgbClr val="000000"/>
              </a:solidFill>
              <a:latin typeface="Arial"/>
            </a:endParaRPr>
          </a:p>
        </p:txBody>
      </p:sp>
      <p:sp>
        <p:nvSpPr>
          <p:cNvPr id="183" name="Text 13"/>
          <p:cNvSpPr/>
          <p:nvPr/>
        </p:nvSpPr>
        <p:spPr>
          <a:xfrm>
            <a:off x="1600200" y="2176200"/>
            <a:ext cx="347400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2"/>
                </a:solidFill>
                <a:latin typeface="Calibri"/>
              </a:rPr>
              <a:t>id, nombre, marca y precio. Nadie los toca desde afuera.</a:t>
            </a:r>
            <a:endParaRPr lang="en-US" sz="1400" b="0" strike="noStrike" spc="-1">
              <a:solidFill>
                <a:srgbClr val="000000"/>
              </a:solidFill>
              <a:latin typeface="Arial"/>
            </a:endParaRPr>
          </a:p>
        </p:txBody>
      </p:sp>
      <p:sp>
        <p:nvSpPr>
          <p:cNvPr id="184" name="Shape 14"/>
          <p:cNvSpPr/>
          <p:nvPr/>
        </p:nvSpPr>
        <p:spPr>
          <a:xfrm>
            <a:off x="548640" y="3063240"/>
            <a:ext cx="4662720" cy="1325160"/>
          </a:xfrm>
          <a:prstGeom prst="roundRect">
            <a:avLst>
              <a:gd name="adj" fmla="val 8276"/>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85" name="Shape 15"/>
          <p:cNvSpPr/>
          <p:nvPr/>
        </p:nvSpPr>
        <p:spPr>
          <a:xfrm>
            <a:off x="777240" y="3429000"/>
            <a:ext cx="593640" cy="5936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86" name="Text 16"/>
          <p:cNvSpPr/>
          <p:nvPr/>
        </p:nvSpPr>
        <p:spPr>
          <a:xfrm>
            <a:off x="777240" y="3429000"/>
            <a:ext cx="59364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get</a:t>
            </a:r>
            <a:endParaRPr lang="en-US" sz="1400" b="0" strike="noStrike" spc="-1">
              <a:solidFill>
                <a:srgbClr val="000000"/>
              </a:solidFill>
              <a:latin typeface="Arial"/>
            </a:endParaRPr>
          </a:p>
        </p:txBody>
      </p:sp>
      <p:sp>
        <p:nvSpPr>
          <p:cNvPr id="187" name="Text 17"/>
          <p:cNvSpPr/>
          <p:nvPr/>
        </p:nvSpPr>
        <p:spPr>
          <a:xfrm>
            <a:off x="1600200" y="3291840"/>
            <a:ext cx="3474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Getters para leer</a:t>
            </a:r>
            <a:endParaRPr lang="en-US" sz="1700" b="0" strike="noStrike" spc="-1">
              <a:solidFill>
                <a:srgbClr val="000000"/>
              </a:solidFill>
              <a:latin typeface="Arial"/>
            </a:endParaRPr>
          </a:p>
        </p:txBody>
      </p:sp>
      <p:sp>
        <p:nvSpPr>
          <p:cNvPr id="188" name="Text 18"/>
          <p:cNvSpPr/>
          <p:nvPr/>
        </p:nvSpPr>
        <p:spPr>
          <a:xfrm>
            <a:off x="1600200" y="3684960"/>
            <a:ext cx="347400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2"/>
                </a:solidFill>
                <a:latin typeface="Calibri"/>
              </a:rPr>
              <a:t>getId, getNombre, getMarca y getPrecio.</a:t>
            </a:r>
            <a:endParaRPr lang="en-US" sz="1400" b="0" strike="noStrike" spc="-1">
              <a:solidFill>
                <a:srgbClr val="000000"/>
              </a:solidFill>
              <a:latin typeface="Arial"/>
            </a:endParaRPr>
          </a:p>
        </p:txBody>
      </p:sp>
      <p:sp>
        <p:nvSpPr>
          <p:cNvPr id="189" name="Shape 19"/>
          <p:cNvSpPr/>
          <p:nvPr/>
        </p:nvSpPr>
        <p:spPr>
          <a:xfrm>
            <a:off x="548640" y="4572000"/>
            <a:ext cx="4662720" cy="1325160"/>
          </a:xfrm>
          <a:prstGeom prst="roundRect">
            <a:avLst>
              <a:gd name="adj" fmla="val 8276"/>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90" name="Shape 20"/>
          <p:cNvSpPr/>
          <p:nvPr/>
        </p:nvSpPr>
        <p:spPr>
          <a:xfrm>
            <a:off x="777240" y="4937760"/>
            <a:ext cx="593640" cy="5936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191" name="Text 21"/>
          <p:cNvSpPr/>
          <p:nvPr/>
        </p:nvSpPr>
        <p:spPr>
          <a:xfrm>
            <a:off x="777240" y="4937760"/>
            <a:ext cx="59364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set</a:t>
            </a:r>
            <a:endParaRPr lang="en-US" sz="1400" b="0" strike="noStrike" spc="-1">
              <a:solidFill>
                <a:srgbClr val="000000"/>
              </a:solidFill>
              <a:latin typeface="Arial"/>
            </a:endParaRPr>
          </a:p>
        </p:txBody>
      </p:sp>
      <p:sp>
        <p:nvSpPr>
          <p:cNvPr id="192" name="Text 22"/>
          <p:cNvSpPr/>
          <p:nvPr/>
        </p:nvSpPr>
        <p:spPr>
          <a:xfrm>
            <a:off x="1600200" y="4800600"/>
            <a:ext cx="3474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dk1"/>
                </a:solidFill>
                <a:latin typeface="Calibri"/>
              </a:rPr>
              <a:t>setPrecio para cambiar</a:t>
            </a:r>
            <a:endParaRPr lang="en-US" sz="1700" b="0" strike="noStrike" spc="-1">
              <a:solidFill>
                <a:srgbClr val="000000"/>
              </a:solidFill>
              <a:latin typeface="Arial"/>
            </a:endParaRPr>
          </a:p>
        </p:txBody>
      </p:sp>
      <p:sp>
        <p:nvSpPr>
          <p:cNvPr id="193" name="Text 23"/>
          <p:cNvSpPr/>
          <p:nvPr/>
        </p:nvSpPr>
        <p:spPr>
          <a:xfrm>
            <a:off x="1600200" y="5193720"/>
            <a:ext cx="347400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2"/>
                </a:solidFill>
                <a:latin typeface="Calibri"/>
              </a:rPr>
              <a:t>Es lo único que se modifica: lo usan el descuento y el cambio de precio.</a:t>
            </a:r>
            <a:endParaRPr lang="en-US" sz="1400" b="0" strike="noStrike" spc="-1">
              <a:solidFill>
                <a:srgbClr val="000000"/>
              </a:solidFill>
              <a:latin typeface="Arial"/>
            </a:endParaRPr>
          </a:p>
        </p:txBody>
      </p:sp>
      <p:sp>
        <p:nvSpPr>
          <p:cNvPr id="194" name="Shape 24"/>
          <p:cNvSpPr/>
          <p:nvPr/>
        </p:nvSpPr>
        <p:spPr>
          <a:xfrm>
            <a:off x="5577840" y="1554480"/>
            <a:ext cx="6061680" cy="2453040"/>
          </a:xfrm>
          <a:prstGeom prst="roundRect">
            <a:avLst>
              <a:gd name="adj" fmla="val 4472"/>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95" name="Text 25"/>
          <p:cNvSpPr/>
          <p:nvPr/>
        </p:nvSpPr>
        <p:spPr>
          <a:xfrm>
            <a:off x="5806440" y="170064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Producto.java</a:t>
            </a:r>
            <a:endParaRPr lang="en-US" sz="1100" b="0" strike="noStrike" spc="-1">
              <a:solidFill>
                <a:srgbClr val="000000"/>
              </a:solidFill>
              <a:latin typeface="Arial"/>
            </a:endParaRPr>
          </a:p>
        </p:txBody>
      </p:sp>
      <p:sp>
        <p:nvSpPr>
          <p:cNvPr id="196" name="Text 26"/>
          <p:cNvSpPr/>
          <p:nvPr/>
        </p:nvSpPr>
        <p:spPr>
          <a:xfrm>
            <a:off x="5806440" y="2057400"/>
            <a:ext cx="5695920" cy="176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public class Producto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private String id;</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private String nombre;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private String marca;</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private double 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public void setPrecio(double precio)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this.precio = 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197" name="Shape 27"/>
          <p:cNvSpPr/>
          <p:nvPr/>
        </p:nvSpPr>
        <p:spPr>
          <a:xfrm>
            <a:off x="5577840" y="4160520"/>
            <a:ext cx="6061680" cy="1050840"/>
          </a:xfrm>
          <a:prstGeom prst="roundRect">
            <a:avLst>
              <a:gd name="adj" fmla="val 10435"/>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198" name="Text 28"/>
          <p:cNvSpPr/>
          <p:nvPr/>
        </p:nvSpPr>
        <p:spPr>
          <a:xfrm>
            <a:off x="5806440" y="430668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Así se ve con toString()</a:t>
            </a:r>
            <a:endParaRPr lang="en-US" sz="1100" b="0" strike="noStrike" spc="-1">
              <a:solidFill>
                <a:srgbClr val="000000"/>
              </a:solidFill>
              <a:latin typeface="Arial"/>
            </a:endParaRPr>
          </a:p>
        </p:txBody>
      </p:sp>
      <p:sp>
        <p:nvSpPr>
          <p:cNvPr id="199" name="Text 29"/>
          <p:cNvSpPr/>
          <p:nvPr/>
        </p:nvSpPr>
        <p:spPr>
          <a:xfrm>
            <a:off x="5806440" y="4663440"/>
            <a:ext cx="569592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1. P01 - Laptop Gaming - ASUS - 1200.0$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2. P02 - Mouse Inalámbrico - Logitech - 25.0$</a:t>
            </a:r>
            <a:endParaRPr lang="en-US" sz="1100" b="0" strike="noStrike" spc="-1">
              <a:solidFill>
                <a:srgbClr val="000000"/>
              </a:solidFill>
              <a:latin typeface="Arial"/>
            </a:endParaRPr>
          </a:p>
        </p:txBody>
      </p:sp>
      <p:sp>
        <p:nvSpPr>
          <p:cNvPr id="200" name="Text 30"/>
          <p:cNvSpPr/>
          <p:nvPr/>
        </p:nvSpPr>
        <p:spPr>
          <a:xfrm>
            <a:off x="5577840" y="5349240"/>
            <a:ext cx="60343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strike="noStrike" spc="-1">
                <a:solidFill>
                  <a:schemeClr val="dk2"/>
                </a:solidFill>
                <a:latin typeface="Calibri"/>
              </a:rPr>
              <a:t>toString() hace que cada producto se imprima de forma legible.</a:t>
            </a:r>
            <a:endParaRPr lang="en-US" sz="1400" b="0" strike="noStrike" spc="-1">
              <a:solidFill>
                <a:srgbClr val="000000"/>
              </a:solidFill>
              <a:latin typeface="Arial"/>
            </a:endParaRPr>
          </a:p>
        </p:txBody>
      </p:sp>
      <p:sp>
        <p:nvSpPr>
          <p:cNvPr id="201" name="PlaceHolder 2"/>
          <p:cNvSpPr>
            <a:spLocks noGrp="1"/>
          </p:cNvSpPr>
          <p:nvPr>
            <p:ph type="sldNum" idx="8"/>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28AB081E-584B-4D4B-9DC9-E040781E8D03}" type="slidenum">
              <a:rPr lang="en-US" sz="1000" b="0" strike="noStrike" spc="-1">
                <a:solidFill>
                  <a:srgbClr val="7A7FA8"/>
                </a:solidFill>
                <a:latin typeface="Calibri"/>
              </a:rPr>
              <a:t>5</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203"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04"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05"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06"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07"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08"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dirty="0">
                <a:solidFill>
                  <a:schemeClr val="dk1"/>
                </a:solidFill>
                <a:latin typeface="Cambria"/>
              </a:rPr>
              <a:t>List&lt;E&gt;: el </a:t>
            </a:r>
            <a:r>
              <a:rPr lang="en-US" sz="3400" b="1" strike="noStrike" spc="-1" dirty="0" err="1">
                <a:solidFill>
                  <a:schemeClr val="dk1"/>
                </a:solidFill>
                <a:latin typeface="Cambria"/>
              </a:rPr>
              <a:t>contrato</a:t>
            </a:r>
            <a:endParaRPr lang="en-US" sz="3400" b="0" strike="noStrike" spc="-1" dirty="0">
              <a:solidFill>
                <a:schemeClr val="dk1"/>
              </a:solidFill>
              <a:latin typeface="Calibri"/>
            </a:endParaRPr>
          </a:p>
        </p:txBody>
      </p:sp>
      <p:sp>
        <p:nvSpPr>
          <p:cNvPr id="209" name="Shape 7"/>
          <p:cNvSpPr/>
          <p:nvPr/>
        </p:nvSpPr>
        <p:spPr>
          <a:xfrm>
            <a:off x="548640" y="6163200"/>
            <a:ext cx="4667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10" name="Text 8"/>
          <p:cNvSpPr/>
          <p:nvPr/>
        </p:nvSpPr>
        <p:spPr>
          <a:xfrm>
            <a:off x="731520" y="6163200"/>
            <a:ext cx="4393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Y ArrayList es quien cumple este contrato</a:t>
            </a:r>
            <a:endParaRPr lang="en-US" sz="1300" b="0" strike="noStrike" spc="-1">
              <a:solidFill>
                <a:srgbClr val="000000"/>
              </a:solidFill>
              <a:latin typeface="Arial"/>
            </a:endParaRPr>
          </a:p>
        </p:txBody>
      </p:sp>
      <p:sp>
        <p:nvSpPr>
          <p:cNvPr id="211" name="Text 9"/>
          <p:cNvSpPr/>
          <p:nvPr/>
        </p:nvSpPr>
        <p:spPr>
          <a:xfrm>
            <a:off x="548640" y="1417320"/>
            <a:ext cx="110635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tabLst>
                <a:tab pos="0" algn="l"/>
              </a:tabLst>
            </a:pPr>
            <a:r>
              <a:rPr lang="es-ES" sz="1600" dirty="0" smtClean="0"/>
              <a:t>La </a:t>
            </a:r>
            <a:r>
              <a:rPr lang="es-ES" sz="1600" dirty="0"/>
              <a:t>interfaz </a:t>
            </a:r>
            <a:r>
              <a:rPr lang="es-ES" sz="1600" dirty="0" err="1"/>
              <a:t>List</a:t>
            </a:r>
            <a:r>
              <a:rPr lang="es-ES" sz="1600" dirty="0"/>
              <a:t> la cual define el contrato que debe cumplir cualquier implementación de lista</a:t>
            </a:r>
            <a:r>
              <a:rPr lang="en-US" sz="1500" b="0" strike="noStrike" spc="-1" dirty="0" smtClean="0">
                <a:solidFill>
                  <a:schemeClr val="dk2"/>
                </a:solidFill>
                <a:latin typeface="Calibri"/>
              </a:rPr>
              <a:t>. </a:t>
            </a:r>
            <a:r>
              <a:rPr lang="en-US" sz="1500" b="0" strike="noStrike" spc="-1" dirty="0" err="1">
                <a:solidFill>
                  <a:schemeClr val="dk2"/>
                </a:solidFill>
                <a:latin typeface="Calibri"/>
              </a:rPr>
              <a:t>En</a:t>
            </a:r>
            <a:r>
              <a:rPr lang="en-US" sz="1500" b="0" strike="noStrike" spc="-1" dirty="0">
                <a:solidFill>
                  <a:schemeClr val="dk2"/>
                </a:solidFill>
                <a:latin typeface="Calibri"/>
              </a:rPr>
              <a:t> </a:t>
            </a:r>
            <a:r>
              <a:rPr lang="en-US" sz="1500" b="0" strike="noStrike" spc="-1" dirty="0" err="1">
                <a:solidFill>
                  <a:schemeClr val="dk2"/>
                </a:solidFill>
                <a:latin typeface="Calibri"/>
              </a:rPr>
              <a:t>verde</a:t>
            </a:r>
            <a:r>
              <a:rPr lang="en-US" sz="1500" b="0" strike="noStrike" spc="-1" dirty="0">
                <a:solidFill>
                  <a:schemeClr val="dk2"/>
                </a:solidFill>
                <a:latin typeface="Calibri"/>
              </a:rPr>
              <a:t>, lo que </a:t>
            </a:r>
            <a:r>
              <a:rPr lang="en-US" sz="1500" b="0" strike="noStrike" spc="-1" dirty="0" err="1">
                <a:solidFill>
                  <a:schemeClr val="dk2"/>
                </a:solidFill>
                <a:latin typeface="Calibri"/>
              </a:rPr>
              <a:t>usa</a:t>
            </a:r>
            <a:r>
              <a:rPr lang="en-US" sz="1500" b="0" strike="noStrike" spc="-1" dirty="0">
                <a:solidFill>
                  <a:schemeClr val="dk2"/>
                </a:solidFill>
                <a:latin typeface="Calibri"/>
              </a:rPr>
              <a:t> </a:t>
            </a:r>
            <a:r>
              <a:rPr lang="en-US" sz="1500" b="0" strike="noStrike" spc="-1" dirty="0" err="1">
                <a:solidFill>
                  <a:schemeClr val="dk2"/>
                </a:solidFill>
                <a:latin typeface="Calibri"/>
              </a:rPr>
              <a:t>nuestro</a:t>
            </a:r>
            <a:r>
              <a:rPr lang="en-US" sz="1500" b="0" strike="noStrike" spc="-1" dirty="0">
                <a:solidFill>
                  <a:schemeClr val="dk2"/>
                </a:solidFill>
                <a:latin typeface="Calibri"/>
              </a:rPr>
              <a:t> </a:t>
            </a:r>
            <a:r>
              <a:rPr lang="en-US" sz="1500" b="0" strike="noStrike" spc="-1" dirty="0" err="1">
                <a:solidFill>
                  <a:schemeClr val="dk2"/>
                </a:solidFill>
                <a:latin typeface="Calibri"/>
              </a:rPr>
              <a:t>programa</a:t>
            </a:r>
            <a:r>
              <a:rPr lang="en-US" sz="1500" b="0" strike="noStrike" spc="-1" dirty="0">
                <a:solidFill>
                  <a:schemeClr val="dk2"/>
                </a:solidFill>
                <a:latin typeface="Calibri"/>
              </a:rPr>
              <a:t>.</a:t>
            </a:r>
            <a:endParaRPr lang="en-US" sz="1500" b="0" strike="noStrike" spc="-1" dirty="0">
              <a:solidFill>
                <a:srgbClr val="000000"/>
              </a:solidFill>
              <a:latin typeface="Arial"/>
            </a:endParaRPr>
          </a:p>
        </p:txBody>
      </p:sp>
      <p:sp>
        <p:nvSpPr>
          <p:cNvPr id="212" name="Shape 10"/>
          <p:cNvSpPr/>
          <p:nvPr/>
        </p:nvSpPr>
        <p:spPr>
          <a:xfrm>
            <a:off x="548640" y="196596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13" name="Text 11"/>
          <p:cNvSpPr/>
          <p:nvPr/>
        </p:nvSpPr>
        <p:spPr>
          <a:xfrm>
            <a:off x="777240" y="196596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add(E e)</a:t>
            </a:r>
            <a:endParaRPr lang="en-US" sz="1400" b="0" strike="noStrike" spc="-1">
              <a:solidFill>
                <a:srgbClr val="000000"/>
              </a:solidFill>
              <a:latin typeface="Arial"/>
            </a:endParaRPr>
          </a:p>
        </p:txBody>
      </p:sp>
      <p:sp>
        <p:nvSpPr>
          <p:cNvPr id="214" name="Text 12"/>
          <p:cNvSpPr/>
          <p:nvPr/>
        </p:nvSpPr>
        <p:spPr>
          <a:xfrm>
            <a:off x="4206240" y="196596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Agrega un elemento al final</a:t>
            </a:r>
            <a:endParaRPr lang="en-US" sz="1400" b="0" strike="noStrike" spc="-1">
              <a:solidFill>
                <a:srgbClr val="000000"/>
              </a:solidFill>
              <a:latin typeface="Arial"/>
            </a:endParaRPr>
          </a:p>
        </p:txBody>
      </p:sp>
      <p:sp>
        <p:nvSpPr>
          <p:cNvPr id="215" name="Shape 13"/>
          <p:cNvSpPr/>
          <p:nvPr/>
        </p:nvSpPr>
        <p:spPr>
          <a:xfrm>
            <a:off x="9418320" y="2057400"/>
            <a:ext cx="2010960" cy="310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16" name="Text 14"/>
          <p:cNvSpPr/>
          <p:nvPr/>
        </p:nvSpPr>
        <p:spPr>
          <a:xfrm>
            <a:off x="9418320" y="205740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lo usa el Gestor</a:t>
            </a:r>
            <a:endParaRPr lang="en-US" sz="1100" b="0" strike="noStrike" spc="-1">
              <a:solidFill>
                <a:srgbClr val="000000"/>
              </a:solidFill>
              <a:latin typeface="Arial"/>
            </a:endParaRPr>
          </a:p>
        </p:txBody>
      </p:sp>
      <p:sp>
        <p:nvSpPr>
          <p:cNvPr id="217" name="Shape 15"/>
          <p:cNvSpPr/>
          <p:nvPr/>
        </p:nvSpPr>
        <p:spPr>
          <a:xfrm>
            <a:off x="548640" y="253296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18" name="Text 16"/>
          <p:cNvSpPr/>
          <p:nvPr/>
        </p:nvSpPr>
        <p:spPr>
          <a:xfrm>
            <a:off x="777240" y="253296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add(E e, int index)</a:t>
            </a:r>
            <a:endParaRPr lang="en-US" sz="1400" b="0" strike="noStrike" spc="-1">
              <a:solidFill>
                <a:srgbClr val="000000"/>
              </a:solidFill>
              <a:latin typeface="Arial"/>
            </a:endParaRPr>
          </a:p>
        </p:txBody>
      </p:sp>
      <p:sp>
        <p:nvSpPr>
          <p:cNvPr id="219" name="Text 17"/>
          <p:cNvSpPr/>
          <p:nvPr/>
        </p:nvSpPr>
        <p:spPr>
          <a:xfrm>
            <a:off x="4206240" y="253296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Agrega en una posición y corre los siguientes</a:t>
            </a:r>
            <a:endParaRPr lang="en-US" sz="1400" b="0" strike="noStrike" spc="-1">
              <a:solidFill>
                <a:srgbClr val="000000"/>
              </a:solidFill>
              <a:latin typeface="Arial"/>
            </a:endParaRPr>
          </a:p>
        </p:txBody>
      </p:sp>
      <p:sp>
        <p:nvSpPr>
          <p:cNvPr id="220" name="Shape 18"/>
          <p:cNvSpPr/>
          <p:nvPr/>
        </p:nvSpPr>
        <p:spPr>
          <a:xfrm>
            <a:off x="9418320" y="2624400"/>
            <a:ext cx="2010960" cy="310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21" name="Text 19"/>
          <p:cNvSpPr/>
          <p:nvPr/>
        </p:nvSpPr>
        <p:spPr>
          <a:xfrm>
            <a:off x="9418320" y="262440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parte del contrato</a:t>
            </a:r>
            <a:endParaRPr lang="en-US" sz="1100" b="0" strike="noStrike" spc="-1">
              <a:solidFill>
                <a:srgbClr val="000000"/>
              </a:solidFill>
              <a:latin typeface="Arial"/>
            </a:endParaRPr>
          </a:p>
        </p:txBody>
      </p:sp>
      <p:sp>
        <p:nvSpPr>
          <p:cNvPr id="222" name="Shape 20"/>
          <p:cNvSpPr/>
          <p:nvPr/>
        </p:nvSpPr>
        <p:spPr>
          <a:xfrm>
            <a:off x="548640" y="309996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23" name="Text 21"/>
          <p:cNvSpPr/>
          <p:nvPr/>
        </p:nvSpPr>
        <p:spPr>
          <a:xfrm>
            <a:off x="777240" y="309996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remove(int index)</a:t>
            </a:r>
            <a:endParaRPr lang="en-US" sz="1400" b="0" strike="noStrike" spc="-1">
              <a:solidFill>
                <a:srgbClr val="000000"/>
              </a:solidFill>
              <a:latin typeface="Arial"/>
            </a:endParaRPr>
          </a:p>
        </p:txBody>
      </p:sp>
      <p:sp>
        <p:nvSpPr>
          <p:cNvPr id="224" name="Text 22"/>
          <p:cNvSpPr/>
          <p:nvPr/>
        </p:nvSpPr>
        <p:spPr>
          <a:xfrm>
            <a:off x="4206240" y="309996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Elimina el de esa posición y lo devuelve</a:t>
            </a:r>
            <a:endParaRPr lang="en-US" sz="1400" b="0" strike="noStrike" spc="-1">
              <a:solidFill>
                <a:srgbClr val="000000"/>
              </a:solidFill>
              <a:latin typeface="Arial"/>
            </a:endParaRPr>
          </a:p>
        </p:txBody>
      </p:sp>
      <p:sp>
        <p:nvSpPr>
          <p:cNvPr id="225" name="Shape 23"/>
          <p:cNvSpPr/>
          <p:nvPr/>
        </p:nvSpPr>
        <p:spPr>
          <a:xfrm>
            <a:off x="9418320" y="3191400"/>
            <a:ext cx="2010960" cy="310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26" name="Text 24"/>
          <p:cNvSpPr/>
          <p:nvPr/>
        </p:nvSpPr>
        <p:spPr>
          <a:xfrm>
            <a:off x="9418320" y="319140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parte del contrato</a:t>
            </a:r>
            <a:endParaRPr lang="en-US" sz="1100" b="0" strike="noStrike" spc="-1">
              <a:solidFill>
                <a:srgbClr val="000000"/>
              </a:solidFill>
              <a:latin typeface="Arial"/>
            </a:endParaRPr>
          </a:p>
        </p:txBody>
      </p:sp>
      <p:sp>
        <p:nvSpPr>
          <p:cNvPr id="227" name="Shape 25"/>
          <p:cNvSpPr/>
          <p:nvPr/>
        </p:nvSpPr>
        <p:spPr>
          <a:xfrm>
            <a:off x="548640" y="366660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28" name="Text 26"/>
          <p:cNvSpPr/>
          <p:nvPr/>
        </p:nvSpPr>
        <p:spPr>
          <a:xfrm>
            <a:off x="777240" y="366660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get(int index)</a:t>
            </a:r>
            <a:endParaRPr lang="en-US" sz="1400" b="0" strike="noStrike" spc="-1">
              <a:solidFill>
                <a:srgbClr val="000000"/>
              </a:solidFill>
              <a:latin typeface="Arial"/>
            </a:endParaRPr>
          </a:p>
        </p:txBody>
      </p:sp>
      <p:sp>
        <p:nvSpPr>
          <p:cNvPr id="229" name="Text 27"/>
          <p:cNvSpPr/>
          <p:nvPr/>
        </p:nvSpPr>
        <p:spPr>
          <a:xfrm>
            <a:off x="4206240" y="366660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Devuelve el elemento de esa posición</a:t>
            </a:r>
            <a:endParaRPr lang="en-US" sz="1400" b="0" strike="noStrike" spc="-1">
              <a:solidFill>
                <a:srgbClr val="000000"/>
              </a:solidFill>
              <a:latin typeface="Arial"/>
            </a:endParaRPr>
          </a:p>
        </p:txBody>
      </p:sp>
      <p:sp>
        <p:nvSpPr>
          <p:cNvPr id="230" name="Shape 28"/>
          <p:cNvSpPr/>
          <p:nvPr/>
        </p:nvSpPr>
        <p:spPr>
          <a:xfrm>
            <a:off x="9418320" y="3758040"/>
            <a:ext cx="2010960" cy="310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31" name="Text 29"/>
          <p:cNvSpPr/>
          <p:nvPr/>
        </p:nvSpPr>
        <p:spPr>
          <a:xfrm>
            <a:off x="9418320" y="375804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lo usa el Gestor</a:t>
            </a:r>
            <a:endParaRPr lang="en-US" sz="1100" b="0" strike="noStrike" spc="-1">
              <a:solidFill>
                <a:srgbClr val="000000"/>
              </a:solidFill>
              <a:latin typeface="Arial"/>
            </a:endParaRPr>
          </a:p>
        </p:txBody>
      </p:sp>
      <p:sp>
        <p:nvSpPr>
          <p:cNvPr id="232" name="Shape 30"/>
          <p:cNvSpPr/>
          <p:nvPr/>
        </p:nvSpPr>
        <p:spPr>
          <a:xfrm>
            <a:off x="548640" y="423360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33" name="Text 31"/>
          <p:cNvSpPr/>
          <p:nvPr/>
        </p:nvSpPr>
        <p:spPr>
          <a:xfrm>
            <a:off x="777240" y="423360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size()</a:t>
            </a:r>
            <a:endParaRPr lang="en-US" sz="1400" b="0" strike="noStrike" spc="-1">
              <a:solidFill>
                <a:srgbClr val="000000"/>
              </a:solidFill>
              <a:latin typeface="Arial"/>
            </a:endParaRPr>
          </a:p>
        </p:txBody>
      </p:sp>
      <p:sp>
        <p:nvSpPr>
          <p:cNvPr id="234" name="Text 32"/>
          <p:cNvSpPr/>
          <p:nvPr/>
        </p:nvSpPr>
        <p:spPr>
          <a:xfrm>
            <a:off x="4206240" y="423360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Devuelve cuántos elementos hay</a:t>
            </a:r>
            <a:endParaRPr lang="en-US" sz="1400" b="0" strike="noStrike" spc="-1">
              <a:solidFill>
                <a:srgbClr val="000000"/>
              </a:solidFill>
              <a:latin typeface="Arial"/>
            </a:endParaRPr>
          </a:p>
        </p:txBody>
      </p:sp>
      <p:sp>
        <p:nvSpPr>
          <p:cNvPr id="235" name="Shape 33"/>
          <p:cNvSpPr/>
          <p:nvPr/>
        </p:nvSpPr>
        <p:spPr>
          <a:xfrm>
            <a:off x="9418320" y="4325040"/>
            <a:ext cx="2010960" cy="310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36" name="Text 34"/>
          <p:cNvSpPr/>
          <p:nvPr/>
        </p:nvSpPr>
        <p:spPr>
          <a:xfrm>
            <a:off x="9418320" y="432504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lo usa el Gestor</a:t>
            </a:r>
            <a:endParaRPr lang="en-US" sz="1100" b="0" strike="noStrike" spc="-1">
              <a:solidFill>
                <a:srgbClr val="000000"/>
              </a:solidFill>
              <a:latin typeface="Arial"/>
            </a:endParaRPr>
          </a:p>
        </p:txBody>
      </p:sp>
      <p:sp>
        <p:nvSpPr>
          <p:cNvPr id="237" name="Shape 35"/>
          <p:cNvSpPr/>
          <p:nvPr/>
        </p:nvSpPr>
        <p:spPr>
          <a:xfrm>
            <a:off x="548640" y="480060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38" name="Text 36"/>
          <p:cNvSpPr/>
          <p:nvPr/>
        </p:nvSpPr>
        <p:spPr>
          <a:xfrm>
            <a:off x="777240" y="480060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clear()</a:t>
            </a:r>
            <a:endParaRPr lang="en-US" sz="1400" b="0" strike="noStrike" spc="-1">
              <a:solidFill>
                <a:srgbClr val="000000"/>
              </a:solidFill>
              <a:latin typeface="Arial"/>
            </a:endParaRPr>
          </a:p>
        </p:txBody>
      </p:sp>
      <p:sp>
        <p:nvSpPr>
          <p:cNvPr id="239" name="Text 37"/>
          <p:cNvSpPr/>
          <p:nvPr/>
        </p:nvSpPr>
        <p:spPr>
          <a:xfrm>
            <a:off x="4206240" y="480060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Vacía la lista y reinicia la capacidad a 10</a:t>
            </a:r>
            <a:endParaRPr lang="en-US" sz="1400" b="0" strike="noStrike" spc="-1">
              <a:solidFill>
                <a:srgbClr val="000000"/>
              </a:solidFill>
              <a:latin typeface="Arial"/>
            </a:endParaRPr>
          </a:p>
        </p:txBody>
      </p:sp>
      <p:sp>
        <p:nvSpPr>
          <p:cNvPr id="240" name="Shape 38"/>
          <p:cNvSpPr/>
          <p:nvPr/>
        </p:nvSpPr>
        <p:spPr>
          <a:xfrm>
            <a:off x="9418320" y="4892040"/>
            <a:ext cx="2010960" cy="310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41" name="Text 39"/>
          <p:cNvSpPr/>
          <p:nvPr/>
        </p:nvSpPr>
        <p:spPr>
          <a:xfrm>
            <a:off x="9418320" y="489204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parte del contrato</a:t>
            </a:r>
            <a:endParaRPr lang="en-US" sz="1100" b="0" strike="noStrike" spc="-1">
              <a:solidFill>
                <a:srgbClr val="000000"/>
              </a:solidFill>
              <a:latin typeface="Arial"/>
            </a:endParaRPr>
          </a:p>
        </p:txBody>
      </p:sp>
      <p:sp>
        <p:nvSpPr>
          <p:cNvPr id="242" name="Shape 40"/>
          <p:cNvSpPr/>
          <p:nvPr/>
        </p:nvSpPr>
        <p:spPr>
          <a:xfrm>
            <a:off x="548640" y="5367600"/>
            <a:ext cx="110908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43" name="Text 41"/>
          <p:cNvSpPr/>
          <p:nvPr/>
        </p:nvSpPr>
        <p:spPr>
          <a:xfrm>
            <a:off x="777240" y="5367600"/>
            <a:ext cx="329112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1"/>
                </a:solidFill>
                <a:latin typeface="Courier New"/>
                <a:ea typeface="Courier New"/>
              </a:rPr>
              <a:t>isEmpty()</a:t>
            </a:r>
            <a:endParaRPr lang="en-US" sz="1400" b="0" strike="noStrike" spc="-1">
              <a:solidFill>
                <a:srgbClr val="000000"/>
              </a:solidFill>
              <a:latin typeface="Arial"/>
            </a:endParaRPr>
          </a:p>
        </p:txBody>
      </p:sp>
      <p:sp>
        <p:nvSpPr>
          <p:cNvPr id="244" name="Text 42"/>
          <p:cNvSpPr/>
          <p:nvPr/>
        </p:nvSpPr>
        <p:spPr>
          <a:xfrm>
            <a:off x="4206240" y="5367600"/>
            <a:ext cx="4937040" cy="493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Dice si la lista está vacía</a:t>
            </a:r>
            <a:endParaRPr lang="en-US" sz="1400" b="0" strike="noStrike" spc="-1">
              <a:solidFill>
                <a:srgbClr val="000000"/>
              </a:solidFill>
              <a:latin typeface="Arial"/>
            </a:endParaRPr>
          </a:p>
        </p:txBody>
      </p:sp>
      <p:sp>
        <p:nvSpPr>
          <p:cNvPr id="245" name="Shape 43"/>
          <p:cNvSpPr/>
          <p:nvPr/>
        </p:nvSpPr>
        <p:spPr>
          <a:xfrm>
            <a:off x="9418320" y="5459040"/>
            <a:ext cx="2010960" cy="310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46" name="Text 44"/>
          <p:cNvSpPr/>
          <p:nvPr/>
        </p:nvSpPr>
        <p:spPr>
          <a:xfrm>
            <a:off x="9418320" y="5459040"/>
            <a:ext cx="201096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lo usa el Gestor</a:t>
            </a:r>
            <a:endParaRPr lang="en-US" sz="1100" b="0" strike="noStrike" spc="-1">
              <a:solidFill>
                <a:srgbClr val="000000"/>
              </a:solidFill>
              <a:latin typeface="Arial"/>
            </a:endParaRPr>
          </a:p>
        </p:txBody>
      </p:sp>
      <p:sp>
        <p:nvSpPr>
          <p:cNvPr id="247" name="PlaceHolder 2"/>
          <p:cNvSpPr>
            <a:spLocks noGrp="1"/>
          </p:cNvSpPr>
          <p:nvPr>
            <p:ph type="sldNum" idx="9"/>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859E8C6D-1823-4851-9D63-CE5EF2DF7A8A}" type="slidenum">
              <a:rPr lang="en-US" sz="1000" b="0" strike="noStrike" spc="-1">
                <a:solidFill>
                  <a:srgbClr val="7A7FA8"/>
                </a:solidFill>
                <a:latin typeface="Calibri"/>
              </a:rPr>
              <a:t>6</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249"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0"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1"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52"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3"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4"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ArrayList&lt;E&gt;: la lista hecha por nosotros</a:t>
            </a:r>
            <a:endParaRPr lang="en-US" sz="3400" b="0" strike="noStrike" spc="-1">
              <a:solidFill>
                <a:schemeClr val="dk1"/>
              </a:solidFill>
              <a:latin typeface="Calibri"/>
            </a:endParaRPr>
          </a:p>
        </p:txBody>
      </p:sp>
      <p:sp>
        <p:nvSpPr>
          <p:cNvPr id="255" name="Shape 7"/>
          <p:cNvSpPr/>
          <p:nvPr/>
        </p:nvSpPr>
        <p:spPr>
          <a:xfrm>
            <a:off x="548640" y="6163200"/>
            <a:ext cx="514728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56" name="Text 8"/>
          <p:cNvSpPr/>
          <p:nvPr/>
        </p:nvSpPr>
        <p:spPr>
          <a:xfrm>
            <a:off x="731520" y="6163200"/>
            <a:ext cx="4872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La lista guarda; falta quien la use: el gestor</a:t>
            </a:r>
            <a:endParaRPr lang="en-US" sz="1300" b="0" strike="noStrike" spc="-1">
              <a:solidFill>
                <a:srgbClr val="000000"/>
              </a:solidFill>
              <a:latin typeface="Arial"/>
            </a:endParaRPr>
          </a:p>
        </p:txBody>
      </p:sp>
      <p:sp>
        <p:nvSpPr>
          <p:cNvPr id="257" name="Shape 9"/>
          <p:cNvSpPr/>
          <p:nvPr/>
        </p:nvSpPr>
        <p:spPr>
          <a:xfrm>
            <a:off x="548640" y="1554480"/>
            <a:ext cx="712440" cy="639360"/>
          </a:xfrm>
          <a:prstGeom prst="roundRect">
            <a:avLst>
              <a:gd name="adj" fmla="val 11429"/>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58" name="Text 10"/>
          <p:cNvSpPr/>
          <p:nvPr/>
        </p:nvSpPr>
        <p:spPr>
          <a:xfrm>
            <a:off x="548640" y="1554480"/>
            <a:ext cx="71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P01</a:t>
            </a:r>
            <a:endParaRPr lang="en-US" sz="1400" b="0" strike="noStrike" spc="-1">
              <a:solidFill>
                <a:srgbClr val="000000"/>
              </a:solidFill>
              <a:latin typeface="Arial"/>
            </a:endParaRPr>
          </a:p>
        </p:txBody>
      </p:sp>
      <p:sp>
        <p:nvSpPr>
          <p:cNvPr id="259" name="Shape 11"/>
          <p:cNvSpPr/>
          <p:nvPr/>
        </p:nvSpPr>
        <p:spPr>
          <a:xfrm>
            <a:off x="1353240" y="1554480"/>
            <a:ext cx="712440" cy="639360"/>
          </a:xfrm>
          <a:prstGeom prst="roundRect">
            <a:avLst>
              <a:gd name="adj" fmla="val 11429"/>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60" name="Text 12"/>
          <p:cNvSpPr/>
          <p:nvPr/>
        </p:nvSpPr>
        <p:spPr>
          <a:xfrm>
            <a:off x="1353240" y="1554480"/>
            <a:ext cx="71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P02</a:t>
            </a:r>
            <a:endParaRPr lang="en-US" sz="1400" b="0" strike="noStrike" spc="-1">
              <a:solidFill>
                <a:srgbClr val="000000"/>
              </a:solidFill>
              <a:latin typeface="Arial"/>
            </a:endParaRPr>
          </a:p>
        </p:txBody>
      </p:sp>
      <p:sp>
        <p:nvSpPr>
          <p:cNvPr id="261" name="Shape 13"/>
          <p:cNvSpPr/>
          <p:nvPr/>
        </p:nvSpPr>
        <p:spPr>
          <a:xfrm>
            <a:off x="2157840" y="1554480"/>
            <a:ext cx="712440" cy="639360"/>
          </a:xfrm>
          <a:prstGeom prst="roundRect">
            <a:avLst>
              <a:gd name="adj" fmla="val 11429"/>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62" name="Text 14"/>
          <p:cNvSpPr/>
          <p:nvPr/>
        </p:nvSpPr>
        <p:spPr>
          <a:xfrm>
            <a:off x="2157840" y="1554480"/>
            <a:ext cx="71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P03</a:t>
            </a:r>
            <a:endParaRPr lang="en-US" sz="1400" b="0" strike="noStrike" spc="-1">
              <a:solidFill>
                <a:srgbClr val="000000"/>
              </a:solidFill>
              <a:latin typeface="Arial"/>
            </a:endParaRPr>
          </a:p>
        </p:txBody>
      </p:sp>
      <p:sp>
        <p:nvSpPr>
          <p:cNvPr id="263" name="Shape 15"/>
          <p:cNvSpPr/>
          <p:nvPr/>
        </p:nvSpPr>
        <p:spPr>
          <a:xfrm>
            <a:off x="2962800" y="1554480"/>
            <a:ext cx="712440" cy="639360"/>
          </a:xfrm>
          <a:prstGeom prst="roundRect">
            <a:avLst>
              <a:gd name="adj" fmla="val 11429"/>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64" name="Text 16"/>
          <p:cNvSpPr/>
          <p:nvPr/>
        </p:nvSpPr>
        <p:spPr>
          <a:xfrm>
            <a:off x="2962800" y="1554480"/>
            <a:ext cx="71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P04</a:t>
            </a:r>
            <a:endParaRPr lang="en-US" sz="1400" b="0" strike="noStrike" spc="-1">
              <a:solidFill>
                <a:srgbClr val="000000"/>
              </a:solidFill>
              <a:latin typeface="Arial"/>
            </a:endParaRPr>
          </a:p>
        </p:txBody>
      </p:sp>
      <p:sp>
        <p:nvSpPr>
          <p:cNvPr id="265" name="Shape 17"/>
          <p:cNvSpPr/>
          <p:nvPr/>
        </p:nvSpPr>
        <p:spPr>
          <a:xfrm>
            <a:off x="376740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66" name="Shape 18"/>
          <p:cNvSpPr/>
          <p:nvPr/>
        </p:nvSpPr>
        <p:spPr>
          <a:xfrm>
            <a:off x="457200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67" name="Shape 19"/>
          <p:cNvSpPr/>
          <p:nvPr/>
        </p:nvSpPr>
        <p:spPr>
          <a:xfrm>
            <a:off x="537660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68" name="Shape 20"/>
          <p:cNvSpPr/>
          <p:nvPr/>
        </p:nvSpPr>
        <p:spPr>
          <a:xfrm>
            <a:off x="618120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69" name="Shape 21"/>
          <p:cNvSpPr/>
          <p:nvPr/>
        </p:nvSpPr>
        <p:spPr>
          <a:xfrm>
            <a:off x="698616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70" name="Shape 22"/>
          <p:cNvSpPr/>
          <p:nvPr/>
        </p:nvSpPr>
        <p:spPr>
          <a:xfrm>
            <a:off x="7790760" y="1554480"/>
            <a:ext cx="712440" cy="639360"/>
          </a:xfrm>
          <a:prstGeom prst="roundRect">
            <a:avLst>
              <a:gd name="adj" fmla="val 1142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71" name="Text 23"/>
          <p:cNvSpPr/>
          <p:nvPr/>
        </p:nvSpPr>
        <p:spPr>
          <a:xfrm>
            <a:off x="8961120" y="1508760"/>
            <a:ext cx="265104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size = 4</a:t>
            </a:r>
            <a:endParaRPr lang="en-US" sz="1200" b="0" strike="noStrike" spc="-1">
              <a:solidFill>
                <a:srgbClr val="000000"/>
              </a:solidFill>
              <a:latin typeface="Arial"/>
            </a:endParaRPr>
          </a:p>
          <a:p>
            <a:pPr defTabSz="914400">
              <a:lnSpc>
                <a:spcPct val="100000"/>
              </a:lnSpc>
              <a:tabLst>
                <a:tab pos="0" algn="l"/>
              </a:tabLst>
            </a:pPr>
            <a:r>
              <a:rPr lang="en-US" sz="1200" b="0" strike="noStrike" spc="-1">
                <a:solidFill>
                  <a:schemeClr val="dk2"/>
                </a:solidFill>
                <a:latin typeface="Calibri"/>
              </a:rPr>
              <a:t>cuántos hay</a:t>
            </a:r>
            <a:endParaRPr lang="en-US" sz="1200" b="0" strike="noStrike" spc="-1">
              <a:solidFill>
                <a:srgbClr val="000000"/>
              </a:solidFill>
              <a:latin typeface="Arial"/>
            </a:endParaRPr>
          </a:p>
          <a:p>
            <a:pPr defTabSz="914400">
              <a:lnSpc>
                <a:spcPct val="100000"/>
              </a:lnSpc>
              <a:tabLst>
                <a:tab pos="0" algn="l"/>
              </a:tabLst>
            </a:pPr>
            <a:r>
              <a:rPr lang="en-US" sz="1200" b="1" strike="noStrike" spc="-1">
                <a:solidFill>
                  <a:schemeClr val="accent1"/>
                </a:solidFill>
                <a:latin typeface="Calibri"/>
              </a:rPr>
              <a:t>capacity = 10</a:t>
            </a:r>
            <a:endParaRPr lang="en-US" sz="1200" b="0" strike="noStrike" spc="-1">
              <a:solidFill>
                <a:srgbClr val="000000"/>
              </a:solidFill>
              <a:latin typeface="Arial"/>
            </a:endParaRPr>
          </a:p>
          <a:p>
            <a:pPr defTabSz="914400">
              <a:lnSpc>
                <a:spcPct val="100000"/>
              </a:lnSpc>
              <a:tabLst>
                <a:tab pos="0" algn="l"/>
              </a:tabLst>
            </a:pPr>
            <a:r>
              <a:rPr lang="en-US" sz="1200" b="0" strike="noStrike" spc="-1">
                <a:solidFill>
                  <a:schemeClr val="dk2"/>
                </a:solidFill>
                <a:latin typeface="Calibri"/>
              </a:rPr>
              <a:t>cuántos caben</a:t>
            </a:r>
            <a:endParaRPr lang="en-US" sz="1200" b="0" strike="noStrike" spc="-1">
              <a:solidFill>
                <a:srgbClr val="000000"/>
              </a:solidFill>
              <a:latin typeface="Arial"/>
            </a:endParaRPr>
          </a:p>
        </p:txBody>
      </p:sp>
      <p:sp>
        <p:nvSpPr>
          <p:cNvPr id="272" name="Shape 24"/>
          <p:cNvSpPr/>
          <p:nvPr/>
        </p:nvSpPr>
        <p:spPr>
          <a:xfrm>
            <a:off x="548640" y="2514600"/>
            <a:ext cx="5394240" cy="2453040"/>
          </a:xfrm>
          <a:prstGeom prst="roundRect">
            <a:avLst>
              <a:gd name="adj" fmla="val 4472"/>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73" name="Text 25"/>
          <p:cNvSpPr/>
          <p:nvPr/>
        </p:nvSpPr>
        <p:spPr>
          <a:xfrm>
            <a:off x="777240" y="2660760"/>
            <a:ext cx="4937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ArrayList.java · atributos y constructor</a:t>
            </a:r>
            <a:endParaRPr lang="en-US" sz="1100" b="0" strike="noStrike" spc="-1">
              <a:solidFill>
                <a:srgbClr val="000000"/>
              </a:solidFill>
              <a:latin typeface="Arial"/>
            </a:endParaRPr>
          </a:p>
        </p:txBody>
      </p:sp>
      <p:sp>
        <p:nvSpPr>
          <p:cNvPr id="274" name="Text 26"/>
          <p:cNvSpPr/>
          <p:nvPr/>
        </p:nvSpPr>
        <p:spPr>
          <a:xfrm>
            <a:off x="777240" y="3017520"/>
            <a:ext cx="5028480" cy="176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dirty="0">
                <a:solidFill>
                  <a:schemeClr val="lt1"/>
                </a:solidFill>
                <a:latin typeface="Courier New"/>
                <a:ea typeface="Courier New"/>
              </a:rPr>
              <a:t>public class </a:t>
            </a:r>
            <a:r>
              <a:rPr lang="en-US" sz="1100" b="0" strike="noStrike" spc="-1" dirty="0" err="1">
                <a:solidFill>
                  <a:schemeClr val="lt1"/>
                </a:solidFill>
                <a:latin typeface="Courier New"/>
                <a:ea typeface="Courier New"/>
              </a:rPr>
              <a:t>ArrayList</a:t>
            </a:r>
            <a:r>
              <a:rPr lang="en-US" sz="1100" b="0" strike="noStrike" spc="-1" dirty="0">
                <a:solidFill>
                  <a:schemeClr val="lt1"/>
                </a:solidFill>
                <a:latin typeface="Courier New"/>
                <a:ea typeface="Courier New"/>
              </a:rPr>
              <a:t>&lt;E&gt; implements List&lt;E&gt; {</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private Object[] items;  </a:t>
            </a:r>
            <a:r>
              <a:rPr lang="en-US" sz="1100" b="0" strike="noStrike" spc="-1" dirty="0">
                <a:solidFill>
                  <a:schemeClr val="accent6"/>
                </a:solidFill>
                <a:latin typeface="Courier New"/>
                <a:ea typeface="Courier New"/>
              </a:rPr>
              <a:t> // </a:t>
            </a:r>
            <a:r>
              <a:rPr lang="en-US" sz="1100" spc="-1" dirty="0" err="1" smtClean="0">
                <a:solidFill>
                  <a:schemeClr val="accent6"/>
                </a:solidFill>
                <a:latin typeface="Courier New"/>
                <a:ea typeface="Courier New"/>
              </a:rPr>
              <a:t>arreglo</a:t>
            </a:r>
            <a:r>
              <a:rPr lang="en-US" sz="1100" spc="-1" dirty="0" smtClean="0">
                <a:solidFill>
                  <a:schemeClr val="accent6"/>
                </a:solidFill>
                <a:latin typeface="Courier New"/>
                <a:ea typeface="Courier New"/>
              </a:rPr>
              <a:t> de </a:t>
            </a:r>
            <a:r>
              <a:rPr lang="en-US" sz="1100" spc="-1" dirty="0" err="1" smtClean="0">
                <a:solidFill>
                  <a:schemeClr val="accent6"/>
                </a:solidFill>
                <a:latin typeface="Courier New"/>
                <a:ea typeface="Courier New"/>
              </a:rPr>
              <a:t>objetos</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private </a:t>
            </a:r>
            <a:r>
              <a:rPr lang="en-US" sz="1100" b="0" strike="noStrike" spc="-1" dirty="0" err="1">
                <a:solidFill>
                  <a:schemeClr val="lt1"/>
                </a:solidFill>
                <a:latin typeface="Courier New"/>
                <a:ea typeface="Courier New"/>
              </a:rPr>
              <a:t>int</a:t>
            </a:r>
            <a:r>
              <a:rPr lang="en-US" sz="1100" b="0" strike="noStrike" spc="-1" dirty="0">
                <a:solidFill>
                  <a:schemeClr val="lt1"/>
                </a:solidFill>
                <a:latin typeface="Courier New"/>
                <a:ea typeface="Courier New"/>
              </a:rPr>
              <a:t> size;        </a:t>
            </a:r>
            <a:r>
              <a:rPr lang="en-US" sz="1100" b="0" strike="noStrike" spc="-1" dirty="0">
                <a:solidFill>
                  <a:schemeClr val="accent6"/>
                </a:solidFill>
                <a:latin typeface="Courier New"/>
                <a:ea typeface="Courier New"/>
              </a:rPr>
              <a:t> // </a:t>
            </a:r>
            <a:r>
              <a:rPr lang="en-US" sz="1100" spc="-1" dirty="0" err="1" smtClean="0">
                <a:solidFill>
                  <a:schemeClr val="accent6"/>
                </a:solidFill>
                <a:latin typeface="Courier New"/>
                <a:ea typeface="Courier New"/>
              </a:rPr>
              <a:t>contador</a:t>
            </a:r>
            <a:r>
              <a:rPr lang="en-US" sz="1100" spc="-1" dirty="0" smtClean="0">
                <a:solidFill>
                  <a:schemeClr val="accent6"/>
                </a:solidFill>
                <a:latin typeface="Courier New"/>
                <a:ea typeface="Courier New"/>
              </a:rPr>
              <a:t> de tama</a:t>
            </a:r>
            <a:r>
              <a:rPr lang="es-ES" sz="1100" spc="-1" dirty="0" smtClean="0">
                <a:solidFill>
                  <a:schemeClr val="accent6"/>
                </a:solidFill>
                <a:latin typeface="Courier New"/>
                <a:ea typeface="Courier New"/>
              </a:rPr>
              <a:t>ñ</a:t>
            </a:r>
            <a:r>
              <a:rPr lang="pt-PT" sz="1100" spc="-1" dirty="0" smtClean="0">
                <a:solidFill>
                  <a:schemeClr val="accent6"/>
                </a:solidFill>
                <a:latin typeface="Courier New"/>
                <a:ea typeface="Courier New"/>
              </a:rPr>
              <a:t>o</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private </a:t>
            </a:r>
            <a:r>
              <a:rPr lang="en-US" sz="1100" b="0" strike="noStrike" spc="-1" dirty="0" err="1">
                <a:solidFill>
                  <a:schemeClr val="lt1"/>
                </a:solidFill>
                <a:latin typeface="Courier New"/>
                <a:ea typeface="Courier New"/>
              </a:rPr>
              <a:t>int</a:t>
            </a:r>
            <a:r>
              <a:rPr lang="en-US" sz="1100" b="0" strike="noStrike" spc="-1" dirty="0">
                <a:solidFill>
                  <a:schemeClr val="lt1"/>
                </a:solidFill>
                <a:latin typeface="Courier New"/>
                <a:ea typeface="Courier New"/>
              </a:rPr>
              <a:t> capacity;    </a:t>
            </a:r>
            <a:r>
              <a:rPr lang="en-US" sz="1100" b="0" strike="noStrike" spc="-1" dirty="0">
                <a:solidFill>
                  <a:schemeClr val="accent6"/>
                </a:solidFill>
                <a:latin typeface="Courier New"/>
                <a:ea typeface="Courier New"/>
              </a:rPr>
              <a:t> // </a:t>
            </a:r>
            <a:r>
              <a:rPr lang="en-US" sz="1100" spc="-1" dirty="0" err="1" smtClean="0">
                <a:solidFill>
                  <a:schemeClr val="accent6"/>
                </a:solidFill>
                <a:latin typeface="Courier New"/>
                <a:ea typeface="Courier New"/>
              </a:rPr>
              <a:t>capcidad</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public </a:t>
            </a:r>
            <a:r>
              <a:rPr lang="en-US" sz="1100" b="0" strike="noStrike" spc="-1" dirty="0" err="1">
                <a:solidFill>
                  <a:schemeClr val="lt1"/>
                </a:solidFill>
                <a:latin typeface="Courier New"/>
                <a:ea typeface="Courier New"/>
              </a:rPr>
              <a:t>ArrayList</a:t>
            </a:r>
            <a:r>
              <a:rPr lang="en-US" sz="1100" b="0" strike="noStrike" spc="-1" dirty="0">
                <a:solidFill>
                  <a:schemeClr val="lt1"/>
                </a:solidFill>
                <a:latin typeface="Courier New"/>
                <a:ea typeface="Courier New"/>
              </a:rPr>
              <a:t>() {</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a:t>
            </a:r>
            <a:r>
              <a:rPr lang="en-US" sz="1100" b="0" strike="noStrike" spc="-1" dirty="0" err="1">
                <a:solidFill>
                  <a:schemeClr val="lt1"/>
                </a:solidFill>
                <a:latin typeface="Courier New"/>
                <a:ea typeface="Courier New"/>
              </a:rPr>
              <a:t>this.size</a:t>
            </a:r>
            <a:r>
              <a:rPr lang="en-US" sz="1100" b="0" strike="noStrike" spc="-1" dirty="0">
                <a:solidFill>
                  <a:schemeClr val="lt1"/>
                </a:solidFill>
                <a:latin typeface="Courier New"/>
                <a:ea typeface="Courier New"/>
              </a:rPr>
              <a:t> = 0;</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a:t>
            </a:r>
            <a:r>
              <a:rPr lang="en-US" sz="1100" b="0" strike="noStrike" spc="-1" dirty="0" err="1">
                <a:solidFill>
                  <a:schemeClr val="lt1"/>
                </a:solidFill>
                <a:latin typeface="Courier New"/>
                <a:ea typeface="Courier New"/>
              </a:rPr>
              <a:t>this.capacity</a:t>
            </a:r>
            <a:r>
              <a:rPr lang="en-US" sz="1100" b="0" strike="noStrike" spc="-1" dirty="0">
                <a:solidFill>
                  <a:schemeClr val="lt1"/>
                </a:solidFill>
                <a:latin typeface="Courier New"/>
                <a:ea typeface="Courier New"/>
              </a:rPr>
              <a:t> = 10;</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a:t>
            </a:r>
            <a:r>
              <a:rPr lang="en-US" sz="1100" b="0" strike="noStrike" spc="-1" dirty="0" err="1">
                <a:solidFill>
                  <a:schemeClr val="lt1"/>
                </a:solidFill>
                <a:latin typeface="Courier New"/>
                <a:ea typeface="Courier New"/>
              </a:rPr>
              <a:t>this.items</a:t>
            </a:r>
            <a:r>
              <a:rPr lang="en-US" sz="1100" b="0" strike="noStrike" spc="-1" dirty="0">
                <a:solidFill>
                  <a:schemeClr val="lt1"/>
                </a:solidFill>
                <a:latin typeface="Courier New"/>
                <a:ea typeface="Courier New"/>
              </a:rPr>
              <a:t> = new Object[capacity];</a:t>
            </a:r>
            <a:endParaRPr lang="en-US" sz="1100" b="0" strike="noStrike" spc="-1" dirty="0">
              <a:solidFill>
                <a:srgbClr val="000000"/>
              </a:solidFill>
              <a:latin typeface="Arial"/>
            </a:endParaRPr>
          </a:p>
          <a:p>
            <a:pPr defTabSz="914400">
              <a:lnSpc>
                <a:spcPct val="100000"/>
              </a:lnSpc>
              <a:tabLst>
                <a:tab pos="0" algn="l"/>
              </a:tabLst>
            </a:pPr>
            <a:r>
              <a:rPr lang="en-US" sz="1100" b="0" strike="noStrike" spc="-1" dirty="0">
                <a:solidFill>
                  <a:schemeClr val="lt1"/>
                </a:solidFill>
                <a:latin typeface="Courier New"/>
                <a:ea typeface="Courier New"/>
              </a:rPr>
              <a:t>    }</a:t>
            </a:r>
            <a:endParaRPr lang="en-US" sz="1100" b="0" strike="noStrike" spc="-1" dirty="0">
              <a:solidFill>
                <a:srgbClr val="000000"/>
              </a:solidFill>
              <a:latin typeface="Arial"/>
            </a:endParaRPr>
          </a:p>
        </p:txBody>
      </p:sp>
      <p:sp>
        <p:nvSpPr>
          <p:cNvPr id="275" name="Shape 27"/>
          <p:cNvSpPr/>
          <p:nvPr/>
        </p:nvSpPr>
        <p:spPr>
          <a:xfrm>
            <a:off x="6217920" y="2514600"/>
            <a:ext cx="5421600" cy="2453040"/>
          </a:xfrm>
          <a:prstGeom prst="roundRect">
            <a:avLst>
              <a:gd name="adj" fmla="val 4472"/>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76" name="Text 28"/>
          <p:cNvSpPr/>
          <p:nvPr/>
        </p:nvSpPr>
        <p:spPr>
          <a:xfrm>
            <a:off x="6446520" y="2660760"/>
            <a:ext cx="4964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ArrayList.java · cuando se llena</a:t>
            </a:r>
            <a:endParaRPr lang="en-US" sz="1100" b="0" strike="noStrike" spc="-1">
              <a:solidFill>
                <a:srgbClr val="000000"/>
              </a:solidFill>
              <a:latin typeface="Arial"/>
            </a:endParaRPr>
          </a:p>
        </p:txBody>
      </p:sp>
      <p:sp>
        <p:nvSpPr>
          <p:cNvPr id="277" name="Text 29"/>
          <p:cNvSpPr/>
          <p:nvPr/>
        </p:nvSpPr>
        <p:spPr>
          <a:xfrm>
            <a:off x="6446520" y="3017520"/>
            <a:ext cx="5055840" cy="176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protected boolean isFull()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return capacity == size;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protected void Expand()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Object[] aux = new Object[capacity + 10];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System.arraycopy(items, 0, aux, 0, size);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capacity += 10;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items = aux;</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278" name="Shape 30"/>
          <p:cNvSpPr/>
          <p:nvPr/>
        </p:nvSpPr>
        <p:spPr>
          <a:xfrm>
            <a:off x="548640" y="5212080"/>
            <a:ext cx="5394240" cy="730800"/>
          </a:xfrm>
          <a:prstGeom prst="roundRect">
            <a:avLst>
              <a:gd name="adj" fmla="val 15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79" name="Text 31"/>
          <p:cNvSpPr/>
          <p:nvPr/>
        </p:nvSpPr>
        <p:spPr>
          <a:xfrm>
            <a:off x="777240" y="5212080"/>
            <a:ext cx="4982760" cy="73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Dato: </a:t>
            </a:r>
            <a:r>
              <a:rPr lang="en-US" sz="1300" b="0" strike="noStrike" spc="-1">
                <a:solidFill>
                  <a:schemeClr val="dk1"/>
                </a:solidFill>
                <a:latin typeface="Calibri"/>
              </a:rPr>
              <a:t>items es un Object[] porque Java no deja crear un arreglo genérico con new E[n].</a:t>
            </a:r>
            <a:endParaRPr lang="en-US" sz="1300" b="0" strike="noStrike" spc="-1">
              <a:solidFill>
                <a:srgbClr val="000000"/>
              </a:solidFill>
              <a:latin typeface="Arial"/>
            </a:endParaRPr>
          </a:p>
        </p:txBody>
      </p:sp>
      <p:sp>
        <p:nvSpPr>
          <p:cNvPr id="280" name="Shape 32"/>
          <p:cNvSpPr/>
          <p:nvPr/>
        </p:nvSpPr>
        <p:spPr>
          <a:xfrm>
            <a:off x="6217920" y="5212080"/>
            <a:ext cx="5421600" cy="730800"/>
          </a:xfrm>
          <a:prstGeom prst="roundRect">
            <a:avLst>
              <a:gd name="adj" fmla="val 15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81" name="Text 33"/>
          <p:cNvSpPr/>
          <p:nvPr/>
        </p:nvSpPr>
        <p:spPr>
          <a:xfrm>
            <a:off x="6446520" y="5212080"/>
            <a:ext cx="5028480" cy="73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Crece de 10 en 10: </a:t>
            </a:r>
            <a:r>
              <a:rPr lang="en-US" sz="1300" b="0" strike="noStrike" spc="-1">
                <a:solidFill>
                  <a:schemeClr val="dk1"/>
                </a:solidFill>
                <a:latin typeface="Calibri"/>
              </a:rPr>
              <a:t>al agregar el producto 11, capacity pasa de 10 a 20.</a:t>
            </a:r>
            <a:endParaRPr lang="en-US" sz="1300" b="0" strike="noStrike" spc="-1">
              <a:solidFill>
                <a:srgbClr val="000000"/>
              </a:solidFill>
              <a:latin typeface="Arial"/>
            </a:endParaRPr>
          </a:p>
        </p:txBody>
      </p:sp>
      <p:sp>
        <p:nvSpPr>
          <p:cNvPr id="282" name="PlaceHolder 2"/>
          <p:cNvSpPr>
            <a:spLocks noGrp="1"/>
          </p:cNvSpPr>
          <p:nvPr>
            <p:ph type="sldNum" idx="10"/>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B01B7717-9F82-4617-81A1-63CE561FB2AA}" type="slidenum">
              <a:rPr lang="en-US" sz="1000" b="0" strike="noStrike" spc="-1">
                <a:solidFill>
                  <a:srgbClr val="7A7FA8"/>
                </a:solidFill>
                <a:latin typeface="Calibri"/>
              </a:rPr>
              <a:t>7</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284"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85"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86"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87"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88"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89"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GestorTechMarket: el cerebro</a:t>
            </a:r>
            <a:endParaRPr lang="en-US" sz="3400" b="0" strike="noStrike" spc="-1">
              <a:solidFill>
                <a:schemeClr val="dk1"/>
              </a:solidFill>
              <a:latin typeface="Calibri"/>
            </a:endParaRPr>
          </a:p>
        </p:txBody>
      </p:sp>
      <p:sp>
        <p:nvSpPr>
          <p:cNvPr id="290" name="Shape 7"/>
          <p:cNvSpPr/>
          <p:nvPr/>
        </p:nvSpPr>
        <p:spPr>
          <a:xfrm>
            <a:off x="548640" y="6163200"/>
            <a:ext cx="543528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91" name="Text 8"/>
          <p:cNvSpPr/>
          <p:nvPr/>
        </p:nvSpPr>
        <p:spPr>
          <a:xfrm>
            <a:off x="731520" y="6163200"/>
            <a:ext cx="5160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Siguiente: la funcionalidad 1, filtrar por precio</a:t>
            </a:r>
            <a:endParaRPr lang="en-US" sz="1300" b="0" strike="noStrike" spc="-1">
              <a:solidFill>
                <a:srgbClr val="000000"/>
              </a:solidFill>
              <a:latin typeface="Arial"/>
            </a:endParaRPr>
          </a:p>
        </p:txBody>
      </p:sp>
      <p:sp>
        <p:nvSpPr>
          <p:cNvPr id="292" name="Shape 9"/>
          <p:cNvSpPr/>
          <p:nvPr/>
        </p:nvSpPr>
        <p:spPr>
          <a:xfrm>
            <a:off x="548640" y="1554480"/>
            <a:ext cx="5485680" cy="4434120"/>
          </a:xfrm>
          <a:prstGeom prst="roundRect">
            <a:avLst>
              <a:gd name="adj" fmla="val 2474"/>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93" name="Text 10"/>
          <p:cNvSpPr/>
          <p:nvPr/>
        </p:nvSpPr>
        <p:spPr>
          <a:xfrm>
            <a:off x="777240" y="1691640"/>
            <a:ext cx="50284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800" b="1" strike="noStrike" spc="-1">
                <a:solidFill>
                  <a:schemeClr val="accent1"/>
                </a:solidFill>
                <a:latin typeface="Calibri"/>
              </a:rPr>
              <a:t>GestorTechMarket</a:t>
            </a:r>
            <a:endParaRPr lang="en-US" sz="1800" b="0" strike="noStrike" spc="-1">
              <a:solidFill>
                <a:srgbClr val="000000"/>
              </a:solidFill>
              <a:latin typeface="Arial"/>
            </a:endParaRPr>
          </a:p>
        </p:txBody>
      </p:sp>
      <p:sp>
        <p:nvSpPr>
          <p:cNvPr id="294" name="Shape 11"/>
          <p:cNvSpPr/>
          <p:nvPr/>
        </p:nvSpPr>
        <p:spPr>
          <a:xfrm>
            <a:off x="777240" y="2148840"/>
            <a:ext cx="5028480" cy="502200"/>
          </a:xfrm>
          <a:prstGeom prst="roundRect">
            <a:avLst>
              <a:gd name="adj" fmla="val 21818"/>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295" name="Text 12"/>
          <p:cNvSpPr/>
          <p:nvPr/>
        </p:nvSpPr>
        <p:spPr>
          <a:xfrm>
            <a:off x="777240" y="2148840"/>
            <a:ext cx="50284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ourier New"/>
                <a:ea typeface="Courier New"/>
              </a:rPr>
              <a:t>productos : ArrayList&lt;Producto&gt;</a:t>
            </a:r>
            <a:endParaRPr lang="en-US" sz="1300" b="0" strike="noStrike" spc="-1">
              <a:solidFill>
                <a:srgbClr val="000000"/>
              </a:solidFill>
              <a:latin typeface="Arial"/>
            </a:endParaRPr>
          </a:p>
        </p:txBody>
      </p:sp>
      <p:sp>
        <p:nvSpPr>
          <p:cNvPr id="296" name="Text 13"/>
          <p:cNvSpPr/>
          <p:nvPr/>
        </p:nvSpPr>
        <p:spPr>
          <a:xfrm>
            <a:off x="777240" y="2834640"/>
            <a:ext cx="5028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strike="noStrike" spc="-1">
                <a:solidFill>
                  <a:schemeClr val="dk1"/>
                </a:solidFill>
                <a:latin typeface="Calibri"/>
              </a:rPr>
              <a:t>Las 5 funcionalidades</a:t>
            </a:r>
            <a:endParaRPr lang="en-US" sz="1300" b="0" strike="noStrike" spc="-1">
              <a:solidFill>
                <a:srgbClr val="000000"/>
              </a:solidFill>
              <a:latin typeface="Arial"/>
            </a:endParaRPr>
          </a:p>
        </p:txBody>
      </p:sp>
      <p:sp>
        <p:nvSpPr>
          <p:cNvPr id="297" name="Shape 14"/>
          <p:cNvSpPr/>
          <p:nvPr/>
        </p:nvSpPr>
        <p:spPr>
          <a:xfrm>
            <a:off x="777240" y="3154680"/>
            <a:ext cx="2468160" cy="38340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298" name="Text 15"/>
          <p:cNvSpPr/>
          <p:nvPr/>
        </p:nvSpPr>
        <p:spPr>
          <a:xfrm>
            <a:off x="777240" y="3154680"/>
            <a:ext cx="24681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lt1"/>
                </a:solidFill>
                <a:latin typeface="Courier New"/>
                <a:ea typeface="Courier New"/>
              </a:rPr>
              <a:t>filtrarPorRangoPrecio</a:t>
            </a:r>
            <a:endParaRPr lang="en-US" sz="1100" b="0" strike="noStrike" spc="-1">
              <a:solidFill>
                <a:srgbClr val="000000"/>
              </a:solidFill>
              <a:latin typeface="Arial"/>
            </a:endParaRPr>
          </a:p>
        </p:txBody>
      </p:sp>
      <p:sp>
        <p:nvSpPr>
          <p:cNvPr id="299" name="Shape 16"/>
          <p:cNvSpPr/>
          <p:nvPr/>
        </p:nvSpPr>
        <p:spPr>
          <a:xfrm>
            <a:off x="3337560" y="3154680"/>
            <a:ext cx="2468160" cy="38340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00" name="Text 17"/>
          <p:cNvSpPr/>
          <p:nvPr/>
        </p:nvSpPr>
        <p:spPr>
          <a:xfrm>
            <a:off x="3337560" y="3154680"/>
            <a:ext cx="24681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lt1"/>
                </a:solidFill>
                <a:latin typeface="Courier New"/>
                <a:ea typeface="Courier New"/>
              </a:rPr>
              <a:t>aplicarDescuentoMarca</a:t>
            </a:r>
            <a:endParaRPr lang="en-US" sz="1100" b="0" strike="noStrike" spc="-1">
              <a:solidFill>
                <a:srgbClr val="000000"/>
              </a:solidFill>
              <a:latin typeface="Arial"/>
            </a:endParaRPr>
          </a:p>
        </p:txBody>
      </p:sp>
      <p:sp>
        <p:nvSpPr>
          <p:cNvPr id="301" name="Shape 18"/>
          <p:cNvSpPr/>
          <p:nvPr/>
        </p:nvSpPr>
        <p:spPr>
          <a:xfrm>
            <a:off x="777240" y="3611880"/>
            <a:ext cx="2468160" cy="38340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02" name="Text 19"/>
          <p:cNvSpPr/>
          <p:nvPr/>
        </p:nvSpPr>
        <p:spPr>
          <a:xfrm>
            <a:off x="777240" y="3611880"/>
            <a:ext cx="24681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lt1"/>
                </a:solidFill>
                <a:latin typeface="Courier New"/>
                <a:ea typeface="Courier New"/>
              </a:rPr>
              <a:t>buscarProductoBarato</a:t>
            </a:r>
            <a:endParaRPr lang="en-US" sz="1100" b="0" strike="noStrike" spc="-1">
              <a:solidFill>
                <a:srgbClr val="000000"/>
              </a:solidFill>
              <a:latin typeface="Arial"/>
            </a:endParaRPr>
          </a:p>
        </p:txBody>
      </p:sp>
      <p:sp>
        <p:nvSpPr>
          <p:cNvPr id="303" name="Shape 20"/>
          <p:cNvSpPr/>
          <p:nvPr/>
        </p:nvSpPr>
        <p:spPr>
          <a:xfrm>
            <a:off x="3337560" y="3611880"/>
            <a:ext cx="2468160" cy="38340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04" name="Text 21"/>
          <p:cNvSpPr/>
          <p:nvPr/>
        </p:nvSpPr>
        <p:spPr>
          <a:xfrm>
            <a:off x="3337560" y="3611880"/>
            <a:ext cx="24681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lt1"/>
                </a:solidFill>
                <a:latin typeface="Courier New"/>
                <a:ea typeface="Courier New"/>
              </a:rPr>
              <a:t>reponerStockProducto</a:t>
            </a:r>
            <a:endParaRPr lang="en-US" sz="1100" b="0" strike="noStrike" spc="-1">
              <a:solidFill>
                <a:srgbClr val="000000"/>
              </a:solidFill>
              <a:latin typeface="Arial"/>
            </a:endParaRPr>
          </a:p>
        </p:txBody>
      </p:sp>
      <p:sp>
        <p:nvSpPr>
          <p:cNvPr id="305" name="Shape 22"/>
          <p:cNvSpPr/>
          <p:nvPr/>
        </p:nvSpPr>
        <p:spPr>
          <a:xfrm>
            <a:off x="777240" y="4069080"/>
            <a:ext cx="2468160" cy="38340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06" name="Text 23"/>
          <p:cNvSpPr/>
          <p:nvPr/>
        </p:nvSpPr>
        <p:spPr>
          <a:xfrm>
            <a:off x="777240" y="4069080"/>
            <a:ext cx="24681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lt1"/>
                </a:solidFill>
                <a:latin typeface="Courier New"/>
                <a:ea typeface="Courier New"/>
              </a:rPr>
              <a:t>promedioPrecioPorMarca</a:t>
            </a:r>
            <a:endParaRPr lang="en-US" sz="1100" b="0" strike="noStrike" spc="-1">
              <a:solidFill>
                <a:srgbClr val="000000"/>
              </a:solidFill>
              <a:latin typeface="Arial"/>
            </a:endParaRPr>
          </a:p>
        </p:txBody>
      </p:sp>
      <p:sp>
        <p:nvSpPr>
          <p:cNvPr id="307" name="Text 24"/>
          <p:cNvSpPr/>
          <p:nvPr/>
        </p:nvSpPr>
        <p:spPr>
          <a:xfrm>
            <a:off x="777240" y="4663440"/>
            <a:ext cx="5028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strike="noStrike" spc="-1">
                <a:solidFill>
                  <a:schemeClr val="dk1"/>
                </a:solidFill>
                <a:latin typeface="Calibri"/>
              </a:rPr>
              <a:t>Las que ayudan</a:t>
            </a:r>
            <a:endParaRPr lang="en-US" sz="1300" b="0" strike="noStrike" spc="-1">
              <a:solidFill>
                <a:srgbClr val="000000"/>
              </a:solidFill>
              <a:latin typeface="Arial"/>
            </a:endParaRPr>
          </a:p>
        </p:txBody>
      </p:sp>
      <p:sp>
        <p:nvSpPr>
          <p:cNvPr id="308" name="Shape 25"/>
          <p:cNvSpPr/>
          <p:nvPr/>
        </p:nvSpPr>
        <p:spPr>
          <a:xfrm>
            <a:off x="777240" y="5029200"/>
            <a:ext cx="1599480" cy="38340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09" name="Text 26"/>
          <p:cNvSpPr/>
          <p:nvPr/>
        </p:nvSpPr>
        <p:spPr>
          <a:xfrm>
            <a:off x="777240" y="5029200"/>
            <a:ext cx="1599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dk1"/>
                </a:solidFill>
                <a:latin typeface="Courier New"/>
                <a:ea typeface="Courier New"/>
              </a:rPr>
              <a:t>buscarPorId</a:t>
            </a:r>
            <a:endParaRPr lang="en-US" sz="1100" b="0" strike="noStrike" spc="-1">
              <a:solidFill>
                <a:srgbClr val="000000"/>
              </a:solidFill>
              <a:latin typeface="Arial"/>
            </a:endParaRPr>
          </a:p>
        </p:txBody>
      </p:sp>
      <p:sp>
        <p:nvSpPr>
          <p:cNvPr id="310" name="Shape 27"/>
          <p:cNvSpPr/>
          <p:nvPr/>
        </p:nvSpPr>
        <p:spPr>
          <a:xfrm>
            <a:off x="2468880" y="5029200"/>
            <a:ext cx="1599480" cy="38340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11" name="Text 28"/>
          <p:cNvSpPr/>
          <p:nvPr/>
        </p:nvSpPr>
        <p:spPr>
          <a:xfrm>
            <a:off x="2468880" y="5029200"/>
            <a:ext cx="1599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dk1"/>
                </a:solidFill>
                <a:latin typeface="Courier New"/>
                <a:ea typeface="Courier New"/>
              </a:rPr>
              <a:t>mostrarProductos</a:t>
            </a:r>
            <a:endParaRPr lang="en-US" sz="1100" b="0" strike="noStrike" spc="-1">
              <a:solidFill>
                <a:srgbClr val="000000"/>
              </a:solidFill>
              <a:latin typeface="Arial"/>
            </a:endParaRPr>
          </a:p>
        </p:txBody>
      </p:sp>
      <p:sp>
        <p:nvSpPr>
          <p:cNvPr id="312" name="Shape 29"/>
          <p:cNvSpPr/>
          <p:nvPr/>
        </p:nvSpPr>
        <p:spPr>
          <a:xfrm>
            <a:off x="4160520" y="5029200"/>
            <a:ext cx="1599480" cy="38340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13" name="Text 30"/>
          <p:cNvSpPr/>
          <p:nvPr/>
        </p:nvSpPr>
        <p:spPr>
          <a:xfrm>
            <a:off x="4160520" y="5029200"/>
            <a:ext cx="1599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strike="noStrike" spc="-1">
                <a:solidFill>
                  <a:schemeClr val="dk1"/>
                </a:solidFill>
                <a:latin typeface="Courier New"/>
                <a:ea typeface="Courier New"/>
              </a:rPr>
              <a:t>validar...</a:t>
            </a:r>
            <a:endParaRPr lang="en-US" sz="1100" b="0" strike="noStrike" spc="-1">
              <a:solidFill>
                <a:srgbClr val="000000"/>
              </a:solidFill>
              <a:latin typeface="Arial"/>
            </a:endParaRPr>
          </a:p>
        </p:txBody>
      </p:sp>
      <p:sp>
        <p:nvSpPr>
          <p:cNvPr id="314" name="Text 31"/>
          <p:cNvSpPr/>
          <p:nvPr/>
        </p:nvSpPr>
        <p:spPr>
          <a:xfrm>
            <a:off x="777240" y="5486400"/>
            <a:ext cx="502848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dk2"/>
                </a:solidFill>
                <a:latin typeface="Calibri"/>
              </a:rPr>
              <a:t>agregar y pedirAgregar guardan productos; los validar revisan lo que escribe el usuario.</a:t>
            </a:r>
            <a:endParaRPr lang="en-US" sz="1200" b="0" strike="noStrike" spc="-1">
              <a:solidFill>
                <a:srgbClr val="000000"/>
              </a:solidFill>
              <a:latin typeface="Arial"/>
            </a:endParaRPr>
          </a:p>
        </p:txBody>
      </p:sp>
      <p:sp>
        <p:nvSpPr>
          <p:cNvPr id="315" name="Shape 32"/>
          <p:cNvSpPr/>
          <p:nvPr/>
        </p:nvSpPr>
        <p:spPr>
          <a:xfrm>
            <a:off x="6400800" y="1554480"/>
            <a:ext cx="5238720" cy="1782360"/>
          </a:xfrm>
          <a:prstGeom prst="roundRect">
            <a:avLst>
              <a:gd name="adj" fmla="val 6154"/>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16" name="Text 33"/>
          <p:cNvSpPr/>
          <p:nvPr/>
        </p:nvSpPr>
        <p:spPr>
          <a:xfrm>
            <a:off x="6629400" y="1700640"/>
            <a:ext cx="4781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317" name="Text 34"/>
          <p:cNvSpPr/>
          <p:nvPr/>
        </p:nvSpPr>
        <p:spPr>
          <a:xfrm>
            <a:off x="6629400" y="2057400"/>
            <a:ext cx="487296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public class GestorTechMarket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private ArrayList&lt;Producto&gt; productos;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public GestorTechMarket()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this.productos = new ArrayList&lt;&gt;();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p:txBody>
      </p:sp>
      <p:sp>
        <p:nvSpPr>
          <p:cNvPr id="318" name="Text 35"/>
          <p:cNvSpPr/>
          <p:nvPr/>
        </p:nvSpPr>
        <p:spPr>
          <a:xfrm>
            <a:off x="6400800" y="3566160"/>
            <a:ext cx="5211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accent1"/>
                </a:solidFill>
                <a:latin typeface="Calibri"/>
              </a:rPr>
              <a:t>Todas siguen el mismo camino</a:t>
            </a:r>
            <a:endParaRPr lang="en-US" sz="1600" b="0" strike="noStrike" spc="-1">
              <a:solidFill>
                <a:srgbClr val="000000"/>
              </a:solidFill>
              <a:latin typeface="Arial"/>
            </a:endParaRPr>
          </a:p>
        </p:txBody>
      </p:sp>
      <p:sp>
        <p:nvSpPr>
          <p:cNvPr id="319" name="Shape 36"/>
          <p:cNvSpPr/>
          <p:nvPr/>
        </p:nvSpPr>
        <p:spPr>
          <a:xfrm>
            <a:off x="6400800" y="3977640"/>
            <a:ext cx="5238720" cy="547920"/>
          </a:xfrm>
          <a:prstGeom prst="roundRect">
            <a:avLst>
              <a:gd name="adj" fmla="val 2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20" name="Shape 37"/>
          <p:cNvSpPr/>
          <p:nvPr/>
        </p:nvSpPr>
        <p:spPr>
          <a:xfrm>
            <a:off x="6537960" y="4069080"/>
            <a:ext cx="365040" cy="3650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21" name="Text 38"/>
          <p:cNvSpPr/>
          <p:nvPr/>
        </p:nvSpPr>
        <p:spPr>
          <a:xfrm>
            <a:off x="6537960" y="406908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1</a:t>
            </a:r>
            <a:endParaRPr lang="en-US" sz="1400" b="0" strike="noStrike" spc="-1">
              <a:solidFill>
                <a:srgbClr val="000000"/>
              </a:solidFill>
              <a:latin typeface="Arial"/>
            </a:endParaRPr>
          </a:p>
        </p:txBody>
      </p:sp>
      <p:sp>
        <p:nvSpPr>
          <p:cNvPr id="322" name="Text 39"/>
          <p:cNvSpPr/>
          <p:nvPr/>
        </p:nvSpPr>
        <p:spPr>
          <a:xfrm>
            <a:off x="7086600" y="3977640"/>
            <a:ext cx="447984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Validan: ¿hay productos? ¿datos correctos?</a:t>
            </a:r>
            <a:endParaRPr lang="en-US" sz="1400" b="0" strike="noStrike" spc="-1">
              <a:solidFill>
                <a:srgbClr val="000000"/>
              </a:solidFill>
              <a:latin typeface="Arial"/>
            </a:endParaRPr>
          </a:p>
        </p:txBody>
      </p:sp>
      <p:sp>
        <p:nvSpPr>
          <p:cNvPr id="323" name="Shape 40"/>
          <p:cNvSpPr/>
          <p:nvPr/>
        </p:nvSpPr>
        <p:spPr>
          <a:xfrm>
            <a:off x="6400800" y="4636080"/>
            <a:ext cx="5238720" cy="547920"/>
          </a:xfrm>
          <a:prstGeom prst="roundRect">
            <a:avLst>
              <a:gd name="adj" fmla="val 2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24" name="Shape 41"/>
          <p:cNvSpPr/>
          <p:nvPr/>
        </p:nvSpPr>
        <p:spPr>
          <a:xfrm>
            <a:off x="6537960" y="4727520"/>
            <a:ext cx="365040" cy="3650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25" name="Text 42"/>
          <p:cNvSpPr/>
          <p:nvPr/>
        </p:nvSpPr>
        <p:spPr>
          <a:xfrm>
            <a:off x="6537960" y="472752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2</a:t>
            </a:r>
            <a:endParaRPr lang="en-US" sz="1400" b="0" strike="noStrike" spc="-1">
              <a:solidFill>
                <a:srgbClr val="000000"/>
              </a:solidFill>
              <a:latin typeface="Arial"/>
            </a:endParaRPr>
          </a:p>
        </p:txBody>
      </p:sp>
      <p:sp>
        <p:nvSpPr>
          <p:cNvPr id="326" name="Text 43"/>
          <p:cNvSpPr/>
          <p:nvPr/>
        </p:nvSpPr>
        <p:spPr>
          <a:xfrm>
            <a:off x="7086600" y="4636080"/>
            <a:ext cx="447984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Recorren la lista producto por producto (O(n))</a:t>
            </a:r>
            <a:endParaRPr lang="en-US" sz="1400" b="0" strike="noStrike" spc="-1">
              <a:solidFill>
                <a:srgbClr val="000000"/>
              </a:solidFill>
              <a:latin typeface="Arial"/>
            </a:endParaRPr>
          </a:p>
        </p:txBody>
      </p:sp>
      <p:sp>
        <p:nvSpPr>
          <p:cNvPr id="327" name="Shape 44"/>
          <p:cNvSpPr/>
          <p:nvPr/>
        </p:nvSpPr>
        <p:spPr>
          <a:xfrm>
            <a:off x="6400800" y="5294520"/>
            <a:ext cx="5238720" cy="547920"/>
          </a:xfrm>
          <a:prstGeom prst="roundRect">
            <a:avLst>
              <a:gd name="adj" fmla="val 2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28" name="Shape 45"/>
          <p:cNvSpPr/>
          <p:nvPr/>
        </p:nvSpPr>
        <p:spPr>
          <a:xfrm>
            <a:off x="6537960" y="5385960"/>
            <a:ext cx="365040" cy="3650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29" name="Text 46"/>
          <p:cNvSpPr/>
          <p:nvPr/>
        </p:nvSpPr>
        <p:spPr>
          <a:xfrm>
            <a:off x="6537960" y="538596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lt1"/>
                </a:solidFill>
                <a:latin typeface="Calibri"/>
              </a:rPr>
              <a:t>3</a:t>
            </a:r>
            <a:endParaRPr lang="en-US" sz="1400" b="0" strike="noStrike" spc="-1">
              <a:solidFill>
                <a:srgbClr val="000000"/>
              </a:solidFill>
              <a:latin typeface="Arial"/>
            </a:endParaRPr>
          </a:p>
        </p:txBody>
      </p:sp>
      <p:sp>
        <p:nvSpPr>
          <p:cNvPr id="330" name="Text 47"/>
          <p:cNvSpPr/>
          <p:nvPr/>
        </p:nvSpPr>
        <p:spPr>
          <a:xfrm>
            <a:off x="7086600" y="5294520"/>
            <a:ext cx="447984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1"/>
                </a:solidFill>
                <a:latin typeface="Calibri"/>
              </a:rPr>
              <a:t>Muestran el resultado, o un ERROR</a:t>
            </a:r>
            <a:endParaRPr lang="en-US" sz="1400" b="0" strike="noStrike" spc="-1">
              <a:solidFill>
                <a:srgbClr val="000000"/>
              </a:solidFill>
              <a:latin typeface="Arial"/>
            </a:endParaRPr>
          </a:p>
        </p:txBody>
      </p:sp>
      <p:sp>
        <p:nvSpPr>
          <p:cNvPr id="331" name="PlaceHolder 2"/>
          <p:cNvSpPr>
            <a:spLocks noGrp="1"/>
          </p:cNvSpPr>
          <p:nvPr>
            <p:ph type="sldNum" idx="11"/>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7ED2DF1C-820B-4A81-95E5-C149D5B7A574}" type="slidenum">
              <a:rPr lang="en-US" sz="1000" b="0" strike="noStrike" spc="-1">
                <a:solidFill>
                  <a:srgbClr val="7A7FA8"/>
                </a:solidFill>
                <a:latin typeface="Calibri"/>
              </a:rPr>
              <a:t>8</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333"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34"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35"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36"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37"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38"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Filtrar por precio</a:t>
            </a:r>
            <a:endParaRPr lang="en-US" sz="3400" b="0" strike="noStrike" spc="-1">
              <a:solidFill>
                <a:schemeClr val="dk1"/>
              </a:solidFill>
              <a:latin typeface="Calibri"/>
            </a:endParaRPr>
          </a:p>
        </p:txBody>
      </p:sp>
      <p:sp>
        <p:nvSpPr>
          <p:cNvPr id="339" name="Shape 7"/>
          <p:cNvSpPr/>
          <p:nvPr/>
        </p:nvSpPr>
        <p:spPr>
          <a:xfrm>
            <a:off x="548640" y="6163200"/>
            <a:ext cx="389916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40" name="Text 8"/>
          <p:cNvSpPr/>
          <p:nvPr/>
        </p:nvSpPr>
        <p:spPr>
          <a:xfrm>
            <a:off x="731520" y="6163200"/>
            <a:ext cx="36248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Siguiente: el descuento por marca</a:t>
            </a:r>
            <a:endParaRPr lang="en-US" sz="1300" b="0" strike="noStrike" spc="-1">
              <a:solidFill>
                <a:srgbClr val="000000"/>
              </a:solidFill>
              <a:latin typeface="Arial"/>
            </a:endParaRPr>
          </a:p>
        </p:txBody>
      </p:sp>
      <p:sp>
        <p:nvSpPr>
          <p:cNvPr id="341"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42"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Funcionalidad 1 de 5</a:t>
            </a:r>
            <a:endParaRPr lang="en-US" sz="1200" b="0" strike="noStrike" spc="-1">
              <a:solidFill>
                <a:srgbClr val="000000"/>
              </a:solidFill>
              <a:latin typeface="Arial"/>
            </a:endParaRPr>
          </a:p>
        </p:txBody>
      </p:sp>
      <p:sp>
        <p:nvSpPr>
          <p:cNvPr id="343" name="Text 11"/>
          <p:cNvSpPr/>
          <p:nvPr/>
        </p:nvSpPr>
        <p:spPr>
          <a:xfrm>
            <a:off x="548640" y="132588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ourier New"/>
                <a:ea typeface="Courier New"/>
              </a:rPr>
              <a:t>filtrarPorRangoPrecio(precioMin, precioMax)</a:t>
            </a:r>
            <a:endParaRPr lang="en-US" sz="1400" b="0" strike="noStrike" spc="-1">
              <a:solidFill>
                <a:srgbClr val="000000"/>
              </a:solidFill>
              <a:latin typeface="Arial"/>
            </a:endParaRPr>
          </a:p>
        </p:txBody>
      </p:sp>
      <p:sp>
        <p:nvSpPr>
          <p:cNvPr id="344" name="Text 12"/>
          <p:cNvSpPr/>
          <p:nvPr/>
        </p:nvSpPr>
        <p:spPr>
          <a:xfrm>
            <a:off x="548640" y="1828800"/>
            <a:ext cx="47541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Rango pedido: de 50 a 200</a:t>
            </a:r>
            <a:endParaRPr lang="en-US" sz="1400" b="0" strike="noStrike" spc="-1">
              <a:solidFill>
                <a:srgbClr val="000000"/>
              </a:solidFill>
              <a:latin typeface="Arial"/>
            </a:endParaRPr>
          </a:p>
        </p:txBody>
      </p:sp>
      <p:sp>
        <p:nvSpPr>
          <p:cNvPr id="345" name="Shape 13"/>
          <p:cNvSpPr/>
          <p:nvPr/>
        </p:nvSpPr>
        <p:spPr>
          <a:xfrm>
            <a:off x="548640" y="21945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46" name="Text 14"/>
          <p:cNvSpPr/>
          <p:nvPr/>
        </p:nvSpPr>
        <p:spPr>
          <a:xfrm>
            <a:off x="731520" y="21945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Laptop Gaming</a:t>
            </a:r>
            <a:endParaRPr lang="en-US" sz="1400" b="0" strike="noStrike" spc="-1">
              <a:solidFill>
                <a:srgbClr val="000000"/>
              </a:solidFill>
              <a:latin typeface="Arial"/>
            </a:endParaRPr>
          </a:p>
        </p:txBody>
      </p:sp>
      <p:sp>
        <p:nvSpPr>
          <p:cNvPr id="347" name="Text 15"/>
          <p:cNvSpPr/>
          <p:nvPr/>
        </p:nvSpPr>
        <p:spPr>
          <a:xfrm>
            <a:off x="2514600" y="21945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1200.0</a:t>
            </a:r>
            <a:endParaRPr lang="en-US" sz="1400" b="0" strike="noStrike" spc="-1">
              <a:solidFill>
                <a:srgbClr val="000000"/>
              </a:solidFill>
              <a:latin typeface="Arial"/>
            </a:endParaRPr>
          </a:p>
        </p:txBody>
      </p:sp>
      <p:sp>
        <p:nvSpPr>
          <p:cNvPr id="348" name="Shape 16"/>
          <p:cNvSpPr/>
          <p:nvPr/>
        </p:nvSpPr>
        <p:spPr>
          <a:xfrm>
            <a:off x="3931920" y="2313360"/>
            <a:ext cx="1279440" cy="3283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49" name="Text 17"/>
          <p:cNvSpPr/>
          <p:nvPr/>
        </p:nvSpPr>
        <p:spPr>
          <a:xfrm>
            <a:off x="3931920" y="23133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Fuera</a:t>
            </a:r>
            <a:endParaRPr lang="en-US" sz="1100" b="0" strike="noStrike" spc="-1">
              <a:solidFill>
                <a:srgbClr val="000000"/>
              </a:solidFill>
              <a:latin typeface="Arial"/>
            </a:endParaRPr>
          </a:p>
        </p:txBody>
      </p:sp>
      <p:sp>
        <p:nvSpPr>
          <p:cNvPr id="350" name="Shape 18"/>
          <p:cNvSpPr/>
          <p:nvPr/>
        </p:nvSpPr>
        <p:spPr>
          <a:xfrm>
            <a:off x="548640" y="28713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51" name="Text 19"/>
          <p:cNvSpPr/>
          <p:nvPr/>
        </p:nvSpPr>
        <p:spPr>
          <a:xfrm>
            <a:off x="731520" y="28713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Mouse Inalámbrico</a:t>
            </a:r>
            <a:endParaRPr lang="en-US" sz="1400" b="0" strike="noStrike" spc="-1">
              <a:solidFill>
                <a:srgbClr val="000000"/>
              </a:solidFill>
              <a:latin typeface="Arial"/>
            </a:endParaRPr>
          </a:p>
        </p:txBody>
      </p:sp>
      <p:sp>
        <p:nvSpPr>
          <p:cNvPr id="352" name="Text 20"/>
          <p:cNvSpPr/>
          <p:nvPr/>
        </p:nvSpPr>
        <p:spPr>
          <a:xfrm>
            <a:off x="2514600" y="28713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25.0</a:t>
            </a:r>
            <a:endParaRPr lang="en-US" sz="1400" b="0" strike="noStrike" spc="-1">
              <a:solidFill>
                <a:srgbClr val="000000"/>
              </a:solidFill>
              <a:latin typeface="Arial"/>
            </a:endParaRPr>
          </a:p>
        </p:txBody>
      </p:sp>
      <p:sp>
        <p:nvSpPr>
          <p:cNvPr id="353" name="Shape 21"/>
          <p:cNvSpPr/>
          <p:nvPr/>
        </p:nvSpPr>
        <p:spPr>
          <a:xfrm>
            <a:off x="3931920" y="2990160"/>
            <a:ext cx="1279440" cy="3283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54" name="Text 22"/>
          <p:cNvSpPr/>
          <p:nvPr/>
        </p:nvSpPr>
        <p:spPr>
          <a:xfrm>
            <a:off x="3931920" y="29901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Fuera</a:t>
            </a:r>
            <a:endParaRPr lang="en-US" sz="1100" b="0" strike="noStrike" spc="-1">
              <a:solidFill>
                <a:srgbClr val="000000"/>
              </a:solidFill>
              <a:latin typeface="Arial"/>
            </a:endParaRPr>
          </a:p>
        </p:txBody>
      </p:sp>
      <p:sp>
        <p:nvSpPr>
          <p:cNvPr id="355" name="Shape 23"/>
          <p:cNvSpPr/>
          <p:nvPr/>
        </p:nvSpPr>
        <p:spPr>
          <a:xfrm>
            <a:off x="548640" y="35478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56" name="Text 24"/>
          <p:cNvSpPr/>
          <p:nvPr/>
        </p:nvSpPr>
        <p:spPr>
          <a:xfrm>
            <a:off x="731520" y="35478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Teclado Mecánico</a:t>
            </a:r>
            <a:endParaRPr lang="en-US" sz="1400" b="0" strike="noStrike" spc="-1">
              <a:solidFill>
                <a:srgbClr val="000000"/>
              </a:solidFill>
              <a:latin typeface="Arial"/>
            </a:endParaRPr>
          </a:p>
        </p:txBody>
      </p:sp>
      <p:sp>
        <p:nvSpPr>
          <p:cNvPr id="357" name="Text 25"/>
          <p:cNvSpPr/>
          <p:nvPr/>
        </p:nvSpPr>
        <p:spPr>
          <a:xfrm>
            <a:off x="2514600" y="35478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80.0</a:t>
            </a:r>
            <a:endParaRPr lang="en-US" sz="1400" b="0" strike="noStrike" spc="-1">
              <a:solidFill>
                <a:srgbClr val="000000"/>
              </a:solidFill>
              <a:latin typeface="Arial"/>
            </a:endParaRPr>
          </a:p>
        </p:txBody>
      </p:sp>
      <p:sp>
        <p:nvSpPr>
          <p:cNvPr id="358" name="Shape 26"/>
          <p:cNvSpPr/>
          <p:nvPr/>
        </p:nvSpPr>
        <p:spPr>
          <a:xfrm>
            <a:off x="3931920" y="366660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59" name="Text 27"/>
          <p:cNvSpPr/>
          <p:nvPr/>
        </p:nvSpPr>
        <p:spPr>
          <a:xfrm>
            <a:off x="3931920" y="36666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Entra</a:t>
            </a:r>
            <a:endParaRPr lang="en-US" sz="1100" b="0" strike="noStrike" spc="-1">
              <a:solidFill>
                <a:srgbClr val="000000"/>
              </a:solidFill>
              <a:latin typeface="Arial"/>
            </a:endParaRPr>
          </a:p>
        </p:txBody>
      </p:sp>
      <p:sp>
        <p:nvSpPr>
          <p:cNvPr id="360" name="Shape 28"/>
          <p:cNvSpPr/>
          <p:nvPr/>
        </p:nvSpPr>
        <p:spPr>
          <a:xfrm>
            <a:off x="548640" y="42246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61" name="Text 29"/>
          <p:cNvSpPr/>
          <p:nvPr/>
        </p:nvSpPr>
        <p:spPr>
          <a:xfrm>
            <a:off x="731520" y="42246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Monitor 24"</a:t>
            </a:r>
            <a:endParaRPr lang="en-US" sz="1400" b="0" strike="noStrike" spc="-1">
              <a:solidFill>
                <a:srgbClr val="000000"/>
              </a:solidFill>
              <a:latin typeface="Arial"/>
            </a:endParaRPr>
          </a:p>
        </p:txBody>
      </p:sp>
      <p:sp>
        <p:nvSpPr>
          <p:cNvPr id="362" name="Text 30"/>
          <p:cNvSpPr/>
          <p:nvPr/>
        </p:nvSpPr>
        <p:spPr>
          <a:xfrm>
            <a:off x="2514600" y="42246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180.0</a:t>
            </a:r>
            <a:endParaRPr lang="en-US" sz="1400" b="0" strike="noStrike" spc="-1">
              <a:solidFill>
                <a:srgbClr val="000000"/>
              </a:solidFill>
              <a:latin typeface="Arial"/>
            </a:endParaRPr>
          </a:p>
        </p:txBody>
      </p:sp>
      <p:sp>
        <p:nvSpPr>
          <p:cNvPr id="363" name="Shape 31"/>
          <p:cNvSpPr/>
          <p:nvPr/>
        </p:nvSpPr>
        <p:spPr>
          <a:xfrm>
            <a:off x="3931920" y="434340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64" name="Text 32"/>
          <p:cNvSpPr/>
          <p:nvPr/>
        </p:nvSpPr>
        <p:spPr>
          <a:xfrm>
            <a:off x="3931920" y="43434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Entra</a:t>
            </a:r>
            <a:endParaRPr lang="en-US" sz="1100" b="0" strike="noStrike" spc="-1">
              <a:solidFill>
                <a:srgbClr val="000000"/>
              </a:solidFill>
              <a:latin typeface="Arial"/>
            </a:endParaRPr>
          </a:p>
        </p:txBody>
      </p:sp>
      <p:sp>
        <p:nvSpPr>
          <p:cNvPr id="365" name="Shape 33"/>
          <p:cNvSpPr/>
          <p:nvPr/>
        </p:nvSpPr>
        <p:spPr>
          <a:xfrm>
            <a:off x="548640" y="5029200"/>
            <a:ext cx="4754160" cy="913680"/>
          </a:xfrm>
          <a:prstGeom prst="roundRect">
            <a:avLst>
              <a:gd name="adj" fmla="val 12000"/>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66" name="Text 34"/>
          <p:cNvSpPr/>
          <p:nvPr/>
        </p:nvSpPr>
        <p:spPr>
          <a:xfrm>
            <a:off x="777240" y="5029200"/>
            <a:ext cx="4296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2"/>
                </a:solidFill>
                <a:latin typeface="Calibri"/>
              </a:rPr>
              <a:t>Revisa y guarda en otra lista</a:t>
            </a:r>
            <a:r>
              <a:rPr lang="en-US" sz="1400" b="0" strike="noStrike" spc="-1">
                <a:solidFill>
                  <a:schemeClr val="lt1"/>
                </a:solidFill>
                <a:latin typeface="Calibri"/>
              </a:rPr>
              <a:t>: los que cumplen van a una segunda ArrayList y se muestran. Los extremos también cuentan.</a:t>
            </a:r>
            <a:endParaRPr lang="en-US" sz="1400" b="0" strike="noStrike" spc="-1">
              <a:solidFill>
                <a:srgbClr val="000000"/>
              </a:solidFill>
              <a:latin typeface="Arial"/>
            </a:endParaRPr>
          </a:p>
        </p:txBody>
      </p:sp>
      <p:sp>
        <p:nvSpPr>
          <p:cNvPr id="367" name="Shape 35"/>
          <p:cNvSpPr/>
          <p:nvPr/>
        </p:nvSpPr>
        <p:spPr>
          <a:xfrm>
            <a:off x="5577840" y="1828800"/>
            <a:ext cx="6061680" cy="2453040"/>
          </a:xfrm>
          <a:prstGeom prst="roundRect">
            <a:avLst>
              <a:gd name="adj" fmla="val 4472"/>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68" name="Text 36"/>
          <p:cNvSpPr/>
          <p:nvPr/>
        </p:nvSpPr>
        <p:spPr>
          <a:xfrm>
            <a:off x="5806440" y="197496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369" name="Text 37"/>
          <p:cNvSpPr/>
          <p:nvPr/>
        </p:nvSpPr>
        <p:spPr>
          <a:xfrm>
            <a:off x="5806440" y="2331720"/>
            <a:ext cx="5695920" cy="176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if (precioMin &gt; precioMax)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r>
              <a:rPr lang="en-US" sz="1100" b="0" strike="noStrike" spc="-1">
                <a:solidFill>
                  <a:schemeClr val="accent6"/>
                </a:solidFill>
                <a:latin typeface="Courier New"/>
                <a:ea typeface="Courier New"/>
              </a:rPr>
              <a:t> // ERROR y return</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ArrayList&lt;String&gt; filtrados = new ArrayList&lt;&gt;();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for (int i = 0; i &lt; productos.size(); i++)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double precio = productos.get(i).getPrecio();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if (precio &gt;= precioMin &amp;&amp; precio &lt;= precioMax)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filtrados.add(productos.get(i).getNombre());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370" name="Shape 38"/>
          <p:cNvSpPr/>
          <p:nvPr/>
        </p:nvSpPr>
        <p:spPr>
          <a:xfrm>
            <a:off x="5577840" y="4465440"/>
            <a:ext cx="6061680" cy="1050840"/>
          </a:xfrm>
          <a:prstGeom prst="roundRect">
            <a:avLst>
              <a:gd name="adj" fmla="val 10435"/>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71" name="Text 39"/>
          <p:cNvSpPr/>
          <p:nvPr/>
        </p:nvSpPr>
        <p:spPr>
          <a:xfrm>
            <a:off x="5806440" y="461160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del caso de prueba 2</a:t>
            </a:r>
            <a:endParaRPr lang="en-US" sz="1100" b="0" strike="noStrike" spc="-1">
              <a:solidFill>
                <a:srgbClr val="000000"/>
              </a:solidFill>
              <a:latin typeface="Arial"/>
            </a:endParaRPr>
          </a:p>
        </p:txBody>
      </p:sp>
      <p:sp>
        <p:nvSpPr>
          <p:cNvPr id="372" name="Text 40"/>
          <p:cNvSpPr/>
          <p:nvPr/>
        </p:nvSpPr>
        <p:spPr>
          <a:xfrm>
            <a:off x="5806440" y="4968360"/>
            <a:ext cx="569592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1. Teclado Mecánico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2. Monitor 24"</a:t>
            </a:r>
            <a:endParaRPr lang="en-US" sz="1100" b="0" strike="noStrike" spc="-1">
              <a:solidFill>
                <a:srgbClr val="000000"/>
              </a:solidFill>
              <a:latin typeface="Arial"/>
            </a:endParaRPr>
          </a:p>
        </p:txBody>
      </p:sp>
      <p:sp>
        <p:nvSpPr>
          <p:cNvPr id="373" name="PlaceHolder 2"/>
          <p:cNvSpPr>
            <a:spLocks noGrp="1"/>
          </p:cNvSpPr>
          <p:nvPr>
            <p:ph type="sldNum" idx="12"/>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C1E33D33-B940-4E41-8B82-9E5FFB6B5063}" type="slidenum">
              <a:rPr lang="en-US" sz="1000" b="0" strike="noStrike" spc="-1">
                <a:solidFill>
                  <a:srgbClr val="7A7FA8"/>
                </a:solidFill>
                <a:latin typeface="Calibri"/>
              </a:rPr>
              <a:t>9</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375"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76"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77"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78"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79"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80"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Descuento por marca</a:t>
            </a:r>
            <a:endParaRPr lang="en-US" sz="3400" b="0" strike="noStrike" spc="-1">
              <a:solidFill>
                <a:schemeClr val="dk1"/>
              </a:solidFill>
              <a:latin typeface="Calibri"/>
            </a:endParaRPr>
          </a:p>
        </p:txBody>
      </p:sp>
      <p:sp>
        <p:nvSpPr>
          <p:cNvPr id="381" name="Shape 7"/>
          <p:cNvSpPr/>
          <p:nvPr/>
        </p:nvSpPr>
        <p:spPr>
          <a:xfrm>
            <a:off x="548640" y="6163200"/>
            <a:ext cx="5531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82" name="Text 8"/>
          <p:cNvSpPr/>
          <p:nvPr/>
        </p:nvSpPr>
        <p:spPr>
          <a:xfrm>
            <a:off x="731520" y="6163200"/>
            <a:ext cx="5257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Con los precios rebajados, ¿cuál es el más barato?</a:t>
            </a:r>
            <a:endParaRPr lang="en-US" sz="1300" b="0" strike="noStrike" spc="-1">
              <a:solidFill>
                <a:srgbClr val="000000"/>
              </a:solidFill>
              <a:latin typeface="Arial"/>
            </a:endParaRPr>
          </a:p>
        </p:txBody>
      </p:sp>
      <p:sp>
        <p:nvSpPr>
          <p:cNvPr id="383"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84"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Funcionalidad 2 de 5</a:t>
            </a:r>
            <a:endParaRPr lang="en-US" sz="1200" b="0" strike="noStrike" spc="-1">
              <a:solidFill>
                <a:srgbClr val="000000"/>
              </a:solidFill>
              <a:latin typeface="Arial"/>
            </a:endParaRPr>
          </a:p>
        </p:txBody>
      </p:sp>
      <p:sp>
        <p:nvSpPr>
          <p:cNvPr id="385" name="Text 11"/>
          <p:cNvSpPr/>
          <p:nvPr/>
        </p:nvSpPr>
        <p:spPr>
          <a:xfrm>
            <a:off x="548640" y="132588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ourier New"/>
                <a:ea typeface="Courier New"/>
              </a:rPr>
              <a:t>aplicarDescuentoMarca(marca, porcentaje)</a:t>
            </a:r>
            <a:endParaRPr lang="en-US" sz="1400" b="0" strike="noStrike" spc="-1">
              <a:solidFill>
                <a:srgbClr val="000000"/>
              </a:solidFill>
              <a:latin typeface="Arial"/>
            </a:endParaRPr>
          </a:p>
        </p:txBody>
      </p:sp>
      <p:sp>
        <p:nvSpPr>
          <p:cNvPr id="386" name="Text 12"/>
          <p:cNvSpPr/>
          <p:nvPr/>
        </p:nvSpPr>
        <p:spPr>
          <a:xfrm>
            <a:off x="548640" y="1828800"/>
            <a:ext cx="47541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Con 10 % de descuento a ASUS:</a:t>
            </a:r>
            <a:endParaRPr lang="en-US" sz="1400" b="0" strike="noStrike" spc="-1">
              <a:solidFill>
                <a:srgbClr val="000000"/>
              </a:solidFill>
              <a:latin typeface="Arial"/>
            </a:endParaRPr>
          </a:p>
        </p:txBody>
      </p:sp>
      <p:sp>
        <p:nvSpPr>
          <p:cNvPr id="387" name="Shape 13"/>
          <p:cNvSpPr/>
          <p:nvPr/>
        </p:nvSpPr>
        <p:spPr>
          <a:xfrm>
            <a:off x="548640" y="21945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88" name="Text 14"/>
          <p:cNvSpPr/>
          <p:nvPr/>
        </p:nvSpPr>
        <p:spPr>
          <a:xfrm>
            <a:off x="731520" y="21945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Laptop Gaming</a:t>
            </a:r>
            <a:endParaRPr lang="en-US" sz="1400" b="0" strike="noStrike" spc="-1">
              <a:solidFill>
                <a:srgbClr val="000000"/>
              </a:solidFill>
              <a:latin typeface="Arial"/>
            </a:endParaRPr>
          </a:p>
        </p:txBody>
      </p:sp>
      <p:sp>
        <p:nvSpPr>
          <p:cNvPr id="389" name="Text 15"/>
          <p:cNvSpPr/>
          <p:nvPr/>
        </p:nvSpPr>
        <p:spPr>
          <a:xfrm>
            <a:off x="2514600" y="21945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1200.0 → 1080.0</a:t>
            </a:r>
            <a:endParaRPr lang="en-US" sz="1400" b="0" strike="noStrike" spc="-1">
              <a:solidFill>
                <a:srgbClr val="000000"/>
              </a:solidFill>
              <a:latin typeface="Arial"/>
            </a:endParaRPr>
          </a:p>
        </p:txBody>
      </p:sp>
      <p:sp>
        <p:nvSpPr>
          <p:cNvPr id="390" name="Shape 16"/>
          <p:cNvSpPr/>
          <p:nvPr/>
        </p:nvSpPr>
        <p:spPr>
          <a:xfrm>
            <a:off x="3931920" y="231336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391" name="Text 17"/>
          <p:cNvSpPr/>
          <p:nvPr/>
        </p:nvSpPr>
        <p:spPr>
          <a:xfrm>
            <a:off x="3931920" y="23133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Cambia</a:t>
            </a:r>
            <a:endParaRPr lang="en-US" sz="1100" b="0" strike="noStrike" spc="-1">
              <a:solidFill>
                <a:srgbClr val="000000"/>
              </a:solidFill>
              <a:latin typeface="Arial"/>
            </a:endParaRPr>
          </a:p>
        </p:txBody>
      </p:sp>
      <p:sp>
        <p:nvSpPr>
          <p:cNvPr id="392" name="Shape 18"/>
          <p:cNvSpPr/>
          <p:nvPr/>
        </p:nvSpPr>
        <p:spPr>
          <a:xfrm>
            <a:off x="548640" y="28713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93" name="Text 19"/>
          <p:cNvSpPr/>
          <p:nvPr/>
        </p:nvSpPr>
        <p:spPr>
          <a:xfrm>
            <a:off x="731520" y="28713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Mouse Inalámbrico</a:t>
            </a:r>
            <a:endParaRPr lang="en-US" sz="1400" b="0" strike="noStrike" spc="-1">
              <a:solidFill>
                <a:srgbClr val="000000"/>
              </a:solidFill>
              <a:latin typeface="Arial"/>
            </a:endParaRPr>
          </a:p>
        </p:txBody>
      </p:sp>
      <p:sp>
        <p:nvSpPr>
          <p:cNvPr id="394" name="Text 20"/>
          <p:cNvSpPr/>
          <p:nvPr/>
        </p:nvSpPr>
        <p:spPr>
          <a:xfrm>
            <a:off x="2514600" y="28713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25.0</a:t>
            </a:r>
            <a:endParaRPr lang="en-US" sz="1400" b="0" strike="noStrike" spc="-1">
              <a:solidFill>
                <a:srgbClr val="000000"/>
              </a:solidFill>
              <a:latin typeface="Arial"/>
            </a:endParaRPr>
          </a:p>
        </p:txBody>
      </p:sp>
      <p:sp>
        <p:nvSpPr>
          <p:cNvPr id="395" name="Shape 21"/>
          <p:cNvSpPr/>
          <p:nvPr/>
        </p:nvSpPr>
        <p:spPr>
          <a:xfrm>
            <a:off x="3931920" y="299016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96" name="Text 22"/>
          <p:cNvSpPr/>
          <p:nvPr/>
        </p:nvSpPr>
        <p:spPr>
          <a:xfrm>
            <a:off x="3931920" y="29901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Igual</a:t>
            </a:r>
            <a:endParaRPr lang="en-US" sz="1100" b="0" strike="noStrike" spc="-1">
              <a:solidFill>
                <a:srgbClr val="000000"/>
              </a:solidFill>
              <a:latin typeface="Arial"/>
            </a:endParaRPr>
          </a:p>
        </p:txBody>
      </p:sp>
      <p:sp>
        <p:nvSpPr>
          <p:cNvPr id="397" name="Shape 23"/>
          <p:cNvSpPr/>
          <p:nvPr/>
        </p:nvSpPr>
        <p:spPr>
          <a:xfrm>
            <a:off x="548640" y="35478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398" name="Text 24"/>
          <p:cNvSpPr/>
          <p:nvPr/>
        </p:nvSpPr>
        <p:spPr>
          <a:xfrm>
            <a:off x="731520" y="35478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Teclado Mecánico</a:t>
            </a:r>
            <a:endParaRPr lang="en-US" sz="1400" b="0" strike="noStrike" spc="-1">
              <a:solidFill>
                <a:srgbClr val="000000"/>
              </a:solidFill>
              <a:latin typeface="Arial"/>
            </a:endParaRPr>
          </a:p>
        </p:txBody>
      </p:sp>
      <p:sp>
        <p:nvSpPr>
          <p:cNvPr id="399" name="Text 25"/>
          <p:cNvSpPr/>
          <p:nvPr/>
        </p:nvSpPr>
        <p:spPr>
          <a:xfrm>
            <a:off x="2514600" y="35478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80.0 → 72.0</a:t>
            </a:r>
            <a:endParaRPr lang="en-US" sz="1400" b="0" strike="noStrike" spc="-1">
              <a:solidFill>
                <a:srgbClr val="000000"/>
              </a:solidFill>
              <a:latin typeface="Arial"/>
            </a:endParaRPr>
          </a:p>
        </p:txBody>
      </p:sp>
      <p:sp>
        <p:nvSpPr>
          <p:cNvPr id="400" name="Shape 26"/>
          <p:cNvSpPr/>
          <p:nvPr/>
        </p:nvSpPr>
        <p:spPr>
          <a:xfrm>
            <a:off x="3931920" y="366660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01" name="Text 27"/>
          <p:cNvSpPr/>
          <p:nvPr/>
        </p:nvSpPr>
        <p:spPr>
          <a:xfrm>
            <a:off x="3931920" y="36666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Cambia</a:t>
            </a:r>
            <a:endParaRPr lang="en-US" sz="1100" b="0" strike="noStrike" spc="-1">
              <a:solidFill>
                <a:srgbClr val="000000"/>
              </a:solidFill>
              <a:latin typeface="Arial"/>
            </a:endParaRPr>
          </a:p>
        </p:txBody>
      </p:sp>
      <p:sp>
        <p:nvSpPr>
          <p:cNvPr id="402" name="Shape 28"/>
          <p:cNvSpPr/>
          <p:nvPr/>
        </p:nvSpPr>
        <p:spPr>
          <a:xfrm>
            <a:off x="548640" y="42246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03" name="Text 29"/>
          <p:cNvSpPr/>
          <p:nvPr/>
        </p:nvSpPr>
        <p:spPr>
          <a:xfrm>
            <a:off x="731520" y="42246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Monitor 24"</a:t>
            </a:r>
            <a:endParaRPr lang="en-US" sz="1400" b="0" strike="noStrike" spc="-1">
              <a:solidFill>
                <a:srgbClr val="000000"/>
              </a:solidFill>
              <a:latin typeface="Arial"/>
            </a:endParaRPr>
          </a:p>
        </p:txBody>
      </p:sp>
      <p:sp>
        <p:nvSpPr>
          <p:cNvPr id="404" name="Text 30"/>
          <p:cNvSpPr/>
          <p:nvPr/>
        </p:nvSpPr>
        <p:spPr>
          <a:xfrm>
            <a:off x="2514600" y="42246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180.0</a:t>
            </a:r>
            <a:endParaRPr lang="en-US" sz="1400" b="0" strike="noStrike" spc="-1">
              <a:solidFill>
                <a:srgbClr val="000000"/>
              </a:solidFill>
              <a:latin typeface="Arial"/>
            </a:endParaRPr>
          </a:p>
        </p:txBody>
      </p:sp>
      <p:sp>
        <p:nvSpPr>
          <p:cNvPr id="405" name="Shape 31"/>
          <p:cNvSpPr/>
          <p:nvPr/>
        </p:nvSpPr>
        <p:spPr>
          <a:xfrm>
            <a:off x="3931920" y="434340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06" name="Text 32"/>
          <p:cNvSpPr/>
          <p:nvPr/>
        </p:nvSpPr>
        <p:spPr>
          <a:xfrm>
            <a:off x="3931920" y="43434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Igual</a:t>
            </a:r>
            <a:endParaRPr lang="en-US" sz="1100" b="0" strike="noStrike" spc="-1">
              <a:solidFill>
                <a:srgbClr val="000000"/>
              </a:solidFill>
              <a:latin typeface="Arial"/>
            </a:endParaRPr>
          </a:p>
        </p:txBody>
      </p:sp>
      <p:sp>
        <p:nvSpPr>
          <p:cNvPr id="407" name="Shape 33"/>
          <p:cNvSpPr/>
          <p:nvPr/>
        </p:nvSpPr>
        <p:spPr>
          <a:xfrm>
            <a:off x="548640" y="5029200"/>
            <a:ext cx="4754160" cy="913680"/>
          </a:xfrm>
          <a:prstGeom prst="roundRect">
            <a:avLst>
              <a:gd name="adj" fmla="val 12000"/>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08" name="Text 34"/>
          <p:cNvSpPr/>
          <p:nvPr/>
        </p:nvSpPr>
        <p:spPr>
          <a:xfrm>
            <a:off x="777240" y="5029200"/>
            <a:ext cx="4296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2"/>
                </a:solidFill>
                <a:latin typeface="Calibri"/>
              </a:rPr>
              <a:t>Fórmula: </a:t>
            </a:r>
            <a:r>
              <a:rPr lang="en-US" sz="1400" b="0" strike="noStrike" spc="-1">
                <a:solidFill>
                  <a:schemeClr val="lt1"/>
                </a:solidFill>
                <a:latin typeface="Calibri"/>
              </a:rPr>
              <a:t>precio × (1 − % / 100)</a:t>
            </a:r>
            <a:endParaRPr lang="en-US" sz="1400" b="0" strike="noStrike" spc="-1">
              <a:solidFill>
                <a:srgbClr val="000000"/>
              </a:solidFill>
              <a:latin typeface="Arial"/>
            </a:endParaRPr>
          </a:p>
          <a:p>
            <a:pPr defTabSz="914400">
              <a:lnSpc>
                <a:spcPct val="100000"/>
              </a:lnSpc>
              <a:tabLst>
                <a:tab pos="0" algn="l"/>
              </a:tabLst>
            </a:pPr>
            <a:r>
              <a:rPr lang="en-US" sz="1400" b="0" strike="noStrike" spc="-1">
                <a:solidFill>
                  <a:schemeClr val="lt1"/>
                </a:solidFill>
                <a:latin typeface="Calibri"/>
              </a:rPr>
              <a:t>Productos modificados: 2</a:t>
            </a:r>
            <a:endParaRPr lang="en-US" sz="1400" b="0" strike="noStrike" spc="-1">
              <a:solidFill>
                <a:srgbClr val="000000"/>
              </a:solidFill>
              <a:latin typeface="Arial"/>
            </a:endParaRPr>
          </a:p>
        </p:txBody>
      </p:sp>
      <p:sp>
        <p:nvSpPr>
          <p:cNvPr id="409" name="Shape 35"/>
          <p:cNvSpPr/>
          <p:nvPr/>
        </p:nvSpPr>
        <p:spPr>
          <a:xfrm>
            <a:off x="5577840" y="1828800"/>
            <a:ext cx="6061680" cy="2117520"/>
          </a:xfrm>
          <a:prstGeom prst="roundRect">
            <a:avLst>
              <a:gd name="adj" fmla="val 518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10" name="Text 36"/>
          <p:cNvSpPr/>
          <p:nvPr/>
        </p:nvSpPr>
        <p:spPr>
          <a:xfrm>
            <a:off x="5806440" y="197496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411" name="Text 37"/>
          <p:cNvSpPr/>
          <p:nvPr/>
        </p:nvSpPr>
        <p:spPr>
          <a:xfrm>
            <a:off x="5806440" y="2331720"/>
            <a:ext cx="5695920" cy="1431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for (int i = 0; i &lt; productos.size(); i++)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if (productos.get(i).getMarca().equalsIgnoreCase(marca))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double nuevoPrecio = productos.get(i).getPrecio()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 (1 - porcentaje / 100);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productos.get(i).setPrecio(nuevoPrecio);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pModif++;</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412" name="Shape 38"/>
          <p:cNvSpPr/>
          <p:nvPr/>
        </p:nvSpPr>
        <p:spPr>
          <a:xfrm>
            <a:off x="5577840" y="4129920"/>
            <a:ext cx="6061680" cy="1233720"/>
          </a:xfrm>
          <a:prstGeom prst="roundRect">
            <a:avLst>
              <a:gd name="adj" fmla="val 8889"/>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13" name="Text 39"/>
          <p:cNvSpPr/>
          <p:nvPr/>
        </p:nvSpPr>
        <p:spPr>
          <a:xfrm>
            <a:off x="5806440" y="427644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del caso de prueba 3</a:t>
            </a:r>
            <a:endParaRPr lang="en-US" sz="1100" b="0" strike="noStrike" spc="-1">
              <a:solidFill>
                <a:srgbClr val="000000"/>
              </a:solidFill>
              <a:latin typeface="Arial"/>
            </a:endParaRPr>
          </a:p>
        </p:txBody>
      </p:sp>
      <p:sp>
        <p:nvSpPr>
          <p:cNvPr id="414" name="Text 40"/>
          <p:cNvSpPr/>
          <p:nvPr/>
        </p:nvSpPr>
        <p:spPr>
          <a:xfrm>
            <a:off x="5806440" y="4632840"/>
            <a:ext cx="5695920" cy="59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Productos modificados: 2</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1. P01 - Laptop Gaming - ASUS - 1080.0$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3. P03 - Teclado Mecánico - ASUS - 72.0$</a:t>
            </a:r>
            <a:endParaRPr lang="en-US" sz="1100" b="0" strike="noStrike" spc="-1">
              <a:solidFill>
                <a:srgbClr val="000000"/>
              </a:solidFill>
              <a:latin typeface="Arial"/>
            </a:endParaRPr>
          </a:p>
        </p:txBody>
      </p:sp>
      <p:sp>
        <p:nvSpPr>
          <p:cNvPr id="415" name="PlaceHolder 2"/>
          <p:cNvSpPr>
            <a:spLocks noGrp="1"/>
          </p:cNvSpPr>
          <p:nvPr>
            <p:ph type="sldNum" idx="13"/>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D9360BB9-B339-4224-AA03-3EEB2E62FBEC}" type="slidenum">
              <a:rPr lang="en-US" sz="1000" b="0" strike="noStrike" spc="-1">
                <a:solidFill>
                  <a:srgbClr val="7A7FA8"/>
                </a:solidFill>
                <a:latin typeface="Calibri"/>
              </a:rPr>
              <a:t>10</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417"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18"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19"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20"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21"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22"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El producto más barato</a:t>
            </a:r>
            <a:endParaRPr lang="en-US" sz="3400" b="0" strike="noStrike" spc="-1">
              <a:solidFill>
                <a:schemeClr val="dk1"/>
              </a:solidFill>
              <a:latin typeface="Calibri"/>
            </a:endParaRPr>
          </a:p>
        </p:txBody>
      </p:sp>
      <p:sp>
        <p:nvSpPr>
          <p:cNvPr id="423" name="Shape 7"/>
          <p:cNvSpPr/>
          <p:nvPr/>
        </p:nvSpPr>
        <p:spPr>
          <a:xfrm>
            <a:off x="548640" y="6163200"/>
            <a:ext cx="4667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24" name="Text 8"/>
          <p:cNvSpPr/>
          <p:nvPr/>
        </p:nvSpPr>
        <p:spPr>
          <a:xfrm>
            <a:off x="731520" y="6163200"/>
            <a:ext cx="4393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¿Y si queremos corregir el precio de uno?</a:t>
            </a:r>
            <a:endParaRPr lang="en-US" sz="1300" b="0" strike="noStrike" spc="-1">
              <a:solidFill>
                <a:srgbClr val="000000"/>
              </a:solidFill>
              <a:latin typeface="Arial"/>
            </a:endParaRPr>
          </a:p>
        </p:txBody>
      </p:sp>
      <p:sp>
        <p:nvSpPr>
          <p:cNvPr id="425"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26"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Funcionalidad 3 de 5</a:t>
            </a:r>
            <a:endParaRPr lang="en-US" sz="1200" b="0" strike="noStrike" spc="-1">
              <a:solidFill>
                <a:srgbClr val="000000"/>
              </a:solidFill>
              <a:latin typeface="Arial"/>
            </a:endParaRPr>
          </a:p>
        </p:txBody>
      </p:sp>
      <p:sp>
        <p:nvSpPr>
          <p:cNvPr id="427" name="Text 11"/>
          <p:cNvSpPr/>
          <p:nvPr/>
        </p:nvSpPr>
        <p:spPr>
          <a:xfrm>
            <a:off x="548640" y="132588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ourier New"/>
                <a:ea typeface="Courier New"/>
              </a:rPr>
              <a:t>buscarProductoBarato()</a:t>
            </a:r>
            <a:endParaRPr lang="en-US" sz="1400" b="0" strike="noStrike" spc="-1">
              <a:solidFill>
                <a:srgbClr val="000000"/>
              </a:solidFill>
              <a:latin typeface="Arial"/>
            </a:endParaRPr>
          </a:p>
        </p:txBody>
      </p:sp>
      <p:sp>
        <p:nvSpPr>
          <p:cNvPr id="428" name="Text 12"/>
          <p:cNvSpPr/>
          <p:nvPr/>
        </p:nvSpPr>
        <p:spPr>
          <a:xfrm>
            <a:off x="548640" y="1828800"/>
            <a:ext cx="47541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Los revisa uno por uno (ya con el descuento):</a:t>
            </a:r>
            <a:endParaRPr lang="en-US" sz="1400" b="0" strike="noStrike" spc="-1">
              <a:solidFill>
                <a:srgbClr val="000000"/>
              </a:solidFill>
              <a:latin typeface="Arial"/>
            </a:endParaRPr>
          </a:p>
        </p:txBody>
      </p:sp>
      <p:sp>
        <p:nvSpPr>
          <p:cNvPr id="429" name="Shape 13"/>
          <p:cNvSpPr/>
          <p:nvPr/>
        </p:nvSpPr>
        <p:spPr>
          <a:xfrm>
            <a:off x="548640" y="21945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30" name="Text 14"/>
          <p:cNvSpPr/>
          <p:nvPr/>
        </p:nvSpPr>
        <p:spPr>
          <a:xfrm>
            <a:off x="731520" y="21945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Laptop Gaming</a:t>
            </a:r>
            <a:endParaRPr lang="en-US" sz="1400" b="0" strike="noStrike" spc="-1">
              <a:solidFill>
                <a:srgbClr val="000000"/>
              </a:solidFill>
              <a:latin typeface="Arial"/>
            </a:endParaRPr>
          </a:p>
        </p:txBody>
      </p:sp>
      <p:sp>
        <p:nvSpPr>
          <p:cNvPr id="431" name="Text 15"/>
          <p:cNvSpPr/>
          <p:nvPr/>
        </p:nvSpPr>
        <p:spPr>
          <a:xfrm>
            <a:off x="2514600" y="21945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1080.0</a:t>
            </a:r>
            <a:endParaRPr lang="en-US" sz="1400" b="0" strike="noStrike" spc="-1">
              <a:solidFill>
                <a:srgbClr val="000000"/>
              </a:solidFill>
              <a:latin typeface="Arial"/>
            </a:endParaRPr>
          </a:p>
        </p:txBody>
      </p:sp>
      <p:sp>
        <p:nvSpPr>
          <p:cNvPr id="432" name="Shape 16"/>
          <p:cNvSpPr/>
          <p:nvPr/>
        </p:nvSpPr>
        <p:spPr>
          <a:xfrm>
            <a:off x="3931920" y="2313360"/>
            <a:ext cx="1279440" cy="328320"/>
          </a:xfrm>
          <a:prstGeom prst="roundRect">
            <a:avLst>
              <a:gd name="adj" fmla="val 50000"/>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33" name="Text 17"/>
          <p:cNvSpPr/>
          <p:nvPr/>
        </p:nvSpPr>
        <p:spPr>
          <a:xfrm>
            <a:off x="3931920" y="23133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lt1"/>
                </a:solidFill>
                <a:latin typeface="Calibri"/>
              </a:rPr>
              <a:t>candidato inicial</a:t>
            </a:r>
            <a:endParaRPr lang="en-US" sz="1100" b="0" strike="noStrike" spc="-1">
              <a:solidFill>
                <a:srgbClr val="000000"/>
              </a:solidFill>
              <a:latin typeface="Arial"/>
            </a:endParaRPr>
          </a:p>
        </p:txBody>
      </p:sp>
      <p:sp>
        <p:nvSpPr>
          <p:cNvPr id="434" name="Shape 18"/>
          <p:cNvSpPr/>
          <p:nvPr/>
        </p:nvSpPr>
        <p:spPr>
          <a:xfrm>
            <a:off x="548640" y="28713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35" name="Text 19"/>
          <p:cNvSpPr/>
          <p:nvPr/>
        </p:nvSpPr>
        <p:spPr>
          <a:xfrm>
            <a:off x="731520" y="28713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Mouse Inalámbrico</a:t>
            </a:r>
            <a:endParaRPr lang="en-US" sz="1400" b="0" strike="noStrike" spc="-1">
              <a:solidFill>
                <a:srgbClr val="000000"/>
              </a:solidFill>
              <a:latin typeface="Arial"/>
            </a:endParaRPr>
          </a:p>
        </p:txBody>
      </p:sp>
      <p:sp>
        <p:nvSpPr>
          <p:cNvPr id="436" name="Text 20"/>
          <p:cNvSpPr/>
          <p:nvPr/>
        </p:nvSpPr>
        <p:spPr>
          <a:xfrm>
            <a:off x="2514600" y="28713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25.0</a:t>
            </a:r>
            <a:endParaRPr lang="en-US" sz="1400" b="0" strike="noStrike" spc="-1">
              <a:solidFill>
                <a:srgbClr val="000000"/>
              </a:solidFill>
              <a:latin typeface="Arial"/>
            </a:endParaRPr>
          </a:p>
        </p:txBody>
      </p:sp>
      <p:sp>
        <p:nvSpPr>
          <p:cNvPr id="437" name="Shape 21"/>
          <p:cNvSpPr/>
          <p:nvPr/>
        </p:nvSpPr>
        <p:spPr>
          <a:xfrm>
            <a:off x="3931920" y="2990160"/>
            <a:ext cx="1279440" cy="32832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38" name="Text 22"/>
          <p:cNvSpPr/>
          <p:nvPr/>
        </p:nvSpPr>
        <p:spPr>
          <a:xfrm>
            <a:off x="3931920" y="29901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¡nuevo candidato!</a:t>
            </a:r>
            <a:endParaRPr lang="en-US" sz="1100" b="0" strike="noStrike" spc="-1">
              <a:solidFill>
                <a:srgbClr val="000000"/>
              </a:solidFill>
              <a:latin typeface="Arial"/>
            </a:endParaRPr>
          </a:p>
        </p:txBody>
      </p:sp>
      <p:sp>
        <p:nvSpPr>
          <p:cNvPr id="439" name="Shape 23"/>
          <p:cNvSpPr/>
          <p:nvPr/>
        </p:nvSpPr>
        <p:spPr>
          <a:xfrm>
            <a:off x="548640" y="35478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40" name="Text 24"/>
          <p:cNvSpPr/>
          <p:nvPr/>
        </p:nvSpPr>
        <p:spPr>
          <a:xfrm>
            <a:off x="731520" y="35478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Teclado Mecánico</a:t>
            </a:r>
            <a:endParaRPr lang="en-US" sz="1400" b="0" strike="noStrike" spc="-1">
              <a:solidFill>
                <a:srgbClr val="000000"/>
              </a:solidFill>
              <a:latin typeface="Arial"/>
            </a:endParaRPr>
          </a:p>
        </p:txBody>
      </p:sp>
      <p:sp>
        <p:nvSpPr>
          <p:cNvPr id="441" name="Text 25"/>
          <p:cNvSpPr/>
          <p:nvPr/>
        </p:nvSpPr>
        <p:spPr>
          <a:xfrm>
            <a:off x="2514600" y="35478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72.0</a:t>
            </a:r>
            <a:endParaRPr lang="en-US" sz="1400" b="0" strike="noStrike" spc="-1">
              <a:solidFill>
                <a:srgbClr val="000000"/>
              </a:solidFill>
              <a:latin typeface="Arial"/>
            </a:endParaRPr>
          </a:p>
        </p:txBody>
      </p:sp>
      <p:sp>
        <p:nvSpPr>
          <p:cNvPr id="442" name="Shape 26"/>
          <p:cNvSpPr/>
          <p:nvPr/>
        </p:nvSpPr>
        <p:spPr>
          <a:xfrm>
            <a:off x="3931920" y="366660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43" name="Text 27"/>
          <p:cNvSpPr/>
          <p:nvPr/>
        </p:nvSpPr>
        <p:spPr>
          <a:xfrm>
            <a:off x="3931920" y="36666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no es menor</a:t>
            </a:r>
            <a:endParaRPr lang="en-US" sz="1100" b="0" strike="noStrike" spc="-1">
              <a:solidFill>
                <a:srgbClr val="000000"/>
              </a:solidFill>
              <a:latin typeface="Arial"/>
            </a:endParaRPr>
          </a:p>
        </p:txBody>
      </p:sp>
      <p:sp>
        <p:nvSpPr>
          <p:cNvPr id="444" name="Shape 28"/>
          <p:cNvSpPr/>
          <p:nvPr/>
        </p:nvSpPr>
        <p:spPr>
          <a:xfrm>
            <a:off x="548640" y="42246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45" name="Text 29"/>
          <p:cNvSpPr/>
          <p:nvPr/>
        </p:nvSpPr>
        <p:spPr>
          <a:xfrm>
            <a:off x="731520" y="42246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Monitor 24"</a:t>
            </a:r>
            <a:endParaRPr lang="en-US" sz="1400" b="0" strike="noStrike" spc="-1">
              <a:solidFill>
                <a:srgbClr val="000000"/>
              </a:solidFill>
              <a:latin typeface="Arial"/>
            </a:endParaRPr>
          </a:p>
        </p:txBody>
      </p:sp>
      <p:sp>
        <p:nvSpPr>
          <p:cNvPr id="446" name="Text 30"/>
          <p:cNvSpPr/>
          <p:nvPr/>
        </p:nvSpPr>
        <p:spPr>
          <a:xfrm>
            <a:off x="2514600" y="42246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180.0</a:t>
            </a:r>
            <a:endParaRPr lang="en-US" sz="1400" b="0" strike="noStrike" spc="-1">
              <a:solidFill>
                <a:srgbClr val="000000"/>
              </a:solidFill>
              <a:latin typeface="Arial"/>
            </a:endParaRPr>
          </a:p>
        </p:txBody>
      </p:sp>
      <p:sp>
        <p:nvSpPr>
          <p:cNvPr id="447" name="Shape 31"/>
          <p:cNvSpPr/>
          <p:nvPr/>
        </p:nvSpPr>
        <p:spPr>
          <a:xfrm>
            <a:off x="3931920" y="434340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48" name="Text 32"/>
          <p:cNvSpPr/>
          <p:nvPr/>
        </p:nvSpPr>
        <p:spPr>
          <a:xfrm>
            <a:off x="3931920" y="43434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no es menor</a:t>
            </a:r>
            <a:endParaRPr lang="en-US" sz="1100" b="0" strike="noStrike" spc="-1">
              <a:solidFill>
                <a:srgbClr val="000000"/>
              </a:solidFill>
              <a:latin typeface="Arial"/>
            </a:endParaRPr>
          </a:p>
        </p:txBody>
      </p:sp>
      <p:sp>
        <p:nvSpPr>
          <p:cNvPr id="449" name="Shape 33"/>
          <p:cNvSpPr/>
          <p:nvPr/>
        </p:nvSpPr>
        <p:spPr>
          <a:xfrm>
            <a:off x="548640" y="5029200"/>
            <a:ext cx="4754160" cy="913680"/>
          </a:xfrm>
          <a:prstGeom prst="roundRect">
            <a:avLst>
              <a:gd name="adj" fmla="val 12000"/>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50" name="Text 34"/>
          <p:cNvSpPr/>
          <p:nvPr/>
        </p:nvSpPr>
        <p:spPr>
          <a:xfrm>
            <a:off x="777240" y="5029200"/>
            <a:ext cx="4296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2"/>
                </a:solidFill>
                <a:latin typeface="Calibri"/>
              </a:rPr>
              <a:t>Si hay empate, gana el primero: </a:t>
            </a:r>
            <a:r>
              <a:rPr lang="en-US" sz="1400" b="0" strike="noStrike" spc="-1">
                <a:solidFill>
                  <a:schemeClr val="lt1"/>
                </a:solidFill>
                <a:latin typeface="Calibri"/>
              </a:rPr>
              <a:t>solo cambia de candidato si el precio es menor, no igual.</a:t>
            </a:r>
            <a:endParaRPr lang="en-US" sz="1400" b="0" strike="noStrike" spc="-1">
              <a:solidFill>
                <a:srgbClr val="000000"/>
              </a:solidFill>
              <a:latin typeface="Arial"/>
            </a:endParaRPr>
          </a:p>
        </p:txBody>
      </p:sp>
      <p:sp>
        <p:nvSpPr>
          <p:cNvPr id="451" name="Shape 35"/>
          <p:cNvSpPr/>
          <p:nvPr/>
        </p:nvSpPr>
        <p:spPr>
          <a:xfrm>
            <a:off x="5577840" y="1828800"/>
            <a:ext cx="6061680" cy="1782360"/>
          </a:xfrm>
          <a:prstGeom prst="roundRect">
            <a:avLst>
              <a:gd name="adj" fmla="val 6154"/>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52" name="Text 36"/>
          <p:cNvSpPr/>
          <p:nvPr/>
        </p:nvSpPr>
        <p:spPr>
          <a:xfrm>
            <a:off x="5806440" y="197496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453" name="Text 37"/>
          <p:cNvSpPr/>
          <p:nvPr/>
        </p:nvSpPr>
        <p:spPr>
          <a:xfrm>
            <a:off x="5806440" y="2331720"/>
            <a:ext cx="569592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Producto barato = productos.get(0);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for (int i = 1; i &lt; productos.size(); i++)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if (productos.get(i).getPrecio() &lt; barato.getPrecio())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barato = productos.get(i);</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454" name="Shape 38"/>
          <p:cNvSpPr/>
          <p:nvPr/>
        </p:nvSpPr>
        <p:spPr>
          <a:xfrm>
            <a:off x="5577840" y="3794760"/>
            <a:ext cx="6061680" cy="867960"/>
          </a:xfrm>
          <a:prstGeom prst="roundRect">
            <a:avLst>
              <a:gd name="adj" fmla="val 12632"/>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55" name="Text 39"/>
          <p:cNvSpPr/>
          <p:nvPr/>
        </p:nvSpPr>
        <p:spPr>
          <a:xfrm>
            <a:off x="5806440" y="394092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del caso de prueba 4</a:t>
            </a:r>
            <a:endParaRPr lang="en-US" sz="1100" b="0" strike="noStrike" spc="-1">
              <a:solidFill>
                <a:srgbClr val="000000"/>
              </a:solidFill>
              <a:latin typeface="Arial"/>
            </a:endParaRPr>
          </a:p>
        </p:txBody>
      </p:sp>
      <p:sp>
        <p:nvSpPr>
          <p:cNvPr id="456" name="Text 40"/>
          <p:cNvSpPr/>
          <p:nvPr/>
        </p:nvSpPr>
        <p:spPr>
          <a:xfrm>
            <a:off x="5806440" y="4297680"/>
            <a:ext cx="56959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Producto más barato: P02 - Mouse Inalámbrico - Logitech - 25.0$</a:t>
            </a:r>
            <a:endParaRPr lang="en-US" sz="1100" b="0" strike="noStrike" spc="-1">
              <a:solidFill>
                <a:srgbClr val="000000"/>
              </a:solidFill>
              <a:latin typeface="Arial"/>
            </a:endParaRPr>
          </a:p>
        </p:txBody>
      </p:sp>
      <p:sp>
        <p:nvSpPr>
          <p:cNvPr id="457" name="PlaceHolder 2"/>
          <p:cNvSpPr>
            <a:spLocks noGrp="1"/>
          </p:cNvSpPr>
          <p:nvPr>
            <p:ph type="sldNum" idx="14"/>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86382330-F34C-40B5-B64F-7F43FDFA4644}" type="slidenum">
              <a:rPr lang="en-US" sz="1000" b="0" strike="noStrike" spc="-1">
                <a:solidFill>
                  <a:srgbClr val="7A7FA8"/>
                </a:solidFill>
                <a:latin typeface="Calibri"/>
              </a:rPr>
              <a:t>11</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459"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0"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1"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62"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3"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4"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Cambiar el precio</a:t>
            </a:r>
            <a:endParaRPr lang="en-US" sz="3400" b="0" strike="noStrike" spc="-1">
              <a:solidFill>
                <a:schemeClr val="dk1"/>
              </a:solidFill>
              <a:latin typeface="Calibri"/>
            </a:endParaRPr>
          </a:p>
        </p:txBody>
      </p:sp>
      <p:sp>
        <p:nvSpPr>
          <p:cNvPr id="465" name="Shape 7"/>
          <p:cNvSpPr/>
          <p:nvPr/>
        </p:nvSpPr>
        <p:spPr>
          <a:xfrm>
            <a:off x="548640" y="6163200"/>
            <a:ext cx="418716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6" name="Text 8"/>
          <p:cNvSpPr/>
          <p:nvPr/>
        </p:nvSpPr>
        <p:spPr>
          <a:xfrm>
            <a:off x="731520" y="6163200"/>
            <a:ext cx="39128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Por último: el promedio de una marca</a:t>
            </a:r>
            <a:endParaRPr lang="en-US" sz="1300" b="0" strike="noStrike" spc="-1">
              <a:solidFill>
                <a:srgbClr val="000000"/>
              </a:solidFill>
              <a:latin typeface="Arial"/>
            </a:endParaRPr>
          </a:p>
        </p:txBody>
      </p:sp>
      <p:sp>
        <p:nvSpPr>
          <p:cNvPr id="467"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68"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Funcionalidad 4 de 5</a:t>
            </a:r>
            <a:endParaRPr lang="en-US" sz="1200" b="0" strike="noStrike" spc="-1">
              <a:solidFill>
                <a:srgbClr val="000000"/>
              </a:solidFill>
              <a:latin typeface="Arial"/>
            </a:endParaRPr>
          </a:p>
        </p:txBody>
      </p:sp>
      <p:sp>
        <p:nvSpPr>
          <p:cNvPr id="469" name="Text 11"/>
          <p:cNvSpPr/>
          <p:nvPr/>
        </p:nvSpPr>
        <p:spPr>
          <a:xfrm>
            <a:off x="548640" y="132588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ourier New"/>
                <a:ea typeface="Courier New"/>
              </a:rPr>
              <a:t>reponerStockProducto(id, nuevoPrecio)</a:t>
            </a:r>
            <a:endParaRPr lang="en-US" sz="1400" b="0" strike="noStrike" spc="-1">
              <a:solidFill>
                <a:srgbClr val="000000"/>
              </a:solidFill>
              <a:latin typeface="Arial"/>
            </a:endParaRPr>
          </a:p>
        </p:txBody>
      </p:sp>
      <p:sp>
        <p:nvSpPr>
          <p:cNvPr id="470" name="Text 12"/>
          <p:cNvSpPr/>
          <p:nvPr/>
        </p:nvSpPr>
        <p:spPr>
          <a:xfrm>
            <a:off x="548640" y="1828800"/>
            <a:ext cx="47541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Tres intentos de cambiar un precio:</a:t>
            </a:r>
            <a:endParaRPr lang="en-US" sz="1400" b="0" strike="noStrike" spc="-1">
              <a:solidFill>
                <a:srgbClr val="000000"/>
              </a:solidFill>
              <a:latin typeface="Arial"/>
            </a:endParaRPr>
          </a:p>
        </p:txBody>
      </p:sp>
      <p:sp>
        <p:nvSpPr>
          <p:cNvPr id="471" name="Shape 13"/>
          <p:cNvSpPr/>
          <p:nvPr/>
        </p:nvSpPr>
        <p:spPr>
          <a:xfrm>
            <a:off x="548640" y="21945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72" name="Text 14"/>
          <p:cNvSpPr/>
          <p:nvPr/>
        </p:nvSpPr>
        <p:spPr>
          <a:xfrm>
            <a:off x="731520" y="21945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P02 · 30.0</a:t>
            </a:r>
            <a:endParaRPr lang="en-US" sz="1400" b="0" strike="noStrike" spc="-1">
              <a:solidFill>
                <a:srgbClr val="000000"/>
              </a:solidFill>
              <a:latin typeface="Arial"/>
            </a:endParaRPr>
          </a:p>
        </p:txBody>
      </p:sp>
      <p:sp>
        <p:nvSpPr>
          <p:cNvPr id="473" name="Text 15"/>
          <p:cNvSpPr/>
          <p:nvPr/>
        </p:nvSpPr>
        <p:spPr>
          <a:xfrm>
            <a:off x="2514600" y="21945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25.0 → 30.0</a:t>
            </a:r>
            <a:endParaRPr lang="en-US" sz="1400" b="0" strike="noStrike" spc="-1">
              <a:solidFill>
                <a:srgbClr val="000000"/>
              </a:solidFill>
              <a:latin typeface="Arial"/>
            </a:endParaRPr>
          </a:p>
        </p:txBody>
      </p:sp>
      <p:sp>
        <p:nvSpPr>
          <p:cNvPr id="474" name="Shape 16"/>
          <p:cNvSpPr/>
          <p:nvPr/>
        </p:nvSpPr>
        <p:spPr>
          <a:xfrm>
            <a:off x="3931920" y="231336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75" name="Text 17"/>
          <p:cNvSpPr/>
          <p:nvPr/>
        </p:nvSpPr>
        <p:spPr>
          <a:xfrm>
            <a:off x="3931920" y="23133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true</a:t>
            </a:r>
            <a:endParaRPr lang="en-US" sz="1100" b="0" strike="noStrike" spc="-1">
              <a:solidFill>
                <a:srgbClr val="000000"/>
              </a:solidFill>
              <a:latin typeface="Arial"/>
            </a:endParaRPr>
          </a:p>
        </p:txBody>
      </p:sp>
      <p:sp>
        <p:nvSpPr>
          <p:cNvPr id="476" name="Shape 18"/>
          <p:cNvSpPr/>
          <p:nvPr/>
        </p:nvSpPr>
        <p:spPr>
          <a:xfrm>
            <a:off x="548640" y="28713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77" name="Text 19"/>
          <p:cNvSpPr/>
          <p:nvPr/>
        </p:nvSpPr>
        <p:spPr>
          <a:xfrm>
            <a:off x="731520" y="28713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P99 · 500.0</a:t>
            </a:r>
            <a:endParaRPr lang="en-US" sz="1400" b="0" strike="noStrike" spc="-1">
              <a:solidFill>
                <a:srgbClr val="000000"/>
              </a:solidFill>
              <a:latin typeface="Arial"/>
            </a:endParaRPr>
          </a:p>
        </p:txBody>
      </p:sp>
      <p:sp>
        <p:nvSpPr>
          <p:cNvPr id="478" name="Text 20"/>
          <p:cNvSpPr/>
          <p:nvPr/>
        </p:nvSpPr>
        <p:spPr>
          <a:xfrm>
            <a:off x="2514600" y="28713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ID no existe</a:t>
            </a:r>
            <a:endParaRPr lang="en-US" sz="1400" b="0" strike="noStrike" spc="-1">
              <a:solidFill>
                <a:srgbClr val="000000"/>
              </a:solidFill>
              <a:latin typeface="Arial"/>
            </a:endParaRPr>
          </a:p>
        </p:txBody>
      </p:sp>
      <p:sp>
        <p:nvSpPr>
          <p:cNvPr id="479" name="Shape 21"/>
          <p:cNvSpPr/>
          <p:nvPr/>
        </p:nvSpPr>
        <p:spPr>
          <a:xfrm>
            <a:off x="3931920" y="2990160"/>
            <a:ext cx="1279440" cy="3283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80" name="Text 22"/>
          <p:cNvSpPr/>
          <p:nvPr/>
        </p:nvSpPr>
        <p:spPr>
          <a:xfrm>
            <a:off x="3931920" y="29901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false</a:t>
            </a:r>
            <a:endParaRPr lang="en-US" sz="1100" b="0" strike="noStrike" spc="-1">
              <a:solidFill>
                <a:srgbClr val="000000"/>
              </a:solidFill>
              <a:latin typeface="Arial"/>
            </a:endParaRPr>
          </a:p>
        </p:txBody>
      </p:sp>
      <p:sp>
        <p:nvSpPr>
          <p:cNvPr id="481" name="Shape 23"/>
          <p:cNvSpPr/>
          <p:nvPr/>
        </p:nvSpPr>
        <p:spPr>
          <a:xfrm>
            <a:off x="548640" y="35478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82" name="Text 24"/>
          <p:cNvSpPr/>
          <p:nvPr/>
        </p:nvSpPr>
        <p:spPr>
          <a:xfrm>
            <a:off x="731520" y="35478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P01 · −500.0</a:t>
            </a:r>
            <a:endParaRPr lang="en-US" sz="1400" b="0" strike="noStrike" spc="-1">
              <a:solidFill>
                <a:srgbClr val="000000"/>
              </a:solidFill>
              <a:latin typeface="Arial"/>
            </a:endParaRPr>
          </a:p>
        </p:txBody>
      </p:sp>
      <p:sp>
        <p:nvSpPr>
          <p:cNvPr id="483" name="Text 25"/>
          <p:cNvSpPr/>
          <p:nvPr/>
        </p:nvSpPr>
        <p:spPr>
          <a:xfrm>
            <a:off x="2514600" y="35478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precio ≤ 0</a:t>
            </a:r>
            <a:endParaRPr lang="en-US" sz="1400" b="0" strike="noStrike" spc="-1">
              <a:solidFill>
                <a:srgbClr val="000000"/>
              </a:solidFill>
              <a:latin typeface="Arial"/>
            </a:endParaRPr>
          </a:p>
        </p:txBody>
      </p:sp>
      <p:sp>
        <p:nvSpPr>
          <p:cNvPr id="484" name="Shape 26"/>
          <p:cNvSpPr/>
          <p:nvPr/>
        </p:nvSpPr>
        <p:spPr>
          <a:xfrm>
            <a:off x="3931920" y="3666600"/>
            <a:ext cx="1279440" cy="3283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85" name="Text 27"/>
          <p:cNvSpPr/>
          <p:nvPr/>
        </p:nvSpPr>
        <p:spPr>
          <a:xfrm>
            <a:off x="3931920" y="36666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false</a:t>
            </a:r>
            <a:endParaRPr lang="en-US" sz="1100" b="0" strike="noStrike" spc="-1">
              <a:solidFill>
                <a:srgbClr val="000000"/>
              </a:solidFill>
              <a:latin typeface="Arial"/>
            </a:endParaRPr>
          </a:p>
        </p:txBody>
      </p:sp>
      <p:sp>
        <p:nvSpPr>
          <p:cNvPr id="486" name="Shape 28"/>
          <p:cNvSpPr/>
          <p:nvPr/>
        </p:nvSpPr>
        <p:spPr>
          <a:xfrm>
            <a:off x="548640" y="5029200"/>
            <a:ext cx="4754160" cy="913680"/>
          </a:xfrm>
          <a:prstGeom prst="roundRect">
            <a:avLst>
              <a:gd name="adj" fmla="val 12000"/>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87" name="Text 29"/>
          <p:cNvSpPr/>
          <p:nvPr/>
        </p:nvSpPr>
        <p:spPr>
          <a:xfrm>
            <a:off x="777240" y="5029200"/>
            <a:ext cx="4296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2"/>
                </a:solidFill>
                <a:latin typeface="Calibri"/>
              </a:rPr>
              <a:t>Ojo: </a:t>
            </a:r>
            <a:r>
              <a:rPr lang="en-US" sz="1400" b="0" strike="noStrike" spc="-1">
                <a:solidFill>
                  <a:schemeClr val="lt1"/>
                </a:solidFill>
                <a:latin typeface="Calibri"/>
              </a:rPr>
              <a:t>se llama «reponer stock», pero el enunciado pide solo cambiar el precio.</a:t>
            </a:r>
            <a:endParaRPr lang="en-US" sz="1400" b="0" strike="noStrike" spc="-1">
              <a:solidFill>
                <a:srgbClr val="000000"/>
              </a:solidFill>
              <a:latin typeface="Arial"/>
            </a:endParaRPr>
          </a:p>
        </p:txBody>
      </p:sp>
      <p:sp>
        <p:nvSpPr>
          <p:cNvPr id="488" name="Shape 30"/>
          <p:cNvSpPr/>
          <p:nvPr/>
        </p:nvSpPr>
        <p:spPr>
          <a:xfrm>
            <a:off x="5577840" y="1828800"/>
            <a:ext cx="6061680" cy="2117520"/>
          </a:xfrm>
          <a:prstGeom prst="roundRect">
            <a:avLst>
              <a:gd name="adj" fmla="val 518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89" name="Text 31"/>
          <p:cNvSpPr/>
          <p:nvPr/>
        </p:nvSpPr>
        <p:spPr>
          <a:xfrm>
            <a:off x="5806440" y="197496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490" name="Text 32"/>
          <p:cNvSpPr/>
          <p:nvPr/>
        </p:nvSpPr>
        <p:spPr>
          <a:xfrm>
            <a:off x="5806440" y="2331720"/>
            <a:ext cx="5695920" cy="1431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Producto p = buscarPorId(id);</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if (p == null)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System.out.println("ERROR: No existe un producto con ese ID");</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return false;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p.setPrecio(nuevoPrecio);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System.out.println("Precio actualizado correctamente");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return true;</a:t>
            </a:r>
            <a:endParaRPr lang="en-US" sz="1100" b="0" strike="noStrike" spc="-1">
              <a:solidFill>
                <a:srgbClr val="000000"/>
              </a:solidFill>
              <a:latin typeface="Arial"/>
            </a:endParaRPr>
          </a:p>
        </p:txBody>
      </p:sp>
      <p:sp>
        <p:nvSpPr>
          <p:cNvPr id="491" name="Shape 33"/>
          <p:cNvSpPr/>
          <p:nvPr/>
        </p:nvSpPr>
        <p:spPr>
          <a:xfrm>
            <a:off x="5577840" y="4129920"/>
            <a:ext cx="6061680" cy="1050840"/>
          </a:xfrm>
          <a:prstGeom prst="roundRect">
            <a:avLst>
              <a:gd name="adj" fmla="val 10435"/>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92" name="Text 34"/>
          <p:cNvSpPr/>
          <p:nvPr/>
        </p:nvSpPr>
        <p:spPr>
          <a:xfrm>
            <a:off x="5806440" y="427644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 las pruebas (5 y negativo 3)</a:t>
            </a:r>
            <a:endParaRPr lang="en-US" sz="1100" b="0" strike="noStrike" spc="-1">
              <a:solidFill>
                <a:srgbClr val="000000"/>
              </a:solidFill>
              <a:latin typeface="Arial"/>
            </a:endParaRPr>
          </a:p>
        </p:txBody>
      </p:sp>
      <p:sp>
        <p:nvSpPr>
          <p:cNvPr id="493" name="Text 35"/>
          <p:cNvSpPr/>
          <p:nvPr/>
        </p:nvSpPr>
        <p:spPr>
          <a:xfrm>
            <a:off x="5806440" y="4632840"/>
            <a:ext cx="569592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Precio actualizado correctamente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ERROR: No existe un producto con ese ID</a:t>
            </a:r>
            <a:endParaRPr lang="en-US" sz="1100" b="0" strike="noStrike" spc="-1">
              <a:solidFill>
                <a:srgbClr val="000000"/>
              </a:solidFill>
              <a:latin typeface="Arial"/>
            </a:endParaRPr>
          </a:p>
        </p:txBody>
      </p:sp>
      <p:sp>
        <p:nvSpPr>
          <p:cNvPr id="494" name="PlaceHolder 2"/>
          <p:cNvSpPr>
            <a:spLocks noGrp="1"/>
          </p:cNvSpPr>
          <p:nvPr>
            <p:ph type="sldNum" idx="15"/>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8850F333-08EF-415A-B93F-1E5EBD1F4B68}" type="slidenum">
              <a:rPr lang="en-US" sz="1000" b="0" strike="noStrike" spc="-1">
                <a:solidFill>
                  <a:srgbClr val="7A7FA8"/>
                </a:solidFill>
                <a:latin typeface="Calibri"/>
              </a:rPr>
              <a:t>12</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496"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97"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498"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499"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0"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1"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Promedio por marca</a:t>
            </a:r>
            <a:endParaRPr lang="en-US" sz="3400" b="0" strike="noStrike" spc="-1">
              <a:solidFill>
                <a:schemeClr val="dk1"/>
              </a:solidFill>
              <a:latin typeface="Calibri"/>
            </a:endParaRPr>
          </a:p>
        </p:txBody>
      </p:sp>
      <p:sp>
        <p:nvSpPr>
          <p:cNvPr id="502" name="Shape 7"/>
          <p:cNvSpPr/>
          <p:nvPr/>
        </p:nvSpPr>
        <p:spPr>
          <a:xfrm>
            <a:off x="548640" y="6163200"/>
            <a:ext cx="572328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3" name="Text 8"/>
          <p:cNvSpPr/>
          <p:nvPr/>
        </p:nvSpPr>
        <p:spPr>
          <a:xfrm>
            <a:off x="731520" y="6163200"/>
            <a:ext cx="5448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El catálogo está completo. ¿Cómo lo usa una persona?</a:t>
            </a:r>
            <a:endParaRPr lang="en-US" sz="1300" b="0" strike="noStrike" spc="-1">
              <a:solidFill>
                <a:srgbClr val="000000"/>
              </a:solidFill>
              <a:latin typeface="Arial"/>
            </a:endParaRPr>
          </a:p>
        </p:txBody>
      </p:sp>
      <p:sp>
        <p:nvSpPr>
          <p:cNvPr id="504"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5"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Funcionalidad 5 de 5</a:t>
            </a:r>
            <a:endParaRPr lang="en-US" sz="1200" b="0" strike="noStrike" spc="-1">
              <a:solidFill>
                <a:srgbClr val="000000"/>
              </a:solidFill>
              <a:latin typeface="Arial"/>
            </a:endParaRPr>
          </a:p>
        </p:txBody>
      </p:sp>
      <p:sp>
        <p:nvSpPr>
          <p:cNvPr id="506" name="Text 11"/>
          <p:cNvSpPr/>
          <p:nvPr/>
        </p:nvSpPr>
        <p:spPr>
          <a:xfrm>
            <a:off x="548640" y="132588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accent1"/>
                </a:solidFill>
                <a:latin typeface="Courier New"/>
                <a:ea typeface="Courier New"/>
              </a:rPr>
              <a:t>promedioPrecioPorMarca(marca)</a:t>
            </a:r>
            <a:endParaRPr lang="en-US" sz="1400" b="0" strike="noStrike" spc="-1">
              <a:solidFill>
                <a:srgbClr val="000000"/>
              </a:solidFill>
              <a:latin typeface="Arial"/>
            </a:endParaRPr>
          </a:p>
        </p:txBody>
      </p:sp>
      <p:sp>
        <p:nvSpPr>
          <p:cNvPr id="507" name="Text 12"/>
          <p:cNvSpPr/>
          <p:nvPr/>
        </p:nvSpPr>
        <p:spPr>
          <a:xfrm>
            <a:off x="548640" y="1828800"/>
            <a:ext cx="47541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Promedio de ASUS (ya con el descuento):</a:t>
            </a:r>
            <a:endParaRPr lang="en-US" sz="1400" b="0" strike="noStrike" spc="-1">
              <a:solidFill>
                <a:srgbClr val="000000"/>
              </a:solidFill>
              <a:latin typeface="Arial"/>
            </a:endParaRPr>
          </a:p>
        </p:txBody>
      </p:sp>
      <p:sp>
        <p:nvSpPr>
          <p:cNvPr id="508" name="Shape 13"/>
          <p:cNvSpPr/>
          <p:nvPr/>
        </p:nvSpPr>
        <p:spPr>
          <a:xfrm>
            <a:off x="548640" y="21945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09" name="Text 14"/>
          <p:cNvSpPr/>
          <p:nvPr/>
        </p:nvSpPr>
        <p:spPr>
          <a:xfrm>
            <a:off x="731520" y="21945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Laptop Gaming</a:t>
            </a:r>
            <a:endParaRPr lang="en-US" sz="1400" b="0" strike="noStrike" spc="-1">
              <a:solidFill>
                <a:srgbClr val="000000"/>
              </a:solidFill>
              <a:latin typeface="Arial"/>
            </a:endParaRPr>
          </a:p>
        </p:txBody>
      </p:sp>
      <p:sp>
        <p:nvSpPr>
          <p:cNvPr id="510" name="Text 15"/>
          <p:cNvSpPr/>
          <p:nvPr/>
        </p:nvSpPr>
        <p:spPr>
          <a:xfrm>
            <a:off x="2514600" y="21945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1080.0</a:t>
            </a:r>
            <a:endParaRPr lang="en-US" sz="1400" b="0" strike="noStrike" spc="-1">
              <a:solidFill>
                <a:srgbClr val="000000"/>
              </a:solidFill>
              <a:latin typeface="Arial"/>
            </a:endParaRPr>
          </a:p>
        </p:txBody>
      </p:sp>
      <p:sp>
        <p:nvSpPr>
          <p:cNvPr id="511" name="Shape 16"/>
          <p:cNvSpPr/>
          <p:nvPr/>
        </p:nvSpPr>
        <p:spPr>
          <a:xfrm>
            <a:off x="3931920" y="231336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12" name="Text 17"/>
          <p:cNvSpPr/>
          <p:nvPr/>
        </p:nvSpPr>
        <p:spPr>
          <a:xfrm>
            <a:off x="3931920" y="23133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cuenta</a:t>
            </a:r>
            <a:endParaRPr lang="en-US" sz="1100" b="0" strike="noStrike" spc="-1">
              <a:solidFill>
                <a:srgbClr val="000000"/>
              </a:solidFill>
              <a:latin typeface="Arial"/>
            </a:endParaRPr>
          </a:p>
        </p:txBody>
      </p:sp>
      <p:sp>
        <p:nvSpPr>
          <p:cNvPr id="513" name="Shape 18"/>
          <p:cNvSpPr/>
          <p:nvPr/>
        </p:nvSpPr>
        <p:spPr>
          <a:xfrm>
            <a:off x="548640" y="287136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14" name="Text 19"/>
          <p:cNvSpPr/>
          <p:nvPr/>
        </p:nvSpPr>
        <p:spPr>
          <a:xfrm>
            <a:off x="731520" y="287136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Mouse Inalámbrico</a:t>
            </a:r>
            <a:endParaRPr lang="en-US" sz="1400" b="0" strike="noStrike" spc="-1">
              <a:solidFill>
                <a:srgbClr val="000000"/>
              </a:solidFill>
              <a:latin typeface="Arial"/>
            </a:endParaRPr>
          </a:p>
        </p:txBody>
      </p:sp>
      <p:sp>
        <p:nvSpPr>
          <p:cNvPr id="515" name="Text 20"/>
          <p:cNvSpPr/>
          <p:nvPr/>
        </p:nvSpPr>
        <p:spPr>
          <a:xfrm>
            <a:off x="2514600" y="287136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25.0</a:t>
            </a:r>
            <a:endParaRPr lang="en-US" sz="1400" b="0" strike="noStrike" spc="-1">
              <a:solidFill>
                <a:srgbClr val="000000"/>
              </a:solidFill>
              <a:latin typeface="Arial"/>
            </a:endParaRPr>
          </a:p>
        </p:txBody>
      </p:sp>
      <p:sp>
        <p:nvSpPr>
          <p:cNvPr id="516" name="Shape 21"/>
          <p:cNvSpPr/>
          <p:nvPr/>
        </p:nvSpPr>
        <p:spPr>
          <a:xfrm>
            <a:off x="3931920" y="299016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17" name="Text 22"/>
          <p:cNvSpPr/>
          <p:nvPr/>
        </p:nvSpPr>
        <p:spPr>
          <a:xfrm>
            <a:off x="3931920" y="299016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no es ASUS</a:t>
            </a:r>
            <a:endParaRPr lang="en-US" sz="1100" b="0" strike="noStrike" spc="-1">
              <a:solidFill>
                <a:srgbClr val="000000"/>
              </a:solidFill>
              <a:latin typeface="Arial"/>
            </a:endParaRPr>
          </a:p>
        </p:txBody>
      </p:sp>
      <p:sp>
        <p:nvSpPr>
          <p:cNvPr id="518" name="Shape 23"/>
          <p:cNvSpPr/>
          <p:nvPr/>
        </p:nvSpPr>
        <p:spPr>
          <a:xfrm>
            <a:off x="548640" y="35478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19" name="Text 24"/>
          <p:cNvSpPr/>
          <p:nvPr/>
        </p:nvSpPr>
        <p:spPr>
          <a:xfrm>
            <a:off x="731520" y="35478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Teclado Mecánico</a:t>
            </a:r>
            <a:endParaRPr lang="en-US" sz="1400" b="0" strike="noStrike" spc="-1">
              <a:solidFill>
                <a:srgbClr val="000000"/>
              </a:solidFill>
              <a:latin typeface="Arial"/>
            </a:endParaRPr>
          </a:p>
        </p:txBody>
      </p:sp>
      <p:sp>
        <p:nvSpPr>
          <p:cNvPr id="520" name="Text 25"/>
          <p:cNvSpPr/>
          <p:nvPr/>
        </p:nvSpPr>
        <p:spPr>
          <a:xfrm>
            <a:off x="2514600" y="35478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72.0</a:t>
            </a:r>
            <a:endParaRPr lang="en-US" sz="1400" b="0" strike="noStrike" spc="-1">
              <a:solidFill>
                <a:srgbClr val="000000"/>
              </a:solidFill>
              <a:latin typeface="Arial"/>
            </a:endParaRPr>
          </a:p>
        </p:txBody>
      </p:sp>
      <p:sp>
        <p:nvSpPr>
          <p:cNvPr id="521" name="Shape 26"/>
          <p:cNvSpPr/>
          <p:nvPr/>
        </p:nvSpPr>
        <p:spPr>
          <a:xfrm>
            <a:off x="3931920" y="3666600"/>
            <a:ext cx="1279440" cy="328320"/>
          </a:xfrm>
          <a:prstGeom prst="roundRect">
            <a:avLst>
              <a:gd name="adj" fmla="val 50000"/>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22" name="Text 27"/>
          <p:cNvSpPr/>
          <p:nvPr/>
        </p:nvSpPr>
        <p:spPr>
          <a:xfrm>
            <a:off x="3931920" y="36666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cuenta</a:t>
            </a:r>
            <a:endParaRPr lang="en-US" sz="1100" b="0" strike="noStrike" spc="-1">
              <a:solidFill>
                <a:srgbClr val="000000"/>
              </a:solidFill>
              <a:latin typeface="Arial"/>
            </a:endParaRPr>
          </a:p>
        </p:txBody>
      </p:sp>
      <p:sp>
        <p:nvSpPr>
          <p:cNvPr id="523" name="Shape 28"/>
          <p:cNvSpPr/>
          <p:nvPr/>
        </p:nvSpPr>
        <p:spPr>
          <a:xfrm>
            <a:off x="548640" y="4224600"/>
            <a:ext cx="4754160" cy="566280"/>
          </a:xfrm>
          <a:prstGeom prst="roundRect">
            <a:avLst>
              <a:gd name="adj" fmla="val 19355"/>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24" name="Text 29"/>
          <p:cNvSpPr/>
          <p:nvPr/>
        </p:nvSpPr>
        <p:spPr>
          <a:xfrm>
            <a:off x="731520" y="4224600"/>
            <a:ext cx="1828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dk1"/>
                </a:solidFill>
                <a:latin typeface="Calibri"/>
              </a:rPr>
              <a:t>Monitor 24"</a:t>
            </a:r>
            <a:endParaRPr lang="en-US" sz="1400" b="0" strike="noStrike" spc="-1">
              <a:solidFill>
                <a:srgbClr val="000000"/>
              </a:solidFill>
              <a:latin typeface="Arial"/>
            </a:endParaRPr>
          </a:p>
        </p:txBody>
      </p:sp>
      <p:sp>
        <p:nvSpPr>
          <p:cNvPr id="525" name="Text 30"/>
          <p:cNvSpPr/>
          <p:nvPr/>
        </p:nvSpPr>
        <p:spPr>
          <a:xfrm>
            <a:off x="2514600" y="4224600"/>
            <a:ext cx="13708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dk2"/>
                </a:solidFill>
                <a:latin typeface="Calibri"/>
              </a:rPr>
              <a:t>180.0</a:t>
            </a:r>
            <a:endParaRPr lang="en-US" sz="1400" b="0" strike="noStrike" spc="-1">
              <a:solidFill>
                <a:srgbClr val="000000"/>
              </a:solidFill>
              <a:latin typeface="Arial"/>
            </a:endParaRPr>
          </a:p>
        </p:txBody>
      </p:sp>
      <p:sp>
        <p:nvSpPr>
          <p:cNvPr id="526" name="Shape 31"/>
          <p:cNvSpPr/>
          <p:nvPr/>
        </p:nvSpPr>
        <p:spPr>
          <a:xfrm>
            <a:off x="3931920" y="4343400"/>
            <a:ext cx="1279440" cy="328320"/>
          </a:xfrm>
          <a:prstGeom prst="roundRect">
            <a:avLst>
              <a:gd name="adj" fmla="val 50000"/>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27" name="Text 32"/>
          <p:cNvSpPr/>
          <p:nvPr/>
        </p:nvSpPr>
        <p:spPr>
          <a:xfrm>
            <a:off x="3931920" y="4343400"/>
            <a:ext cx="127944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chemeClr val="dk1"/>
                </a:solidFill>
                <a:latin typeface="Calibri"/>
              </a:rPr>
              <a:t>no es ASUS</a:t>
            </a:r>
            <a:endParaRPr lang="en-US" sz="1100" b="0" strike="noStrike" spc="-1">
              <a:solidFill>
                <a:srgbClr val="000000"/>
              </a:solidFill>
              <a:latin typeface="Arial"/>
            </a:endParaRPr>
          </a:p>
        </p:txBody>
      </p:sp>
      <p:sp>
        <p:nvSpPr>
          <p:cNvPr id="528" name="Shape 33"/>
          <p:cNvSpPr/>
          <p:nvPr/>
        </p:nvSpPr>
        <p:spPr>
          <a:xfrm>
            <a:off x="548640" y="5029200"/>
            <a:ext cx="4754160" cy="913680"/>
          </a:xfrm>
          <a:prstGeom prst="roundRect">
            <a:avLst>
              <a:gd name="adj" fmla="val 12000"/>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29" name="Text 34"/>
          <p:cNvSpPr/>
          <p:nvPr/>
        </p:nvSpPr>
        <p:spPr>
          <a:xfrm>
            <a:off x="777240" y="5029200"/>
            <a:ext cx="4296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chemeClr val="accent2"/>
                </a:solidFill>
                <a:latin typeface="Calibri"/>
              </a:rPr>
              <a:t>(1080.0 + 72.0) / 2 = 576.0</a:t>
            </a:r>
            <a:endParaRPr lang="en-US" sz="1400" b="0" strike="noStrike" spc="-1">
              <a:solidFill>
                <a:srgbClr val="000000"/>
              </a:solidFill>
              <a:latin typeface="Arial"/>
            </a:endParaRPr>
          </a:p>
          <a:p>
            <a:pPr defTabSz="914400">
              <a:lnSpc>
                <a:spcPct val="100000"/>
              </a:lnSpc>
              <a:tabLst>
                <a:tab pos="0" algn="l"/>
              </a:tabLst>
            </a:pPr>
            <a:r>
              <a:rPr lang="en-US" sz="1400" b="0" strike="noStrike" spc="-1">
                <a:solidFill>
                  <a:schemeClr val="lt1"/>
                </a:solidFill>
                <a:latin typeface="Calibri"/>
              </a:rPr>
              <a:t>Sin productos de esa marca: 0.0</a:t>
            </a:r>
            <a:endParaRPr lang="en-US" sz="1400" b="0" strike="noStrike" spc="-1">
              <a:solidFill>
                <a:srgbClr val="000000"/>
              </a:solidFill>
              <a:latin typeface="Arial"/>
            </a:endParaRPr>
          </a:p>
        </p:txBody>
      </p:sp>
      <p:sp>
        <p:nvSpPr>
          <p:cNvPr id="530" name="Shape 35"/>
          <p:cNvSpPr/>
          <p:nvPr/>
        </p:nvSpPr>
        <p:spPr>
          <a:xfrm>
            <a:off x="5577840" y="1828800"/>
            <a:ext cx="6061680" cy="2285280"/>
          </a:xfrm>
          <a:prstGeom prst="roundRect">
            <a:avLst>
              <a:gd name="adj" fmla="val 48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31" name="Text 36"/>
          <p:cNvSpPr/>
          <p:nvPr/>
        </p:nvSpPr>
        <p:spPr>
          <a:xfrm>
            <a:off x="5806440" y="197496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GestorTechMarket.java</a:t>
            </a:r>
            <a:endParaRPr lang="en-US" sz="1100" b="0" strike="noStrike" spc="-1">
              <a:solidFill>
                <a:srgbClr val="000000"/>
              </a:solidFill>
              <a:latin typeface="Arial"/>
            </a:endParaRPr>
          </a:p>
        </p:txBody>
      </p:sp>
      <p:sp>
        <p:nvSpPr>
          <p:cNvPr id="532" name="Text 37"/>
          <p:cNvSpPr/>
          <p:nvPr/>
        </p:nvSpPr>
        <p:spPr>
          <a:xfrm>
            <a:off x="5806440" y="2331720"/>
            <a:ext cx="5695920" cy="159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double suma = 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int cant = 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for (int i = 0; i &lt; productos.size(); i++)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if (productos.get(i).getMarca().equalsIgnoreCase(marca))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suma += productos.get(i).getPrecio();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cant++;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System.out.println("Promedio: " + (suma / cant));</a:t>
            </a:r>
            <a:endParaRPr lang="en-US" sz="1100" b="0" strike="noStrike" spc="-1">
              <a:solidFill>
                <a:srgbClr val="000000"/>
              </a:solidFill>
              <a:latin typeface="Arial"/>
            </a:endParaRPr>
          </a:p>
        </p:txBody>
      </p:sp>
      <p:sp>
        <p:nvSpPr>
          <p:cNvPr id="533" name="Shape 38"/>
          <p:cNvSpPr/>
          <p:nvPr/>
        </p:nvSpPr>
        <p:spPr>
          <a:xfrm>
            <a:off x="5577840" y="4297680"/>
            <a:ext cx="6061680" cy="1050840"/>
          </a:xfrm>
          <a:prstGeom prst="roundRect">
            <a:avLst>
              <a:gd name="adj" fmla="val 10435"/>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34" name="Text 39"/>
          <p:cNvSpPr/>
          <p:nvPr/>
        </p:nvSpPr>
        <p:spPr>
          <a:xfrm>
            <a:off x="5806440" y="444384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 las pruebas (6 y negativo 2)</a:t>
            </a:r>
            <a:endParaRPr lang="en-US" sz="1100" b="0" strike="noStrike" spc="-1">
              <a:solidFill>
                <a:srgbClr val="000000"/>
              </a:solidFill>
              <a:latin typeface="Arial"/>
            </a:endParaRPr>
          </a:p>
        </p:txBody>
      </p:sp>
      <p:sp>
        <p:nvSpPr>
          <p:cNvPr id="535" name="Text 40"/>
          <p:cNvSpPr/>
          <p:nvPr/>
        </p:nvSpPr>
        <p:spPr>
          <a:xfrm>
            <a:off x="5806440" y="4800600"/>
            <a:ext cx="569592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Promedio: 576.0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Promedio: 0.0   (marca sin productos)</a:t>
            </a:r>
            <a:endParaRPr lang="en-US" sz="1100" b="0" strike="noStrike" spc="-1">
              <a:solidFill>
                <a:srgbClr val="000000"/>
              </a:solidFill>
              <a:latin typeface="Arial"/>
            </a:endParaRPr>
          </a:p>
        </p:txBody>
      </p:sp>
      <p:sp>
        <p:nvSpPr>
          <p:cNvPr id="536" name="PlaceHolder 2"/>
          <p:cNvSpPr>
            <a:spLocks noGrp="1"/>
          </p:cNvSpPr>
          <p:nvPr>
            <p:ph type="sldNum" idx="16"/>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C7636787-3041-4BA0-A459-832A4E91EE44}" type="slidenum">
              <a:rPr lang="en-US" sz="1000" b="0" strike="noStrike" spc="-1">
                <a:solidFill>
                  <a:srgbClr val="7A7FA8"/>
                </a:solidFill>
                <a:latin typeface="Calibri"/>
              </a:rPr>
              <a:t>13</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3 · LA IMPLEMENTACIÓN</a:t>
            </a:r>
            <a:endParaRPr lang="en-US" sz="1200" b="0" strike="noStrike" spc="-1">
              <a:solidFill>
                <a:srgbClr val="000000"/>
              </a:solidFill>
              <a:latin typeface="Arial"/>
            </a:endParaRPr>
          </a:p>
        </p:txBody>
      </p:sp>
      <p:sp>
        <p:nvSpPr>
          <p:cNvPr id="538"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39"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40" name="Shape 3"/>
          <p:cNvSpPr/>
          <p:nvPr/>
        </p:nvSpPr>
        <p:spPr>
          <a:xfrm>
            <a:off x="108997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41" name="Shape 4"/>
          <p:cNvSpPr/>
          <p:nvPr/>
        </p:nvSpPr>
        <p:spPr>
          <a:xfrm>
            <a:off x="111373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42"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43"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Main: la puerta de entrada</a:t>
            </a:r>
            <a:endParaRPr lang="en-US" sz="3400" b="0" strike="noStrike" spc="-1">
              <a:solidFill>
                <a:schemeClr val="dk1"/>
              </a:solidFill>
              <a:latin typeface="Calibri"/>
            </a:endParaRPr>
          </a:p>
        </p:txBody>
      </p:sp>
      <p:sp>
        <p:nvSpPr>
          <p:cNvPr id="544" name="Shape 7"/>
          <p:cNvSpPr/>
          <p:nvPr/>
        </p:nvSpPr>
        <p:spPr>
          <a:xfrm>
            <a:off x="548640" y="6163200"/>
            <a:ext cx="4955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45" name="Text 8"/>
          <p:cNvSpPr/>
          <p:nvPr/>
        </p:nvSpPr>
        <p:spPr>
          <a:xfrm>
            <a:off x="731520" y="6163200"/>
            <a:ext cx="4681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Todo junto funciona. ¿Lo probamos de verdad?</a:t>
            </a:r>
            <a:endParaRPr lang="en-US" sz="1300" b="0" strike="noStrike" spc="-1">
              <a:solidFill>
                <a:srgbClr val="000000"/>
              </a:solidFill>
              <a:latin typeface="Arial"/>
            </a:endParaRPr>
          </a:p>
        </p:txBody>
      </p:sp>
      <p:sp>
        <p:nvSpPr>
          <p:cNvPr id="546" name="Shape 9"/>
          <p:cNvSpPr/>
          <p:nvPr/>
        </p:nvSpPr>
        <p:spPr>
          <a:xfrm>
            <a:off x="548640" y="1554480"/>
            <a:ext cx="4754160" cy="2696760"/>
          </a:xfrm>
          <a:prstGeom prst="roundRect">
            <a:avLst>
              <a:gd name="adj" fmla="val 4068"/>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47" name="Text 10"/>
          <p:cNvSpPr/>
          <p:nvPr/>
        </p:nvSpPr>
        <p:spPr>
          <a:xfrm>
            <a:off x="777240" y="1700640"/>
            <a:ext cx="4296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El menú en consola</a:t>
            </a:r>
            <a:endParaRPr lang="en-US" sz="1100" b="0" strike="noStrike" spc="-1">
              <a:solidFill>
                <a:srgbClr val="000000"/>
              </a:solidFill>
              <a:latin typeface="Arial"/>
            </a:endParaRPr>
          </a:p>
        </p:txBody>
      </p:sp>
      <p:sp>
        <p:nvSpPr>
          <p:cNvPr id="548" name="Text 11"/>
          <p:cNvSpPr/>
          <p:nvPr/>
        </p:nvSpPr>
        <p:spPr>
          <a:xfrm>
            <a:off x="777240" y="2057400"/>
            <a:ext cx="4388400" cy="205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---MENÚ---</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1. Agregar producto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2. Mostrar todos los productos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3. Filtrar productos por rango de precio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4. Aplicar descuento por marca</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5. Buscar producto más barato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6. Reponer stock de producto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7. Promedio de precio por marca</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8. Ejecutar casos de prueba</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9. Salir</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Opción:</a:t>
            </a:r>
            <a:endParaRPr lang="en-US" sz="1100" b="0" strike="noStrike" spc="-1">
              <a:solidFill>
                <a:srgbClr val="000000"/>
              </a:solidFill>
              <a:latin typeface="Arial"/>
            </a:endParaRPr>
          </a:p>
        </p:txBody>
      </p:sp>
      <p:sp>
        <p:nvSpPr>
          <p:cNvPr id="549" name="Shape 12"/>
          <p:cNvSpPr/>
          <p:nvPr/>
        </p:nvSpPr>
        <p:spPr>
          <a:xfrm>
            <a:off x="5577840" y="1554480"/>
            <a:ext cx="6061680" cy="2285280"/>
          </a:xfrm>
          <a:prstGeom prst="roundRect">
            <a:avLst>
              <a:gd name="adj" fmla="val 48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50" name="Text 13"/>
          <p:cNvSpPr/>
          <p:nvPr/>
        </p:nvSpPr>
        <p:spPr>
          <a:xfrm>
            <a:off x="5806440" y="1700640"/>
            <a:ext cx="56044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Main.java</a:t>
            </a:r>
            <a:endParaRPr lang="en-US" sz="1100" b="0" strike="noStrike" spc="-1">
              <a:solidFill>
                <a:srgbClr val="000000"/>
              </a:solidFill>
              <a:latin typeface="Arial"/>
            </a:endParaRPr>
          </a:p>
        </p:txBody>
      </p:sp>
      <p:sp>
        <p:nvSpPr>
          <p:cNvPr id="551" name="Text 14"/>
          <p:cNvSpPr/>
          <p:nvPr/>
        </p:nvSpPr>
        <p:spPr>
          <a:xfrm>
            <a:off x="5806440" y="2057400"/>
            <a:ext cx="5695920" cy="159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int opcion = gestor.validarOpcion(in, 1, 9);</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if (opcion == 3)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double min = gestor.validarNumero(in, "precio mínimo", 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double max = gestor.validarNumero(in, "precio máximo", 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2"/>
                </a:solidFill>
                <a:latin typeface="Courier New"/>
                <a:ea typeface="Courier New"/>
              </a:rPr>
              <a:t>    gestor.filtrarPorRangoPrecio(min, max);</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else if (opcion == 8) {</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   </a:t>
            </a:r>
            <a:r>
              <a:rPr lang="en-US" sz="1100" b="0" strike="noStrike" spc="-1">
                <a:solidFill>
                  <a:schemeClr val="accent6"/>
                </a:solidFill>
                <a:latin typeface="Courier New"/>
                <a:ea typeface="Courier New"/>
              </a:rPr>
              <a:t> // casos de prueba...</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a:t>
            </a:r>
            <a:endParaRPr lang="en-US" sz="1100" b="0" strike="noStrike" spc="-1">
              <a:solidFill>
                <a:srgbClr val="000000"/>
              </a:solidFill>
              <a:latin typeface="Arial"/>
            </a:endParaRPr>
          </a:p>
        </p:txBody>
      </p:sp>
      <p:sp>
        <p:nvSpPr>
          <p:cNvPr id="552" name="Shape 15"/>
          <p:cNvSpPr/>
          <p:nvPr/>
        </p:nvSpPr>
        <p:spPr>
          <a:xfrm>
            <a:off x="548640" y="4434840"/>
            <a:ext cx="5439960" cy="1553760"/>
          </a:xfrm>
          <a:prstGeom prst="roundRect">
            <a:avLst>
              <a:gd name="adj" fmla="val 705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53" name="Text 16"/>
          <p:cNvSpPr/>
          <p:nvPr/>
        </p:nvSpPr>
        <p:spPr>
          <a:xfrm>
            <a:off x="777240" y="4544640"/>
            <a:ext cx="49370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accent1"/>
                </a:solidFill>
                <a:latin typeface="Calibri"/>
              </a:rPr>
              <a:t>Lo que escribe el usuario</a:t>
            </a:r>
            <a:endParaRPr lang="en-US" sz="1600" b="0" strike="noStrike" spc="-1">
              <a:solidFill>
                <a:srgbClr val="000000"/>
              </a:solidFill>
              <a:latin typeface="Arial"/>
            </a:endParaRPr>
          </a:p>
        </p:txBody>
      </p:sp>
      <p:sp>
        <p:nvSpPr>
          <p:cNvPr id="554" name="Text 17"/>
          <p:cNvSpPr/>
          <p:nvPr/>
        </p:nvSpPr>
        <p:spPr>
          <a:xfrm>
            <a:off x="777240" y="4864680"/>
            <a:ext cx="4982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1"/>
                </a:solidFill>
                <a:latin typeface="Calibri"/>
              </a:rPr>
              <a:t>Si escribe letras donde va un número, el programa vuelve a preguntar. Si deja algo vacío o repite un ID, también.</a:t>
            </a:r>
            <a:endParaRPr lang="en-US" sz="1300" b="0" strike="noStrike" spc="-1">
              <a:solidFill>
                <a:srgbClr val="000000"/>
              </a:solidFill>
              <a:latin typeface="Arial"/>
            </a:endParaRPr>
          </a:p>
        </p:txBody>
      </p:sp>
      <p:sp>
        <p:nvSpPr>
          <p:cNvPr id="555" name="Text 18"/>
          <p:cNvSpPr/>
          <p:nvPr/>
        </p:nvSpPr>
        <p:spPr>
          <a:xfrm>
            <a:off x="777240" y="5596200"/>
            <a:ext cx="4982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dk2"/>
                </a:solidFill>
                <a:latin typeface="Calibri"/>
              </a:rPr>
              <a:t>validarOpcion · validarNumero · validarPrecio · validarNombre · validarId</a:t>
            </a:r>
            <a:endParaRPr lang="en-US" sz="1100" b="0" strike="noStrike" spc="-1">
              <a:solidFill>
                <a:srgbClr val="000000"/>
              </a:solidFill>
              <a:latin typeface="Arial"/>
            </a:endParaRPr>
          </a:p>
        </p:txBody>
      </p:sp>
      <p:sp>
        <p:nvSpPr>
          <p:cNvPr id="556" name="Shape 19"/>
          <p:cNvSpPr/>
          <p:nvPr/>
        </p:nvSpPr>
        <p:spPr>
          <a:xfrm>
            <a:off x="6199560" y="4434840"/>
            <a:ext cx="5439960" cy="1553760"/>
          </a:xfrm>
          <a:prstGeom prst="roundRect">
            <a:avLst>
              <a:gd name="adj" fmla="val 7059"/>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57" name="Text 20"/>
          <p:cNvSpPr/>
          <p:nvPr/>
        </p:nvSpPr>
        <p:spPr>
          <a:xfrm>
            <a:off x="6428160" y="4544640"/>
            <a:ext cx="49370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00" b="1" strike="noStrike" spc="-1">
                <a:solidFill>
                  <a:schemeClr val="accent1"/>
                </a:solidFill>
                <a:latin typeface="Calibri"/>
              </a:rPr>
              <a:t>Las reglas del negocio</a:t>
            </a:r>
            <a:endParaRPr lang="en-US" sz="1600" b="0" strike="noStrike" spc="-1">
              <a:solidFill>
                <a:srgbClr val="000000"/>
              </a:solidFill>
              <a:latin typeface="Arial"/>
            </a:endParaRPr>
          </a:p>
        </p:txBody>
      </p:sp>
      <p:sp>
        <p:nvSpPr>
          <p:cNvPr id="558" name="Text 21"/>
          <p:cNvSpPr/>
          <p:nvPr/>
        </p:nvSpPr>
        <p:spPr>
          <a:xfrm>
            <a:off x="6428160" y="4864680"/>
            <a:ext cx="4982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0" strike="noStrike" spc="-1">
                <a:solidFill>
                  <a:schemeClr val="dk1"/>
                </a:solidFill>
                <a:latin typeface="Calibri"/>
              </a:rPr>
              <a:t>Catálogo vacío, rango al revés, porcentaje fuera de 0–100, precio ≤ 0 o ID que no existe: se avisa con un ERROR y no se rompe.</a:t>
            </a:r>
            <a:endParaRPr lang="en-US" sz="1300" b="0" strike="noStrike" spc="-1">
              <a:solidFill>
                <a:srgbClr val="000000"/>
              </a:solidFill>
              <a:latin typeface="Arial"/>
            </a:endParaRPr>
          </a:p>
        </p:txBody>
      </p:sp>
      <p:sp>
        <p:nvSpPr>
          <p:cNvPr id="559" name="Text 22"/>
          <p:cNvSpPr/>
          <p:nvPr/>
        </p:nvSpPr>
        <p:spPr>
          <a:xfrm>
            <a:off x="6428160" y="5596200"/>
            <a:ext cx="4982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dk2"/>
                </a:solidFill>
                <a:latin typeface="Calibri"/>
              </a:rPr>
              <a:t>Ejemplo: ERROR: No hay productos registrados</a:t>
            </a:r>
            <a:endParaRPr lang="en-US" sz="1100" b="0" strike="noStrike" spc="-1">
              <a:solidFill>
                <a:srgbClr val="000000"/>
              </a:solidFill>
              <a:latin typeface="Arial"/>
            </a:endParaRPr>
          </a:p>
        </p:txBody>
      </p:sp>
      <p:sp>
        <p:nvSpPr>
          <p:cNvPr id="560" name="PlaceHolder 2"/>
          <p:cNvSpPr>
            <a:spLocks noGrp="1"/>
          </p:cNvSpPr>
          <p:nvPr>
            <p:ph type="sldNum" idx="17"/>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67272E6E-2F29-43A1-8A66-06EA93E2A825}" type="slidenum">
              <a:rPr lang="en-US" sz="1000" b="0" strike="noStrike" spc="-1">
                <a:solidFill>
                  <a:srgbClr val="7A7FA8"/>
                </a:solidFill>
                <a:latin typeface="Calibri"/>
              </a:rPr>
              <a:t>14</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4 · LOS CASOS DE PRUEBA</a:t>
            </a:r>
            <a:endParaRPr lang="en-US" sz="1200" b="0" strike="noStrike" spc="-1">
              <a:solidFill>
                <a:srgbClr val="000000"/>
              </a:solidFill>
              <a:latin typeface="Arial"/>
            </a:endParaRPr>
          </a:p>
        </p:txBody>
      </p:sp>
      <p:sp>
        <p:nvSpPr>
          <p:cNvPr id="562"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3"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4" name="Shape 3"/>
          <p:cNvSpPr/>
          <p:nvPr/>
        </p:nvSpPr>
        <p:spPr>
          <a:xfrm>
            <a:off x="108997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5" name="Shape 4"/>
          <p:cNvSpPr/>
          <p:nvPr/>
        </p:nvSpPr>
        <p:spPr>
          <a:xfrm>
            <a:off x="111373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66"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7"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Probamos lo que debe funcionar</a:t>
            </a:r>
            <a:endParaRPr lang="en-US" sz="3400" b="0" strike="noStrike" spc="-1">
              <a:solidFill>
                <a:schemeClr val="dk1"/>
              </a:solidFill>
              <a:latin typeface="Calibri"/>
            </a:endParaRPr>
          </a:p>
        </p:txBody>
      </p:sp>
      <p:sp>
        <p:nvSpPr>
          <p:cNvPr id="568" name="Shape 7"/>
          <p:cNvSpPr/>
          <p:nvPr/>
        </p:nvSpPr>
        <p:spPr>
          <a:xfrm>
            <a:off x="548640" y="6163200"/>
            <a:ext cx="5243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69" name="Text 8"/>
          <p:cNvSpPr/>
          <p:nvPr/>
        </p:nvSpPr>
        <p:spPr>
          <a:xfrm>
            <a:off x="731520" y="6163200"/>
            <a:ext cx="4969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Ahora lo contrario: lo que NO debería funcionar</a:t>
            </a:r>
            <a:endParaRPr lang="en-US" sz="1300" b="0" strike="noStrike" spc="-1">
              <a:solidFill>
                <a:srgbClr val="000000"/>
              </a:solidFill>
              <a:latin typeface="Arial"/>
            </a:endParaRPr>
          </a:p>
        </p:txBody>
      </p:sp>
      <p:sp>
        <p:nvSpPr>
          <p:cNvPr id="570" name="Shape 9"/>
          <p:cNvSpPr/>
          <p:nvPr/>
        </p:nvSpPr>
        <p:spPr>
          <a:xfrm>
            <a:off x="9509760" y="749880"/>
            <a:ext cx="2129760" cy="365040"/>
          </a:xfrm>
          <a:prstGeom prst="roundRect">
            <a:avLst>
              <a:gd name="adj" fmla="val 50000"/>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71"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6 casos · opción 8</a:t>
            </a:r>
            <a:endParaRPr lang="en-US" sz="1200" b="0" strike="noStrike" spc="-1">
              <a:solidFill>
                <a:srgbClr val="000000"/>
              </a:solidFill>
              <a:latin typeface="Arial"/>
            </a:endParaRPr>
          </a:p>
        </p:txBody>
      </p:sp>
      <p:sp>
        <p:nvSpPr>
          <p:cNvPr id="572" name="Shape 11"/>
          <p:cNvSpPr/>
          <p:nvPr/>
        </p:nvSpPr>
        <p:spPr>
          <a:xfrm>
            <a:off x="548640" y="1554480"/>
            <a:ext cx="6125760" cy="2285280"/>
          </a:xfrm>
          <a:prstGeom prst="roundRect">
            <a:avLst>
              <a:gd name="adj" fmla="val 48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73" name="Text 12"/>
          <p:cNvSpPr/>
          <p:nvPr/>
        </p:nvSpPr>
        <p:spPr>
          <a:xfrm>
            <a:off x="777240" y="1700640"/>
            <a:ext cx="5668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Main.java · casos positivos</a:t>
            </a:r>
            <a:endParaRPr lang="en-US" sz="1100" b="0" strike="noStrike" spc="-1">
              <a:solidFill>
                <a:srgbClr val="000000"/>
              </a:solidFill>
              <a:latin typeface="Arial"/>
            </a:endParaRPr>
          </a:p>
        </p:txBody>
      </p:sp>
      <p:sp>
        <p:nvSpPr>
          <p:cNvPr id="574" name="Text 13"/>
          <p:cNvSpPr/>
          <p:nvPr/>
        </p:nvSpPr>
        <p:spPr>
          <a:xfrm>
            <a:off x="777240" y="2057400"/>
            <a:ext cx="5760000" cy="159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GestorTechMarket g1 = new GestorTechMarket();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g1.agregar(new Producto("P01", "Laptop Gaming", "ASUS", 1200.0));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6"/>
                </a:solidFill>
                <a:latin typeface="Courier New"/>
                <a:ea typeface="Courier New"/>
              </a:rPr>
              <a:t>// ... P02, P03 y P04 igual</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g1.mostrarProductos();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g1.filtrarPorRangoPrecio(50, 200);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g1.aplicarDescuentoMarca("ASUS", 10);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g1.buscarProductoBarato();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g1.reponerStockProducto("P02", 30.0);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g1.promedioPrecioPorMarca("ASUS");</a:t>
            </a:r>
            <a:endParaRPr lang="en-US" sz="1100" b="0" strike="noStrike" spc="-1">
              <a:solidFill>
                <a:srgbClr val="000000"/>
              </a:solidFill>
              <a:latin typeface="Arial"/>
            </a:endParaRPr>
          </a:p>
        </p:txBody>
      </p:sp>
      <p:sp>
        <p:nvSpPr>
          <p:cNvPr id="575" name="Shape 14"/>
          <p:cNvSpPr/>
          <p:nvPr/>
        </p:nvSpPr>
        <p:spPr>
          <a:xfrm>
            <a:off x="548640" y="4023360"/>
            <a:ext cx="6125760" cy="1599480"/>
          </a:xfrm>
          <a:prstGeom prst="roundRect">
            <a:avLst>
              <a:gd name="adj" fmla="val 6857"/>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76" name="Text 15"/>
          <p:cNvSpPr/>
          <p:nvPr/>
        </p:nvSpPr>
        <p:spPr>
          <a:xfrm>
            <a:off x="777240" y="4169520"/>
            <a:ext cx="5668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 Salida del caso 3</a:t>
            </a:r>
            <a:endParaRPr lang="en-US" sz="1100" b="0" strike="noStrike" spc="-1">
              <a:solidFill>
                <a:srgbClr val="000000"/>
              </a:solidFill>
              <a:latin typeface="Arial"/>
            </a:endParaRPr>
          </a:p>
        </p:txBody>
      </p:sp>
      <p:sp>
        <p:nvSpPr>
          <p:cNvPr id="577" name="Text 16"/>
          <p:cNvSpPr/>
          <p:nvPr/>
        </p:nvSpPr>
        <p:spPr>
          <a:xfrm>
            <a:off x="777240" y="4526280"/>
            <a:ext cx="5760000" cy="959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accent3"/>
                </a:solidFill>
                <a:latin typeface="Courier New"/>
                <a:ea typeface="Courier New"/>
              </a:rPr>
              <a:t>Productos modificados: 2</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1. P01 - Laptop Gaming - ASUS - 1080.0$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2. P02 - Mouse Inalámbrico - Logitech - 25.0$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3. P03 - Teclado Mecánico - ASUS - 72.0$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accent3"/>
                </a:solidFill>
                <a:latin typeface="Courier New"/>
                <a:ea typeface="Courier New"/>
              </a:rPr>
              <a:t>4. P04 - Monitor 24" - Samsung - 180.0$</a:t>
            </a:r>
            <a:endParaRPr lang="en-US" sz="1100" b="0" strike="noStrike" spc="-1">
              <a:solidFill>
                <a:srgbClr val="000000"/>
              </a:solidFill>
              <a:latin typeface="Arial"/>
            </a:endParaRPr>
          </a:p>
        </p:txBody>
      </p:sp>
      <p:sp>
        <p:nvSpPr>
          <p:cNvPr id="578" name="Shape 17"/>
          <p:cNvSpPr/>
          <p:nvPr/>
        </p:nvSpPr>
        <p:spPr>
          <a:xfrm>
            <a:off x="6949440" y="155448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79" name="Shape 18"/>
          <p:cNvSpPr/>
          <p:nvPr/>
        </p:nvSpPr>
        <p:spPr>
          <a:xfrm>
            <a:off x="7086600" y="170064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80" name="Text 19"/>
          <p:cNvSpPr/>
          <p:nvPr/>
        </p:nvSpPr>
        <p:spPr>
          <a:xfrm>
            <a:off x="7086600" y="170064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1</a:t>
            </a:r>
            <a:endParaRPr lang="en-US" sz="1400" b="0" strike="noStrike" spc="-1">
              <a:solidFill>
                <a:srgbClr val="000000"/>
              </a:solidFill>
              <a:latin typeface="Arial"/>
            </a:endParaRPr>
          </a:p>
        </p:txBody>
      </p:sp>
      <p:sp>
        <p:nvSpPr>
          <p:cNvPr id="581" name="Text 20"/>
          <p:cNvSpPr/>
          <p:nvPr/>
        </p:nvSpPr>
        <p:spPr>
          <a:xfrm>
            <a:off x="7635240" y="162756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Mostrar los 4 productos</a:t>
            </a:r>
            <a:endParaRPr lang="en-US" sz="1400" b="0" strike="noStrike" spc="-1">
              <a:solidFill>
                <a:srgbClr val="000000"/>
              </a:solidFill>
              <a:latin typeface="Arial"/>
            </a:endParaRPr>
          </a:p>
        </p:txBody>
      </p:sp>
      <p:sp>
        <p:nvSpPr>
          <p:cNvPr id="582" name="Text 21"/>
          <p:cNvSpPr/>
          <p:nvPr/>
        </p:nvSpPr>
        <p:spPr>
          <a:xfrm>
            <a:off x="7635240" y="192024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P01 a P04 con su precio</a:t>
            </a:r>
            <a:endParaRPr lang="en-US" sz="1200" b="0" strike="noStrike" spc="-1">
              <a:solidFill>
                <a:srgbClr val="000000"/>
              </a:solidFill>
              <a:latin typeface="Arial"/>
            </a:endParaRPr>
          </a:p>
        </p:txBody>
      </p:sp>
      <p:sp>
        <p:nvSpPr>
          <p:cNvPr id="583" name="Shape 22"/>
          <p:cNvSpPr/>
          <p:nvPr/>
        </p:nvSpPr>
        <p:spPr>
          <a:xfrm>
            <a:off x="6949440" y="230436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84" name="Shape 23"/>
          <p:cNvSpPr/>
          <p:nvPr/>
        </p:nvSpPr>
        <p:spPr>
          <a:xfrm>
            <a:off x="7086600" y="245052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85" name="Text 24"/>
          <p:cNvSpPr/>
          <p:nvPr/>
        </p:nvSpPr>
        <p:spPr>
          <a:xfrm>
            <a:off x="7086600" y="245052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2</a:t>
            </a:r>
            <a:endParaRPr lang="en-US" sz="1400" b="0" strike="noStrike" spc="-1">
              <a:solidFill>
                <a:srgbClr val="000000"/>
              </a:solidFill>
              <a:latin typeface="Arial"/>
            </a:endParaRPr>
          </a:p>
        </p:txBody>
      </p:sp>
      <p:sp>
        <p:nvSpPr>
          <p:cNvPr id="586" name="Text 25"/>
          <p:cNvSpPr/>
          <p:nvPr/>
        </p:nvSpPr>
        <p:spPr>
          <a:xfrm>
            <a:off x="7635240" y="237744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Filtrar entre 50 y 200</a:t>
            </a:r>
            <a:endParaRPr lang="en-US" sz="1400" b="0" strike="noStrike" spc="-1">
              <a:solidFill>
                <a:srgbClr val="000000"/>
              </a:solidFill>
              <a:latin typeface="Arial"/>
            </a:endParaRPr>
          </a:p>
        </p:txBody>
      </p:sp>
      <p:sp>
        <p:nvSpPr>
          <p:cNvPr id="587" name="Text 26"/>
          <p:cNvSpPr/>
          <p:nvPr/>
        </p:nvSpPr>
        <p:spPr>
          <a:xfrm>
            <a:off x="7635240" y="267012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Teclado Mecánico, Monitor 24"</a:t>
            </a:r>
            <a:endParaRPr lang="en-US" sz="1200" b="0" strike="noStrike" spc="-1">
              <a:solidFill>
                <a:srgbClr val="000000"/>
              </a:solidFill>
              <a:latin typeface="Arial"/>
            </a:endParaRPr>
          </a:p>
        </p:txBody>
      </p:sp>
      <p:sp>
        <p:nvSpPr>
          <p:cNvPr id="588" name="Shape 27"/>
          <p:cNvSpPr/>
          <p:nvPr/>
        </p:nvSpPr>
        <p:spPr>
          <a:xfrm>
            <a:off x="6949440" y="305424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89" name="Shape 28"/>
          <p:cNvSpPr/>
          <p:nvPr/>
        </p:nvSpPr>
        <p:spPr>
          <a:xfrm>
            <a:off x="7086600" y="320040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90" name="Text 29"/>
          <p:cNvSpPr/>
          <p:nvPr/>
        </p:nvSpPr>
        <p:spPr>
          <a:xfrm>
            <a:off x="7086600" y="32004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3</a:t>
            </a:r>
            <a:endParaRPr lang="en-US" sz="1400" b="0" strike="noStrike" spc="-1">
              <a:solidFill>
                <a:srgbClr val="000000"/>
              </a:solidFill>
              <a:latin typeface="Arial"/>
            </a:endParaRPr>
          </a:p>
        </p:txBody>
      </p:sp>
      <p:sp>
        <p:nvSpPr>
          <p:cNvPr id="591" name="Text 30"/>
          <p:cNvSpPr/>
          <p:nvPr/>
        </p:nvSpPr>
        <p:spPr>
          <a:xfrm>
            <a:off x="7635240" y="312732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10 % de descuento a ASUS</a:t>
            </a:r>
            <a:endParaRPr lang="en-US" sz="1400" b="0" strike="noStrike" spc="-1">
              <a:solidFill>
                <a:srgbClr val="000000"/>
              </a:solidFill>
              <a:latin typeface="Arial"/>
            </a:endParaRPr>
          </a:p>
        </p:txBody>
      </p:sp>
      <p:sp>
        <p:nvSpPr>
          <p:cNvPr id="592" name="Text 31"/>
          <p:cNvSpPr/>
          <p:nvPr/>
        </p:nvSpPr>
        <p:spPr>
          <a:xfrm>
            <a:off x="7635240" y="342000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Productos modificados: 2</a:t>
            </a:r>
            <a:endParaRPr lang="en-US" sz="1200" b="0" strike="noStrike" spc="-1">
              <a:solidFill>
                <a:srgbClr val="000000"/>
              </a:solidFill>
              <a:latin typeface="Arial"/>
            </a:endParaRPr>
          </a:p>
        </p:txBody>
      </p:sp>
      <p:sp>
        <p:nvSpPr>
          <p:cNvPr id="593" name="Shape 32"/>
          <p:cNvSpPr/>
          <p:nvPr/>
        </p:nvSpPr>
        <p:spPr>
          <a:xfrm>
            <a:off x="6949440" y="380376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94" name="Shape 33"/>
          <p:cNvSpPr/>
          <p:nvPr/>
        </p:nvSpPr>
        <p:spPr>
          <a:xfrm>
            <a:off x="7086600" y="395028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595" name="Text 34"/>
          <p:cNvSpPr/>
          <p:nvPr/>
        </p:nvSpPr>
        <p:spPr>
          <a:xfrm>
            <a:off x="7086600" y="395028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4</a:t>
            </a:r>
            <a:endParaRPr lang="en-US" sz="1400" b="0" strike="noStrike" spc="-1">
              <a:solidFill>
                <a:srgbClr val="000000"/>
              </a:solidFill>
              <a:latin typeface="Arial"/>
            </a:endParaRPr>
          </a:p>
        </p:txBody>
      </p:sp>
      <p:sp>
        <p:nvSpPr>
          <p:cNvPr id="596" name="Text 35"/>
          <p:cNvSpPr/>
          <p:nvPr/>
        </p:nvSpPr>
        <p:spPr>
          <a:xfrm>
            <a:off x="7635240" y="387720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El más barato</a:t>
            </a:r>
            <a:endParaRPr lang="en-US" sz="1400" b="0" strike="noStrike" spc="-1">
              <a:solidFill>
                <a:srgbClr val="000000"/>
              </a:solidFill>
              <a:latin typeface="Arial"/>
            </a:endParaRPr>
          </a:p>
        </p:txBody>
      </p:sp>
      <p:sp>
        <p:nvSpPr>
          <p:cNvPr id="597" name="Text 36"/>
          <p:cNvSpPr/>
          <p:nvPr/>
        </p:nvSpPr>
        <p:spPr>
          <a:xfrm>
            <a:off x="7635240" y="416952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P02 - Mouse Inalámbrico · 25.0$</a:t>
            </a:r>
            <a:endParaRPr lang="en-US" sz="1200" b="0" strike="noStrike" spc="-1">
              <a:solidFill>
                <a:srgbClr val="000000"/>
              </a:solidFill>
              <a:latin typeface="Arial"/>
            </a:endParaRPr>
          </a:p>
        </p:txBody>
      </p:sp>
      <p:sp>
        <p:nvSpPr>
          <p:cNvPr id="598" name="Shape 37"/>
          <p:cNvSpPr/>
          <p:nvPr/>
        </p:nvSpPr>
        <p:spPr>
          <a:xfrm>
            <a:off x="6949440" y="455364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599" name="Shape 38"/>
          <p:cNvSpPr/>
          <p:nvPr/>
        </p:nvSpPr>
        <p:spPr>
          <a:xfrm>
            <a:off x="7086600" y="470016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00" name="Text 39"/>
          <p:cNvSpPr/>
          <p:nvPr/>
        </p:nvSpPr>
        <p:spPr>
          <a:xfrm>
            <a:off x="7086600" y="470016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5</a:t>
            </a:r>
            <a:endParaRPr lang="en-US" sz="1400" b="0" strike="noStrike" spc="-1">
              <a:solidFill>
                <a:srgbClr val="000000"/>
              </a:solidFill>
              <a:latin typeface="Arial"/>
            </a:endParaRPr>
          </a:p>
        </p:txBody>
      </p:sp>
      <p:sp>
        <p:nvSpPr>
          <p:cNvPr id="601" name="Text 40"/>
          <p:cNvSpPr/>
          <p:nvPr/>
        </p:nvSpPr>
        <p:spPr>
          <a:xfrm>
            <a:off x="7635240" y="462672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Cambiar P02 a 30.0</a:t>
            </a:r>
            <a:endParaRPr lang="en-US" sz="1400" b="0" strike="noStrike" spc="-1">
              <a:solidFill>
                <a:srgbClr val="000000"/>
              </a:solidFill>
              <a:latin typeface="Arial"/>
            </a:endParaRPr>
          </a:p>
        </p:txBody>
      </p:sp>
      <p:sp>
        <p:nvSpPr>
          <p:cNvPr id="602" name="Text 41"/>
          <p:cNvSpPr/>
          <p:nvPr/>
        </p:nvSpPr>
        <p:spPr>
          <a:xfrm>
            <a:off x="7635240" y="491940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Precio actualizado correctamente</a:t>
            </a:r>
            <a:endParaRPr lang="en-US" sz="1200" b="0" strike="noStrike" spc="-1">
              <a:solidFill>
                <a:srgbClr val="000000"/>
              </a:solidFill>
              <a:latin typeface="Arial"/>
            </a:endParaRPr>
          </a:p>
        </p:txBody>
      </p:sp>
      <p:sp>
        <p:nvSpPr>
          <p:cNvPr id="603" name="Shape 42"/>
          <p:cNvSpPr/>
          <p:nvPr/>
        </p:nvSpPr>
        <p:spPr>
          <a:xfrm>
            <a:off x="6949440" y="5303520"/>
            <a:ext cx="4690080" cy="657720"/>
          </a:xfrm>
          <a:prstGeom prst="roundRect">
            <a:avLst>
              <a:gd name="adj" fmla="val 16667"/>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04" name="Shape 43"/>
          <p:cNvSpPr/>
          <p:nvPr/>
        </p:nvSpPr>
        <p:spPr>
          <a:xfrm>
            <a:off x="7086600" y="544968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05" name="Text 44"/>
          <p:cNvSpPr/>
          <p:nvPr/>
        </p:nvSpPr>
        <p:spPr>
          <a:xfrm>
            <a:off x="7086600" y="544968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6</a:t>
            </a:r>
            <a:endParaRPr lang="en-US" sz="1400" b="0" strike="noStrike" spc="-1">
              <a:solidFill>
                <a:srgbClr val="000000"/>
              </a:solidFill>
              <a:latin typeface="Arial"/>
            </a:endParaRPr>
          </a:p>
        </p:txBody>
      </p:sp>
      <p:sp>
        <p:nvSpPr>
          <p:cNvPr id="606" name="Text 45"/>
          <p:cNvSpPr/>
          <p:nvPr/>
        </p:nvSpPr>
        <p:spPr>
          <a:xfrm>
            <a:off x="7635240" y="5376600"/>
            <a:ext cx="38397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strike="noStrike" spc="-1">
                <a:solidFill>
                  <a:schemeClr val="dk1"/>
                </a:solidFill>
                <a:latin typeface="Calibri"/>
              </a:rPr>
              <a:t>Promedio de ASUS</a:t>
            </a:r>
            <a:endParaRPr lang="en-US" sz="1400" b="0" strike="noStrike" spc="-1">
              <a:solidFill>
                <a:srgbClr val="000000"/>
              </a:solidFill>
              <a:latin typeface="Arial"/>
            </a:endParaRPr>
          </a:p>
        </p:txBody>
      </p:sp>
      <p:sp>
        <p:nvSpPr>
          <p:cNvPr id="607" name="Text 46"/>
          <p:cNvSpPr/>
          <p:nvPr/>
        </p:nvSpPr>
        <p:spPr>
          <a:xfrm>
            <a:off x="7635240" y="5669280"/>
            <a:ext cx="3839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accent1"/>
                </a:solidFill>
                <a:latin typeface="Calibri"/>
              </a:rPr>
              <a:t>Promedio: 576.0</a:t>
            </a:r>
            <a:endParaRPr lang="en-US" sz="1200" b="0" strike="noStrike" spc="-1">
              <a:solidFill>
                <a:srgbClr val="000000"/>
              </a:solidFill>
              <a:latin typeface="Arial"/>
            </a:endParaRPr>
          </a:p>
        </p:txBody>
      </p:sp>
      <p:sp>
        <p:nvSpPr>
          <p:cNvPr id="608" name="PlaceHolder 2"/>
          <p:cNvSpPr>
            <a:spLocks noGrp="1"/>
          </p:cNvSpPr>
          <p:nvPr>
            <p:ph type="sldNum" idx="18"/>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FAD3E45B-D897-4214-BC4F-EC68C491666B}" type="slidenum">
              <a:rPr lang="en-US" sz="1000" b="0" strike="noStrike" spc="-1">
                <a:solidFill>
                  <a:srgbClr val="7A7FA8"/>
                </a:solidFill>
                <a:latin typeface="Calibri"/>
              </a:rPr>
              <a:t>15</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Text 0"/>
          <p:cNvSpPr/>
          <p:nvPr/>
        </p:nvSpPr>
        <p:spPr>
          <a:xfrm>
            <a:off x="548640" y="274320"/>
            <a:ext cx="45712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97">
                <a:solidFill>
                  <a:schemeClr val="accent1"/>
                </a:solidFill>
                <a:latin typeface="Calibri"/>
              </a:rPr>
              <a:t>4 · LOS CASOS DE PRUEBA</a:t>
            </a:r>
            <a:endParaRPr lang="en-US" sz="1200" b="0" strike="noStrike" spc="-1">
              <a:solidFill>
                <a:srgbClr val="000000"/>
              </a:solidFill>
              <a:latin typeface="Arial"/>
            </a:endParaRPr>
          </a:p>
        </p:txBody>
      </p:sp>
      <p:sp>
        <p:nvSpPr>
          <p:cNvPr id="610" name="Shape 1"/>
          <p:cNvSpPr/>
          <p:nvPr/>
        </p:nvSpPr>
        <p:spPr>
          <a:xfrm>
            <a:off x="104241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11" name="Shape 2"/>
          <p:cNvSpPr/>
          <p:nvPr/>
        </p:nvSpPr>
        <p:spPr>
          <a:xfrm>
            <a:off x="1066176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12" name="Shape 3"/>
          <p:cNvSpPr/>
          <p:nvPr/>
        </p:nvSpPr>
        <p:spPr>
          <a:xfrm>
            <a:off x="1089972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13" name="Shape 4"/>
          <p:cNvSpPr/>
          <p:nvPr/>
        </p:nvSpPr>
        <p:spPr>
          <a:xfrm>
            <a:off x="11137320" y="329040"/>
            <a:ext cx="127440" cy="1274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14" name="Shape 5"/>
          <p:cNvSpPr/>
          <p:nvPr/>
        </p:nvSpPr>
        <p:spPr>
          <a:xfrm>
            <a:off x="11375280" y="329040"/>
            <a:ext cx="127440" cy="127440"/>
          </a:xfrm>
          <a:prstGeom prst="ellipse">
            <a:avLst/>
          </a:prstGeom>
          <a:solidFill>
            <a:schemeClr val="accent6">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15" name="PlaceHolder 1"/>
          <p:cNvSpPr>
            <a:spLocks noGrp="1"/>
          </p:cNvSpPr>
          <p:nvPr>
            <p:ph type="title"/>
          </p:nvPr>
        </p:nvSpPr>
        <p:spPr>
          <a:xfrm>
            <a:off x="548640" y="567000"/>
            <a:ext cx="8777520" cy="730800"/>
          </a:xfrm>
          <a:prstGeom prst="rect">
            <a:avLst/>
          </a:prstGeom>
          <a:noFill/>
          <a:ln w="0">
            <a:noFill/>
          </a:ln>
        </p:spPr>
        <p:txBody>
          <a:bodyPr lIns="0" tIns="0" rIns="0" bIns="0" anchor="ctr">
            <a:noAutofit/>
          </a:bodyPr>
          <a:lstStyle/>
          <a:p>
            <a:pPr indent="0" defTabSz="914400">
              <a:lnSpc>
                <a:spcPct val="100000"/>
              </a:lnSpc>
              <a:buNone/>
              <a:tabLst>
                <a:tab pos="0" algn="l"/>
              </a:tabLst>
            </a:pPr>
            <a:r>
              <a:rPr lang="en-US" sz="3400" b="1" strike="noStrike" spc="-1">
                <a:solidFill>
                  <a:schemeClr val="dk1"/>
                </a:solidFill>
                <a:latin typeface="Cambria"/>
              </a:rPr>
              <a:t>Probamos lo que debe fallar</a:t>
            </a:r>
            <a:endParaRPr lang="en-US" sz="3400" b="0" strike="noStrike" spc="-1">
              <a:solidFill>
                <a:schemeClr val="dk1"/>
              </a:solidFill>
              <a:latin typeface="Calibri"/>
            </a:endParaRPr>
          </a:p>
        </p:txBody>
      </p:sp>
      <p:sp>
        <p:nvSpPr>
          <p:cNvPr id="616" name="Shape 7"/>
          <p:cNvSpPr/>
          <p:nvPr/>
        </p:nvSpPr>
        <p:spPr>
          <a:xfrm>
            <a:off x="548640" y="6163200"/>
            <a:ext cx="4955400" cy="36504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17" name="Text 8"/>
          <p:cNvSpPr/>
          <p:nvPr/>
        </p:nvSpPr>
        <p:spPr>
          <a:xfrm>
            <a:off x="731520" y="6163200"/>
            <a:ext cx="46810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chemeClr val="accent1"/>
                </a:solidFill>
                <a:latin typeface="Calibri"/>
              </a:rPr>
              <a:t>→  Con todo probado, estas son las conclusiones</a:t>
            </a:r>
            <a:endParaRPr lang="en-US" sz="1300" b="0" strike="noStrike" spc="-1">
              <a:solidFill>
                <a:srgbClr val="000000"/>
              </a:solidFill>
              <a:latin typeface="Arial"/>
            </a:endParaRPr>
          </a:p>
        </p:txBody>
      </p:sp>
      <p:sp>
        <p:nvSpPr>
          <p:cNvPr id="618" name="Shape 9"/>
          <p:cNvSpPr/>
          <p:nvPr/>
        </p:nvSpPr>
        <p:spPr>
          <a:xfrm>
            <a:off x="9509760" y="749880"/>
            <a:ext cx="2129760" cy="36504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19" name="Text 10"/>
          <p:cNvSpPr/>
          <p:nvPr/>
        </p:nvSpPr>
        <p:spPr>
          <a:xfrm>
            <a:off x="9509760" y="749880"/>
            <a:ext cx="21297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chemeClr val="dk1"/>
                </a:solidFill>
                <a:latin typeface="Calibri"/>
              </a:rPr>
              <a:t>8 casos · opción 8</a:t>
            </a:r>
            <a:endParaRPr lang="en-US" sz="1200" b="0" strike="noStrike" spc="-1">
              <a:solidFill>
                <a:srgbClr val="000000"/>
              </a:solidFill>
              <a:latin typeface="Arial"/>
            </a:endParaRPr>
          </a:p>
        </p:txBody>
      </p:sp>
      <p:sp>
        <p:nvSpPr>
          <p:cNvPr id="620" name="Shape 11"/>
          <p:cNvSpPr/>
          <p:nvPr/>
        </p:nvSpPr>
        <p:spPr>
          <a:xfrm>
            <a:off x="548640" y="1554480"/>
            <a:ext cx="6125760" cy="2285280"/>
          </a:xfrm>
          <a:prstGeom prst="roundRect">
            <a:avLst>
              <a:gd name="adj" fmla="val 48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21" name="Text 12"/>
          <p:cNvSpPr/>
          <p:nvPr/>
        </p:nvSpPr>
        <p:spPr>
          <a:xfrm>
            <a:off x="777240" y="1700640"/>
            <a:ext cx="5668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1" strike="noStrike" spc="-1">
                <a:solidFill>
                  <a:schemeClr val="accent2"/>
                </a:solidFill>
                <a:latin typeface="Calibri"/>
              </a:rPr>
              <a:t>Main.java · casos negativos (resumen)</a:t>
            </a:r>
            <a:endParaRPr lang="en-US" sz="1100" b="0" strike="noStrike" spc="-1">
              <a:solidFill>
                <a:srgbClr val="000000"/>
              </a:solidFill>
              <a:latin typeface="Arial"/>
            </a:endParaRPr>
          </a:p>
        </p:txBody>
      </p:sp>
      <p:sp>
        <p:nvSpPr>
          <p:cNvPr id="622" name="Text 13"/>
          <p:cNvSpPr/>
          <p:nvPr/>
        </p:nvSpPr>
        <p:spPr>
          <a:xfrm>
            <a:off x="777240" y="2057400"/>
            <a:ext cx="5760000" cy="159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chemeClr val="lt1"/>
                </a:solidFill>
                <a:latin typeface="Courier New"/>
                <a:ea typeface="Courier New"/>
              </a:rPr>
              <a:t>GestorTechMarket g2 = new GestorTechMarket();</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g2.mostrarProductos();</a:t>
            </a:r>
            <a:r>
              <a:rPr lang="en-US" sz="1100" b="0" strike="noStrike" spc="-1">
                <a:solidFill>
                  <a:schemeClr val="accent6"/>
                </a:solidFill>
                <a:latin typeface="Courier New"/>
                <a:ea typeface="Courier New"/>
              </a:rPr>
              <a:t> // sin productos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g2.aplicarDescuentoMarca("Logitech", 10);</a:t>
            </a:r>
            <a:r>
              <a:rPr lang="en-US" sz="1100" b="0" strike="noStrike" spc="-1">
                <a:solidFill>
                  <a:schemeClr val="accent6"/>
                </a:solidFill>
                <a:latin typeface="Courier New"/>
                <a:ea typeface="Courier New"/>
              </a:rPr>
              <a:t> // marca sin productos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g2.reponerStockProducto("P99", 500.0);</a:t>
            </a:r>
            <a:r>
              <a:rPr lang="en-US" sz="1100" b="0" strike="noStrike" spc="-1">
                <a:solidFill>
                  <a:schemeClr val="accent6"/>
                </a:solidFill>
                <a:latin typeface="Courier New"/>
                <a:ea typeface="Courier New"/>
              </a:rPr>
              <a:t> // ID inexistente</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g2.filtrarPorRangoPrecio(500, 100);</a:t>
            </a:r>
            <a:r>
              <a:rPr lang="en-US" sz="1100" b="0" strike="noStrike" spc="-1">
                <a:solidFill>
                  <a:schemeClr val="accent6"/>
                </a:solidFill>
                <a:latin typeface="Courier New"/>
                <a:ea typeface="Courier New"/>
              </a:rPr>
              <a:t> // rango al revés</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g2.aplicarDescuentoMarca("ASUS", 150);</a:t>
            </a:r>
            <a:r>
              <a:rPr lang="en-US" sz="1100" b="0" strike="noStrike" spc="-1">
                <a:solidFill>
                  <a:schemeClr val="accent6"/>
                </a:solidFill>
                <a:latin typeface="Courier New"/>
                <a:ea typeface="Courier New"/>
              </a:rPr>
              <a:t> // más de 100</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g2.aplicarDescuentoMarca("ASUS", -10);</a:t>
            </a:r>
            <a:r>
              <a:rPr lang="en-US" sz="1100" b="0" strike="noStrike" spc="-1">
                <a:solidFill>
                  <a:schemeClr val="accent6"/>
                </a:solidFill>
                <a:latin typeface="Courier New"/>
                <a:ea typeface="Courier New"/>
              </a:rPr>
              <a:t> // negativo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g2.reponerStockProducto("P01", -500.0);</a:t>
            </a:r>
            <a:r>
              <a:rPr lang="en-US" sz="1100" b="0" strike="noStrike" spc="-1">
                <a:solidFill>
                  <a:schemeClr val="accent6"/>
                </a:solidFill>
                <a:latin typeface="Courier New"/>
                <a:ea typeface="Courier New"/>
              </a:rPr>
              <a:t> // precio negativo</a:t>
            </a:r>
            <a:endParaRPr lang="en-US" sz="1100" b="0" strike="noStrike" spc="-1">
              <a:solidFill>
                <a:srgbClr val="000000"/>
              </a:solidFill>
              <a:latin typeface="Arial"/>
            </a:endParaRPr>
          </a:p>
          <a:p>
            <a:pPr defTabSz="914400">
              <a:lnSpc>
                <a:spcPct val="100000"/>
              </a:lnSpc>
              <a:tabLst>
                <a:tab pos="0" algn="l"/>
              </a:tabLst>
            </a:pPr>
            <a:r>
              <a:rPr lang="en-US" sz="1100" b="0" strike="noStrike" spc="-1">
                <a:solidFill>
                  <a:schemeClr val="lt1"/>
                </a:solidFill>
                <a:latin typeface="Courier New"/>
                <a:ea typeface="Courier New"/>
              </a:rPr>
              <a:t>g2.filtrarPorRangoPrecio(5000, 10000);</a:t>
            </a:r>
            <a:r>
              <a:rPr lang="en-US" sz="1100" b="0" strike="noStrike" spc="-1">
                <a:solidFill>
                  <a:schemeClr val="accent6"/>
                </a:solidFill>
                <a:latin typeface="Courier New"/>
                <a:ea typeface="Courier New"/>
              </a:rPr>
              <a:t> // sin resultados</a:t>
            </a:r>
            <a:endParaRPr lang="en-US" sz="1100" b="0" strike="noStrike" spc="-1">
              <a:solidFill>
                <a:srgbClr val="000000"/>
              </a:solidFill>
              <a:latin typeface="Arial"/>
            </a:endParaRPr>
          </a:p>
        </p:txBody>
      </p:sp>
      <p:sp>
        <p:nvSpPr>
          <p:cNvPr id="623" name="Shape 14"/>
          <p:cNvSpPr/>
          <p:nvPr/>
        </p:nvSpPr>
        <p:spPr>
          <a:xfrm>
            <a:off x="548640" y="4069080"/>
            <a:ext cx="3016800" cy="1325160"/>
          </a:xfrm>
          <a:prstGeom prst="roundRect">
            <a:avLst>
              <a:gd name="adj" fmla="val 8276"/>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24" name="Text 15"/>
          <p:cNvSpPr/>
          <p:nvPr/>
        </p:nvSpPr>
        <p:spPr>
          <a:xfrm>
            <a:off x="777240" y="4114800"/>
            <a:ext cx="91368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400" b="1" strike="noStrike" spc="-1">
                <a:solidFill>
                  <a:schemeClr val="accent3"/>
                </a:solidFill>
                <a:latin typeface="Calibri"/>
              </a:rPr>
              <a:t>6</a:t>
            </a:r>
            <a:endParaRPr lang="en-US" sz="5400" b="0" strike="noStrike" spc="-1">
              <a:solidFill>
                <a:srgbClr val="000000"/>
              </a:solidFill>
              <a:latin typeface="Arial"/>
            </a:endParaRPr>
          </a:p>
        </p:txBody>
      </p:sp>
      <p:sp>
        <p:nvSpPr>
          <p:cNvPr id="625" name="Text 16"/>
          <p:cNvSpPr/>
          <p:nvPr/>
        </p:nvSpPr>
        <p:spPr>
          <a:xfrm>
            <a:off x="1645920" y="4114800"/>
            <a:ext cx="178236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lt1"/>
                </a:solidFill>
                <a:latin typeface="Calibri"/>
              </a:rPr>
              <a:t>casos positivos</a:t>
            </a:r>
            <a:endParaRPr lang="en-US" sz="1400" b="0" strike="noStrike" spc="-1">
              <a:solidFill>
                <a:srgbClr val="000000"/>
              </a:solidFill>
              <a:latin typeface="Arial"/>
            </a:endParaRPr>
          </a:p>
        </p:txBody>
      </p:sp>
      <p:sp>
        <p:nvSpPr>
          <p:cNvPr id="626" name="Shape 17"/>
          <p:cNvSpPr/>
          <p:nvPr/>
        </p:nvSpPr>
        <p:spPr>
          <a:xfrm>
            <a:off x="3657600" y="4069080"/>
            <a:ext cx="3016800" cy="1325160"/>
          </a:xfrm>
          <a:prstGeom prst="roundRect">
            <a:avLst>
              <a:gd name="adj" fmla="val 8276"/>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27" name="Text 18"/>
          <p:cNvSpPr/>
          <p:nvPr/>
        </p:nvSpPr>
        <p:spPr>
          <a:xfrm>
            <a:off x="3886200" y="4114800"/>
            <a:ext cx="91368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400" b="1" strike="noStrike" spc="-1">
                <a:solidFill>
                  <a:schemeClr val="accent4"/>
                </a:solidFill>
                <a:latin typeface="Calibri"/>
              </a:rPr>
              <a:t>8</a:t>
            </a:r>
            <a:endParaRPr lang="en-US" sz="5400" b="0" strike="noStrike" spc="-1">
              <a:solidFill>
                <a:srgbClr val="000000"/>
              </a:solidFill>
              <a:latin typeface="Arial"/>
            </a:endParaRPr>
          </a:p>
        </p:txBody>
      </p:sp>
      <p:sp>
        <p:nvSpPr>
          <p:cNvPr id="628" name="Text 19"/>
          <p:cNvSpPr/>
          <p:nvPr/>
        </p:nvSpPr>
        <p:spPr>
          <a:xfrm>
            <a:off x="4754880" y="4114800"/>
            <a:ext cx="178236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chemeClr val="lt1"/>
                </a:solidFill>
                <a:latin typeface="Calibri"/>
              </a:rPr>
              <a:t>casos negativos y de borde</a:t>
            </a:r>
            <a:endParaRPr lang="en-US" sz="1400" b="0" strike="noStrike" spc="-1">
              <a:solidFill>
                <a:srgbClr val="000000"/>
              </a:solidFill>
              <a:latin typeface="Arial"/>
            </a:endParaRPr>
          </a:p>
        </p:txBody>
      </p:sp>
      <p:sp>
        <p:nvSpPr>
          <p:cNvPr id="629" name="Shape 20"/>
          <p:cNvSpPr/>
          <p:nvPr/>
        </p:nvSpPr>
        <p:spPr>
          <a:xfrm>
            <a:off x="6949440" y="155448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30" name="Shape 21"/>
          <p:cNvSpPr/>
          <p:nvPr/>
        </p:nvSpPr>
        <p:spPr>
          <a:xfrm>
            <a:off x="7059240" y="162756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31" name="Text 22"/>
          <p:cNvSpPr/>
          <p:nvPr/>
        </p:nvSpPr>
        <p:spPr>
          <a:xfrm>
            <a:off x="7059240" y="162756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1</a:t>
            </a:r>
            <a:endParaRPr lang="en-US" sz="1300" b="0" strike="noStrike" spc="-1">
              <a:solidFill>
                <a:srgbClr val="000000"/>
              </a:solidFill>
              <a:latin typeface="Arial"/>
            </a:endParaRPr>
          </a:p>
        </p:txBody>
      </p:sp>
      <p:sp>
        <p:nvSpPr>
          <p:cNvPr id="632" name="Text 23"/>
          <p:cNvSpPr/>
          <p:nvPr/>
        </p:nvSpPr>
        <p:spPr>
          <a:xfrm>
            <a:off x="7571160" y="159120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Catálogo vacío (los 6 métodos)</a:t>
            </a:r>
            <a:endParaRPr lang="en-US" sz="1200" b="0" strike="noStrike" spc="-1">
              <a:solidFill>
                <a:srgbClr val="000000"/>
              </a:solidFill>
              <a:latin typeface="Arial"/>
            </a:endParaRPr>
          </a:p>
        </p:txBody>
      </p:sp>
      <p:sp>
        <p:nvSpPr>
          <p:cNvPr id="633" name="Text 24"/>
          <p:cNvSpPr/>
          <p:nvPr/>
        </p:nvSpPr>
        <p:spPr>
          <a:xfrm>
            <a:off x="7571160" y="181044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No hay productos registrados</a:t>
            </a:r>
            <a:endParaRPr lang="en-US" sz="1000" b="0" strike="noStrike" spc="-1">
              <a:solidFill>
                <a:srgbClr val="000000"/>
              </a:solidFill>
              <a:latin typeface="Arial"/>
            </a:endParaRPr>
          </a:p>
        </p:txBody>
      </p:sp>
      <p:sp>
        <p:nvSpPr>
          <p:cNvPr id="634" name="Shape 25"/>
          <p:cNvSpPr/>
          <p:nvPr/>
        </p:nvSpPr>
        <p:spPr>
          <a:xfrm>
            <a:off x="6949440" y="210312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35" name="Shape 26"/>
          <p:cNvSpPr/>
          <p:nvPr/>
        </p:nvSpPr>
        <p:spPr>
          <a:xfrm>
            <a:off x="7059240" y="217620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36" name="Text 27"/>
          <p:cNvSpPr/>
          <p:nvPr/>
        </p:nvSpPr>
        <p:spPr>
          <a:xfrm>
            <a:off x="7059240" y="217620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2</a:t>
            </a:r>
            <a:endParaRPr lang="en-US" sz="1300" b="0" strike="noStrike" spc="-1">
              <a:solidFill>
                <a:srgbClr val="000000"/>
              </a:solidFill>
              <a:latin typeface="Arial"/>
            </a:endParaRPr>
          </a:p>
        </p:txBody>
      </p:sp>
      <p:sp>
        <p:nvSpPr>
          <p:cNvPr id="637" name="Text 28"/>
          <p:cNvSpPr/>
          <p:nvPr/>
        </p:nvSpPr>
        <p:spPr>
          <a:xfrm>
            <a:off x="7571160" y="213984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Marca sin productos</a:t>
            </a:r>
            <a:endParaRPr lang="en-US" sz="1200" b="0" strike="noStrike" spc="-1">
              <a:solidFill>
                <a:srgbClr val="000000"/>
              </a:solidFill>
              <a:latin typeface="Arial"/>
            </a:endParaRPr>
          </a:p>
        </p:txBody>
      </p:sp>
      <p:sp>
        <p:nvSpPr>
          <p:cNvPr id="638" name="Text 29"/>
          <p:cNvSpPr/>
          <p:nvPr/>
        </p:nvSpPr>
        <p:spPr>
          <a:xfrm>
            <a:off x="7571160" y="235908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No hay productos de la marca Logitech</a:t>
            </a:r>
            <a:endParaRPr lang="en-US" sz="1000" b="0" strike="noStrike" spc="-1">
              <a:solidFill>
                <a:srgbClr val="000000"/>
              </a:solidFill>
              <a:latin typeface="Arial"/>
            </a:endParaRPr>
          </a:p>
        </p:txBody>
      </p:sp>
      <p:sp>
        <p:nvSpPr>
          <p:cNvPr id="639" name="Shape 30"/>
          <p:cNvSpPr/>
          <p:nvPr/>
        </p:nvSpPr>
        <p:spPr>
          <a:xfrm>
            <a:off x="6949440" y="265176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40" name="Shape 31"/>
          <p:cNvSpPr/>
          <p:nvPr/>
        </p:nvSpPr>
        <p:spPr>
          <a:xfrm>
            <a:off x="7059240" y="272484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41" name="Text 32"/>
          <p:cNvSpPr/>
          <p:nvPr/>
        </p:nvSpPr>
        <p:spPr>
          <a:xfrm>
            <a:off x="7059240" y="27248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3</a:t>
            </a:r>
            <a:endParaRPr lang="en-US" sz="1300" b="0" strike="noStrike" spc="-1">
              <a:solidFill>
                <a:srgbClr val="000000"/>
              </a:solidFill>
              <a:latin typeface="Arial"/>
            </a:endParaRPr>
          </a:p>
        </p:txBody>
      </p:sp>
      <p:sp>
        <p:nvSpPr>
          <p:cNvPr id="642" name="Text 33"/>
          <p:cNvSpPr/>
          <p:nvPr/>
        </p:nvSpPr>
        <p:spPr>
          <a:xfrm>
            <a:off x="7571160" y="268848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ID que no existe (P99)</a:t>
            </a:r>
            <a:endParaRPr lang="en-US" sz="1200" b="0" strike="noStrike" spc="-1">
              <a:solidFill>
                <a:srgbClr val="000000"/>
              </a:solidFill>
              <a:latin typeface="Arial"/>
            </a:endParaRPr>
          </a:p>
        </p:txBody>
      </p:sp>
      <p:sp>
        <p:nvSpPr>
          <p:cNvPr id="643" name="Text 34"/>
          <p:cNvSpPr/>
          <p:nvPr/>
        </p:nvSpPr>
        <p:spPr>
          <a:xfrm>
            <a:off x="7571160" y="290772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No existe un producto con ese ID</a:t>
            </a:r>
            <a:endParaRPr lang="en-US" sz="1000" b="0" strike="noStrike" spc="-1">
              <a:solidFill>
                <a:srgbClr val="000000"/>
              </a:solidFill>
              <a:latin typeface="Arial"/>
            </a:endParaRPr>
          </a:p>
        </p:txBody>
      </p:sp>
      <p:sp>
        <p:nvSpPr>
          <p:cNvPr id="644" name="Shape 35"/>
          <p:cNvSpPr/>
          <p:nvPr/>
        </p:nvSpPr>
        <p:spPr>
          <a:xfrm>
            <a:off x="6949440" y="320040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45" name="Shape 36"/>
          <p:cNvSpPr/>
          <p:nvPr/>
        </p:nvSpPr>
        <p:spPr>
          <a:xfrm>
            <a:off x="7059240" y="327348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46" name="Text 37"/>
          <p:cNvSpPr/>
          <p:nvPr/>
        </p:nvSpPr>
        <p:spPr>
          <a:xfrm>
            <a:off x="7059240" y="327348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4</a:t>
            </a:r>
            <a:endParaRPr lang="en-US" sz="1300" b="0" strike="noStrike" spc="-1">
              <a:solidFill>
                <a:srgbClr val="000000"/>
              </a:solidFill>
              <a:latin typeface="Arial"/>
            </a:endParaRPr>
          </a:p>
        </p:txBody>
      </p:sp>
      <p:sp>
        <p:nvSpPr>
          <p:cNvPr id="647" name="Text 38"/>
          <p:cNvSpPr/>
          <p:nvPr/>
        </p:nvSpPr>
        <p:spPr>
          <a:xfrm>
            <a:off x="7571160" y="323712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Rango al revés (500 a 100)</a:t>
            </a:r>
            <a:endParaRPr lang="en-US" sz="1200" b="0" strike="noStrike" spc="-1">
              <a:solidFill>
                <a:srgbClr val="000000"/>
              </a:solidFill>
              <a:latin typeface="Arial"/>
            </a:endParaRPr>
          </a:p>
        </p:txBody>
      </p:sp>
      <p:sp>
        <p:nvSpPr>
          <p:cNvPr id="648" name="Text 39"/>
          <p:cNvSpPr/>
          <p:nvPr/>
        </p:nvSpPr>
        <p:spPr>
          <a:xfrm>
            <a:off x="7571160" y="345636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El precio mínimo no puede ser mayor que el máximo</a:t>
            </a:r>
            <a:endParaRPr lang="en-US" sz="1000" b="0" strike="noStrike" spc="-1">
              <a:solidFill>
                <a:srgbClr val="000000"/>
              </a:solidFill>
              <a:latin typeface="Arial"/>
            </a:endParaRPr>
          </a:p>
        </p:txBody>
      </p:sp>
      <p:sp>
        <p:nvSpPr>
          <p:cNvPr id="649" name="Shape 40"/>
          <p:cNvSpPr/>
          <p:nvPr/>
        </p:nvSpPr>
        <p:spPr>
          <a:xfrm>
            <a:off x="6949440" y="374904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50" name="Shape 41"/>
          <p:cNvSpPr/>
          <p:nvPr/>
        </p:nvSpPr>
        <p:spPr>
          <a:xfrm>
            <a:off x="7059240" y="382212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51" name="Text 42"/>
          <p:cNvSpPr/>
          <p:nvPr/>
        </p:nvSpPr>
        <p:spPr>
          <a:xfrm>
            <a:off x="7059240" y="382212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5</a:t>
            </a:r>
            <a:endParaRPr lang="en-US" sz="1300" b="0" strike="noStrike" spc="-1">
              <a:solidFill>
                <a:srgbClr val="000000"/>
              </a:solidFill>
              <a:latin typeface="Arial"/>
            </a:endParaRPr>
          </a:p>
        </p:txBody>
      </p:sp>
      <p:sp>
        <p:nvSpPr>
          <p:cNvPr id="652" name="Text 43"/>
          <p:cNvSpPr/>
          <p:nvPr/>
        </p:nvSpPr>
        <p:spPr>
          <a:xfrm>
            <a:off x="7571160" y="378576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Descuento de 150 %</a:t>
            </a:r>
            <a:endParaRPr lang="en-US" sz="1200" b="0" strike="noStrike" spc="-1">
              <a:solidFill>
                <a:srgbClr val="000000"/>
              </a:solidFill>
              <a:latin typeface="Arial"/>
            </a:endParaRPr>
          </a:p>
        </p:txBody>
      </p:sp>
      <p:sp>
        <p:nvSpPr>
          <p:cNvPr id="653" name="Text 44"/>
          <p:cNvSpPr/>
          <p:nvPr/>
        </p:nvSpPr>
        <p:spPr>
          <a:xfrm>
            <a:off x="7571160" y="400500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El porcentaje debe estar entre 0 y 100</a:t>
            </a:r>
            <a:endParaRPr lang="en-US" sz="1000" b="0" strike="noStrike" spc="-1">
              <a:solidFill>
                <a:srgbClr val="000000"/>
              </a:solidFill>
              <a:latin typeface="Arial"/>
            </a:endParaRPr>
          </a:p>
        </p:txBody>
      </p:sp>
      <p:sp>
        <p:nvSpPr>
          <p:cNvPr id="654" name="Shape 45"/>
          <p:cNvSpPr/>
          <p:nvPr/>
        </p:nvSpPr>
        <p:spPr>
          <a:xfrm>
            <a:off x="6949440" y="429768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55" name="Shape 46"/>
          <p:cNvSpPr/>
          <p:nvPr/>
        </p:nvSpPr>
        <p:spPr>
          <a:xfrm>
            <a:off x="7059240" y="437076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56" name="Text 47"/>
          <p:cNvSpPr/>
          <p:nvPr/>
        </p:nvSpPr>
        <p:spPr>
          <a:xfrm>
            <a:off x="7059240" y="437076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6</a:t>
            </a:r>
            <a:endParaRPr lang="en-US" sz="1300" b="0" strike="noStrike" spc="-1">
              <a:solidFill>
                <a:srgbClr val="000000"/>
              </a:solidFill>
              <a:latin typeface="Arial"/>
            </a:endParaRPr>
          </a:p>
        </p:txBody>
      </p:sp>
      <p:sp>
        <p:nvSpPr>
          <p:cNvPr id="657" name="Text 48"/>
          <p:cNvSpPr/>
          <p:nvPr/>
        </p:nvSpPr>
        <p:spPr>
          <a:xfrm>
            <a:off x="7571160" y="433440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Descuento de −10 %</a:t>
            </a:r>
            <a:endParaRPr lang="en-US" sz="1200" b="0" strike="noStrike" spc="-1">
              <a:solidFill>
                <a:srgbClr val="000000"/>
              </a:solidFill>
              <a:latin typeface="Arial"/>
            </a:endParaRPr>
          </a:p>
        </p:txBody>
      </p:sp>
      <p:sp>
        <p:nvSpPr>
          <p:cNvPr id="658" name="Text 49"/>
          <p:cNvSpPr/>
          <p:nvPr/>
        </p:nvSpPr>
        <p:spPr>
          <a:xfrm>
            <a:off x="7571160" y="455364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El porcentaje debe estar entre 0 y 100</a:t>
            </a:r>
            <a:endParaRPr lang="en-US" sz="1000" b="0" strike="noStrike" spc="-1">
              <a:solidFill>
                <a:srgbClr val="000000"/>
              </a:solidFill>
              <a:latin typeface="Arial"/>
            </a:endParaRPr>
          </a:p>
        </p:txBody>
      </p:sp>
      <p:sp>
        <p:nvSpPr>
          <p:cNvPr id="659" name="Shape 50"/>
          <p:cNvSpPr/>
          <p:nvPr/>
        </p:nvSpPr>
        <p:spPr>
          <a:xfrm>
            <a:off x="6949440" y="484632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60" name="Shape 51"/>
          <p:cNvSpPr/>
          <p:nvPr/>
        </p:nvSpPr>
        <p:spPr>
          <a:xfrm>
            <a:off x="7059240" y="491940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61" name="Text 52"/>
          <p:cNvSpPr/>
          <p:nvPr/>
        </p:nvSpPr>
        <p:spPr>
          <a:xfrm>
            <a:off x="7059240" y="491940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7</a:t>
            </a:r>
            <a:endParaRPr lang="en-US" sz="1300" b="0" strike="noStrike" spc="-1">
              <a:solidFill>
                <a:srgbClr val="000000"/>
              </a:solidFill>
              <a:latin typeface="Arial"/>
            </a:endParaRPr>
          </a:p>
        </p:txBody>
      </p:sp>
      <p:sp>
        <p:nvSpPr>
          <p:cNvPr id="662" name="Text 53"/>
          <p:cNvSpPr/>
          <p:nvPr/>
        </p:nvSpPr>
        <p:spPr>
          <a:xfrm>
            <a:off x="7571160" y="488304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Precio nuevo de −500</a:t>
            </a:r>
            <a:endParaRPr lang="en-US" sz="1200" b="0" strike="noStrike" spc="-1">
              <a:solidFill>
                <a:srgbClr val="000000"/>
              </a:solidFill>
              <a:latin typeface="Arial"/>
            </a:endParaRPr>
          </a:p>
        </p:txBody>
      </p:sp>
      <p:sp>
        <p:nvSpPr>
          <p:cNvPr id="663" name="Text 54"/>
          <p:cNvSpPr/>
          <p:nvPr/>
        </p:nvSpPr>
        <p:spPr>
          <a:xfrm>
            <a:off x="7571160" y="510228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ERROR: El precio debe ser mayor a 0</a:t>
            </a:r>
            <a:endParaRPr lang="en-US" sz="1000" b="0" strike="noStrike" spc="-1">
              <a:solidFill>
                <a:srgbClr val="000000"/>
              </a:solidFill>
              <a:latin typeface="Arial"/>
            </a:endParaRPr>
          </a:p>
        </p:txBody>
      </p:sp>
      <p:sp>
        <p:nvSpPr>
          <p:cNvPr id="664" name="Shape 55"/>
          <p:cNvSpPr/>
          <p:nvPr/>
        </p:nvSpPr>
        <p:spPr>
          <a:xfrm>
            <a:off x="6949440" y="5394960"/>
            <a:ext cx="4690080" cy="493200"/>
          </a:xfrm>
          <a:prstGeom prst="roundRect">
            <a:avLst>
              <a:gd name="adj" fmla="val 22222"/>
            </a:avLst>
          </a:prstGeom>
          <a:solidFill>
            <a:schemeClr val="bg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65" name="Shape 56"/>
          <p:cNvSpPr/>
          <p:nvPr/>
        </p:nvSpPr>
        <p:spPr>
          <a:xfrm>
            <a:off x="7059240" y="5468040"/>
            <a:ext cx="346680" cy="34668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66" name="Text 57"/>
          <p:cNvSpPr/>
          <p:nvPr/>
        </p:nvSpPr>
        <p:spPr>
          <a:xfrm>
            <a:off x="7059240" y="5468040"/>
            <a:ext cx="34668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strike="noStrike" spc="-1">
                <a:solidFill>
                  <a:schemeClr val="dk1"/>
                </a:solidFill>
                <a:latin typeface="Calibri"/>
              </a:rPr>
              <a:t>8</a:t>
            </a:r>
            <a:endParaRPr lang="en-US" sz="1300" b="0" strike="noStrike" spc="-1">
              <a:solidFill>
                <a:srgbClr val="000000"/>
              </a:solidFill>
              <a:latin typeface="Arial"/>
            </a:endParaRPr>
          </a:p>
        </p:txBody>
      </p:sp>
      <p:sp>
        <p:nvSpPr>
          <p:cNvPr id="667" name="Text 58"/>
          <p:cNvSpPr/>
          <p:nvPr/>
        </p:nvSpPr>
        <p:spPr>
          <a:xfrm>
            <a:off x="7571160" y="5431680"/>
            <a:ext cx="4022640" cy="218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strike="noStrike" spc="-1">
                <a:solidFill>
                  <a:schemeClr val="dk1"/>
                </a:solidFill>
                <a:latin typeface="Calibri"/>
              </a:rPr>
              <a:t>Rango sin resultados</a:t>
            </a:r>
            <a:endParaRPr lang="en-US" sz="1200" b="0" strike="noStrike" spc="-1">
              <a:solidFill>
                <a:srgbClr val="000000"/>
              </a:solidFill>
              <a:latin typeface="Arial"/>
            </a:endParaRPr>
          </a:p>
        </p:txBody>
      </p:sp>
      <p:sp>
        <p:nvSpPr>
          <p:cNvPr id="668" name="Text 59"/>
          <p:cNvSpPr/>
          <p:nvPr/>
        </p:nvSpPr>
        <p:spPr>
          <a:xfrm>
            <a:off x="7571160" y="5650920"/>
            <a:ext cx="40226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1" strike="noStrike" spc="-1">
                <a:solidFill>
                  <a:schemeClr val="accent1"/>
                </a:solidFill>
                <a:latin typeface="Calibri"/>
              </a:rPr>
              <a:t>No hay productos en ese rango de precios</a:t>
            </a:r>
            <a:endParaRPr lang="en-US" sz="1000" b="0" strike="noStrike" spc="-1">
              <a:solidFill>
                <a:srgbClr val="000000"/>
              </a:solidFill>
              <a:latin typeface="Arial"/>
            </a:endParaRPr>
          </a:p>
        </p:txBody>
      </p:sp>
      <p:sp>
        <p:nvSpPr>
          <p:cNvPr id="669" name="PlaceHolder 2"/>
          <p:cNvSpPr>
            <a:spLocks noGrp="1"/>
          </p:cNvSpPr>
          <p:nvPr>
            <p:ph type="sldNum" idx="19"/>
          </p:nvPr>
        </p:nvSpPr>
        <p:spPr>
          <a:xfrm>
            <a:off x="11247120" y="6309360"/>
            <a:ext cx="392400" cy="273600"/>
          </a:xfrm>
          <a:prstGeom prst="rect">
            <a:avLst/>
          </a:prstGeom>
          <a:noFill/>
          <a:ln w="0">
            <a:noFill/>
          </a:ln>
        </p:spPr>
        <p:txBody>
          <a:bodyPr lIns="90000" tIns="45000" rIns="90000" bIns="45000" anchor="t">
            <a:noAutofit/>
          </a:bodyPr>
          <a:lstStyle>
            <a:lvl1pPr indent="0" defTabSz="914400">
              <a:lnSpc>
                <a:spcPct val="100000"/>
              </a:lnSpc>
              <a:buNone/>
              <a:tabLst>
                <a:tab pos="0" algn="l"/>
              </a:tabLst>
              <a:defRPr lang="en-US" sz="1000" b="0" strike="noStrike" spc="-1">
                <a:solidFill>
                  <a:srgbClr val="7A7FA8"/>
                </a:solidFill>
                <a:latin typeface="Calibri"/>
              </a:defRPr>
            </a:lvl1pPr>
          </a:lstStyle>
          <a:p>
            <a:pPr indent="0" defTabSz="914400">
              <a:lnSpc>
                <a:spcPct val="100000"/>
              </a:lnSpc>
              <a:buNone/>
              <a:tabLst>
                <a:tab pos="0" algn="l"/>
              </a:tabLst>
            </a:pPr>
            <a:fld id="{3F129B2B-F506-4205-97E7-CD2F41C921E2}" type="slidenum">
              <a:rPr lang="en-US" sz="1000" b="0" strike="noStrike" spc="-1">
                <a:solidFill>
                  <a:srgbClr val="7A7FA8"/>
                </a:solidFill>
                <a:latin typeface="Calibri"/>
              </a:rPr>
              <a:t>16</a:t>
            </a:fld>
            <a:endParaRPr lang="en-US" sz="1000" b="0" strike="noStrike" spc="-1">
              <a:solidFill>
                <a:srgbClr val="000000"/>
              </a:solidFill>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 name="Text 0"/>
          <p:cNvSpPr/>
          <p:nvPr/>
        </p:nvSpPr>
        <p:spPr>
          <a:xfrm>
            <a:off x="640080" y="548640"/>
            <a:ext cx="1088064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800" b="1" strike="noStrike" spc="-1">
                <a:solidFill>
                  <a:schemeClr val="lt1"/>
                </a:solidFill>
                <a:latin typeface="Cambria"/>
                <a:ea typeface="Cambria"/>
              </a:rPr>
              <a:t>Una tienda, una lista, cinco soluciones</a:t>
            </a:r>
            <a:endParaRPr lang="en-US" sz="3800" b="0" strike="noStrike" spc="-1">
              <a:solidFill>
                <a:srgbClr val="FFFFFF"/>
              </a:solidFill>
              <a:latin typeface="Arial"/>
            </a:endParaRPr>
          </a:p>
        </p:txBody>
      </p:sp>
      <p:sp>
        <p:nvSpPr>
          <p:cNvPr id="671" name="Text 1"/>
          <p:cNvSpPr/>
          <p:nvPr/>
        </p:nvSpPr>
        <p:spPr>
          <a:xfrm>
            <a:off x="640080" y="1417320"/>
            <a:ext cx="108806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0" strike="noStrike" spc="-1">
                <a:solidFill>
                  <a:schemeClr val="accent6"/>
                </a:solidFill>
                <a:latin typeface="Calibri"/>
              </a:rPr>
              <a:t>Aprendimos cómo funciona una lista por dentro y la usamos para resolver el problema de la tienda.</a:t>
            </a:r>
            <a:endParaRPr lang="en-US" sz="1700" b="0" strike="noStrike" spc="-1">
              <a:solidFill>
                <a:srgbClr val="FFFFFF"/>
              </a:solidFill>
              <a:latin typeface="Arial"/>
            </a:endParaRPr>
          </a:p>
        </p:txBody>
      </p:sp>
      <p:sp>
        <p:nvSpPr>
          <p:cNvPr id="672" name="Shape 2"/>
          <p:cNvSpPr/>
          <p:nvPr/>
        </p:nvSpPr>
        <p:spPr>
          <a:xfrm>
            <a:off x="640080" y="2011680"/>
            <a:ext cx="2056680" cy="1462320"/>
          </a:xfrm>
          <a:prstGeom prst="roundRect">
            <a:avLst>
              <a:gd name="adj" fmla="val 75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73" name="Shape 3"/>
          <p:cNvSpPr/>
          <p:nvPr/>
        </p:nvSpPr>
        <p:spPr>
          <a:xfrm>
            <a:off x="822960" y="2176200"/>
            <a:ext cx="365040" cy="36504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74" name="Text 4"/>
          <p:cNvSpPr/>
          <p:nvPr/>
        </p:nvSpPr>
        <p:spPr>
          <a:xfrm>
            <a:off x="822960" y="21762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1</a:t>
            </a:r>
            <a:endParaRPr lang="en-US" sz="1400" b="0" strike="noStrike" spc="-1">
              <a:solidFill>
                <a:srgbClr val="FFFFFF"/>
              </a:solidFill>
              <a:latin typeface="Arial"/>
            </a:endParaRPr>
          </a:p>
        </p:txBody>
      </p:sp>
      <p:sp>
        <p:nvSpPr>
          <p:cNvPr id="675" name="Text 5"/>
          <p:cNvSpPr/>
          <p:nvPr/>
        </p:nvSpPr>
        <p:spPr>
          <a:xfrm>
            <a:off x="822960" y="2651760"/>
            <a:ext cx="1736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lt1"/>
                </a:solidFill>
                <a:latin typeface="Calibri"/>
              </a:rPr>
              <a:t>Producto</a:t>
            </a:r>
            <a:endParaRPr lang="en-US" sz="1700" b="0" strike="noStrike" spc="-1">
              <a:solidFill>
                <a:srgbClr val="FFFFFF"/>
              </a:solidFill>
              <a:latin typeface="Arial"/>
            </a:endParaRPr>
          </a:p>
        </p:txBody>
      </p:sp>
      <p:sp>
        <p:nvSpPr>
          <p:cNvPr id="676" name="Text 6"/>
          <p:cNvSpPr/>
          <p:nvPr/>
        </p:nvSpPr>
        <p:spPr>
          <a:xfrm>
            <a:off x="822960" y="2990160"/>
            <a:ext cx="1736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Qué guardamos</a:t>
            </a:r>
            <a:endParaRPr lang="en-US" sz="1200" b="0" strike="noStrike" spc="-1">
              <a:solidFill>
                <a:srgbClr val="FFFFFF"/>
              </a:solidFill>
              <a:latin typeface="Arial"/>
            </a:endParaRPr>
          </a:p>
        </p:txBody>
      </p:sp>
      <p:sp>
        <p:nvSpPr>
          <p:cNvPr id="677" name="Shape 7"/>
          <p:cNvSpPr/>
          <p:nvPr/>
        </p:nvSpPr>
        <p:spPr>
          <a:xfrm>
            <a:off x="2898720" y="2011680"/>
            <a:ext cx="2056680" cy="1462320"/>
          </a:xfrm>
          <a:prstGeom prst="roundRect">
            <a:avLst>
              <a:gd name="adj" fmla="val 75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78" name="Shape 8"/>
          <p:cNvSpPr/>
          <p:nvPr/>
        </p:nvSpPr>
        <p:spPr>
          <a:xfrm>
            <a:off x="3081600" y="2176200"/>
            <a:ext cx="365040" cy="365040"/>
          </a:xfrm>
          <a:prstGeom prst="ellipse">
            <a:avLst/>
          </a:prstGeom>
          <a:solidFill>
            <a:schemeClr val="accent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79" name="Text 9"/>
          <p:cNvSpPr/>
          <p:nvPr/>
        </p:nvSpPr>
        <p:spPr>
          <a:xfrm>
            <a:off x="3081600" y="21762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2</a:t>
            </a:r>
            <a:endParaRPr lang="en-US" sz="1400" b="0" strike="noStrike" spc="-1">
              <a:solidFill>
                <a:srgbClr val="FFFFFF"/>
              </a:solidFill>
              <a:latin typeface="Arial"/>
            </a:endParaRPr>
          </a:p>
        </p:txBody>
      </p:sp>
      <p:sp>
        <p:nvSpPr>
          <p:cNvPr id="680" name="Text 10"/>
          <p:cNvSpPr/>
          <p:nvPr/>
        </p:nvSpPr>
        <p:spPr>
          <a:xfrm>
            <a:off x="3081600" y="2651760"/>
            <a:ext cx="1736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lt1"/>
                </a:solidFill>
                <a:latin typeface="Calibri"/>
              </a:rPr>
              <a:t>ArrayList</a:t>
            </a:r>
            <a:endParaRPr lang="en-US" sz="1700" b="0" strike="noStrike" spc="-1">
              <a:solidFill>
                <a:srgbClr val="FFFFFF"/>
              </a:solidFill>
              <a:latin typeface="Arial"/>
            </a:endParaRPr>
          </a:p>
        </p:txBody>
      </p:sp>
      <p:sp>
        <p:nvSpPr>
          <p:cNvPr id="681" name="Text 11"/>
          <p:cNvSpPr/>
          <p:nvPr/>
        </p:nvSpPr>
        <p:spPr>
          <a:xfrm>
            <a:off x="3081600" y="2990160"/>
            <a:ext cx="1736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Dónde lo guardamos, y crece solo</a:t>
            </a:r>
            <a:endParaRPr lang="en-US" sz="1200" b="0" strike="noStrike" spc="-1">
              <a:solidFill>
                <a:srgbClr val="FFFFFF"/>
              </a:solidFill>
              <a:latin typeface="Arial"/>
            </a:endParaRPr>
          </a:p>
        </p:txBody>
      </p:sp>
      <p:sp>
        <p:nvSpPr>
          <p:cNvPr id="682" name="Shape 12"/>
          <p:cNvSpPr/>
          <p:nvPr/>
        </p:nvSpPr>
        <p:spPr>
          <a:xfrm>
            <a:off x="5157360" y="2011680"/>
            <a:ext cx="2056680" cy="1462320"/>
          </a:xfrm>
          <a:prstGeom prst="roundRect">
            <a:avLst>
              <a:gd name="adj" fmla="val 75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83" name="Shape 13"/>
          <p:cNvSpPr/>
          <p:nvPr/>
        </p:nvSpPr>
        <p:spPr>
          <a:xfrm>
            <a:off x="5340240" y="2176200"/>
            <a:ext cx="365040" cy="3650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84" name="Text 14"/>
          <p:cNvSpPr/>
          <p:nvPr/>
        </p:nvSpPr>
        <p:spPr>
          <a:xfrm>
            <a:off x="5340240" y="21762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3</a:t>
            </a:r>
            <a:endParaRPr lang="en-US" sz="1400" b="0" strike="noStrike" spc="-1">
              <a:solidFill>
                <a:srgbClr val="FFFFFF"/>
              </a:solidFill>
              <a:latin typeface="Arial"/>
            </a:endParaRPr>
          </a:p>
        </p:txBody>
      </p:sp>
      <p:sp>
        <p:nvSpPr>
          <p:cNvPr id="685" name="Text 15"/>
          <p:cNvSpPr/>
          <p:nvPr/>
        </p:nvSpPr>
        <p:spPr>
          <a:xfrm>
            <a:off x="5340240" y="2651760"/>
            <a:ext cx="1736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lt1"/>
                </a:solidFill>
                <a:latin typeface="Calibri"/>
              </a:rPr>
              <a:t>Gestor</a:t>
            </a:r>
            <a:endParaRPr lang="en-US" sz="1700" b="0" strike="noStrike" spc="-1">
              <a:solidFill>
                <a:srgbClr val="FFFFFF"/>
              </a:solidFill>
              <a:latin typeface="Arial"/>
            </a:endParaRPr>
          </a:p>
        </p:txBody>
      </p:sp>
      <p:sp>
        <p:nvSpPr>
          <p:cNvPr id="686" name="Text 16"/>
          <p:cNvSpPr/>
          <p:nvPr/>
        </p:nvSpPr>
        <p:spPr>
          <a:xfrm>
            <a:off x="5340240" y="2990160"/>
            <a:ext cx="1736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Las 5 funcionalidades</a:t>
            </a:r>
            <a:endParaRPr lang="en-US" sz="1200" b="0" strike="noStrike" spc="-1">
              <a:solidFill>
                <a:srgbClr val="FFFFFF"/>
              </a:solidFill>
              <a:latin typeface="Arial"/>
            </a:endParaRPr>
          </a:p>
        </p:txBody>
      </p:sp>
      <p:sp>
        <p:nvSpPr>
          <p:cNvPr id="687" name="Shape 17"/>
          <p:cNvSpPr/>
          <p:nvPr/>
        </p:nvSpPr>
        <p:spPr>
          <a:xfrm>
            <a:off x="7415640" y="2011680"/>
            <a:ext cx="2056680" cy="1462320"/>
          </a:xfrm>
          <a:prstGeom prst="roundRect">
            <a:avLst>
              <a:gd name="adj" fmla="val 75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88" name="Shape 18"/>
          <p:cNvSpPr/>
          <p:nvPr/>
        </p:nvSpPr>
        <p:spPr>
          <a:xfrm>
            <a:off x="7598520" y="2176200"/>
            <a:ext cx="365040" cy="365040"/>
          </a:xfrm>
          <a:prstGeom prst="ellipse">
            <a:avLst/>
          </a:prstGeom>
          <a:solidFill>
            <a:schemeClr val="accent4"/>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89" name="Text 19"/>
          <p:cNvSpPr/>
          <p:nvPr/>
        </p:nvSpPr>
        <p:spPr>
          <a:xfrm>
            <a:off x="7598520" y="21762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4</a:t>
            </a:r>
            <a:endParaRPr lang="en-US" sz="1400" b="0" strike="noStrike" spc="-1">
              <a:solidFill>
                <a:srgbClr val="FFFFFF"/>
              </a:solidFill>
              <a:latin typeface="Arial"/>
            </a:endParaRPr>
          </a:p>
        </p:txBody>
      </p:sp>
      <p:sp>
        <p:nvSpPr>
          <p:cNvPr id="690" name="Text 20"/>
          <p:cNvSpPr/>
          <p:nvPr/>
        </p:nvSpPr>
        <p:spPr>
          <a:xfrm>
            <a:off x="7598520" y="2651760"/>
            <a:ext cx="1736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lt1"/>
                </a:solidFill>
                <a:latin typeface="Calibri"/>
              </a:rPr>
              <a:t>Main</a:t>
            </a:r>
            <a:endParaRPr lang="en-US" sz="1700" b="0" strike="noStrike" spc="-1">
              <a:solidFill>
                <a:srgbClr val="FFFFFF"/>
              </a:solidFill>
              <a:latin typeface="Arial"/>
            </a:endParaRPr>
          </a:p>
        </p:txBody>
      </p:sp>
      <p:sp>
        <p:nvSpPr>
          <p:cNvPr id="691" name="Text 21"/>
          <p:cNvSpPr/>
          <p:nvPr/>
        </p:nvSpPr>
        <p:spPr>
          <a:xfrm>
            <a:off x="7598520" y="2990160"/>
            <a:ext cx="1736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Cómo lo usa una persona</a:t>
            </a:r>
            <a:endParaRPr lang="en-US" sz="1200" b="0" strike="noStrike" spc="-1">
              <a:solidFill>
                <a:srgbClr val="FFFFFF"/>
              </a:solidFill>
              <a:latin typeface="Arial"/>
            </a:endParaRPr>
          </a:p>
        </p:txBody>
      </p:sp>
      <p:sp>
        <p:nvSpPr>
          <p:cNvPr id="692" name="Shape 22"/>
          <p:cNvSpPr/>
          <p:nvPr/>
        </p:nvSpPr>
        <p:spPr>
          <a:xfrm>
            <a:off x="9674280" y="2011680"/>
            <a:ext cx="2056680" cy="1462320"/>
          </a:xfrm>
          <a:prstGeom prst="roundRect">
            <a:avLst>
              <a:gd name="adj" fmla="val 7500"/>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FFFFFF"/>
              </a:solidFill>
              <a:latin typeface="Arial"/>
            </a:endParaRPr>
          </a:p>
        </p:txBody>
      </p:sp>
      <p:sp>
        <p:nvSpPr>
          <p:cNvPr id="693" name="Shape 23"/>
          <p:cNvSpPr/>
          <p:nvPr/>
        </p:nvSpPr>
        <p:spPr>
          <a:xfrm>
            <a:off x="9857160" y="2176200"/>
            <a:ext cx="365040" cy="365040"/>
          </a:xfrm>
          <a:prstGeom prst="ellipse">
            <a:avLst/>
          </a:prstGeom>
          <a:solidFill>
            <a:schemeClr val="accent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strike="noStrike" spc="-1">
              <a:solidFill>
                <a:srgbClr val="000000"/>
              </a:solidFill>
              <a:latin typeface="Arial"/>
            </a:endParaRPr>
          </a:p>
        </p:txBody>
      </p:sp>
      <p:sp>
        <p:nvSpPr>
          <p:cNvPr id="694" name="Text 24"/>
          <p:cNvSpPr/>
          <p:nvPr/>
        </p:nvSpPr>
        <p:spPr>
          <a:xfrm>
            <a:off x="9857160" y="2176200"/>
            <a:ext cx="3650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chemeClr val="dk1"/>
                </a:solidFill>
                <a:latin typeface="Calibri"/>
              </a:rPr>
              <a:t>5</a:t>
            </a:r>
            <a:endParaRPr lang="en-US" sz="1400" b="0" strike="noStrike" spc="-1">
              <a:solidFill>
                <a:srgbClr val="FFFFFF"/>
              </a:solidFill>
              <a:latin typeface="Arial"/>
            </a:endParaRPr>
          </a:p>
        </p:txBody>
      </p:sp>
      <p:sp>
        <p:nvSpPr>
          <p:cNvPr id="695" name="Text 25"/>
          <p:cNvSpPr/>
          <p:nvPr/>
        </p:nvSpPr>
        <p:spPr>
          <a:xfrm>
            <a:off x="9857160" y="2651760"/>
            <a:ext cx="1736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strike="noStrike" spc="-1">
                <a:solidFill>
                  <a:schemeClr val="lt1"/>
                </a:solidFill>
                <a:latin typeface="Calibri"/>
              </a:rPr>
              <a:t>Pruebas</a:t>
            </a:r>
            <a:endParaRPr lang="en-US" sz="1700" b="0" strike="noStrike" spc="-1">
              <a:solidFill>
                <a:srgbClr val="FFFFFF"/>
              </a:solidFill>
              <a:latin typeface="Arial"/>
            </a:endParaRPr>
          </a:p>
        </p:txBody>
      </p:sp>
      <p:sp>
        <p:nvSpPr>
          <p:cNvPr id="696" name="Text 26"/>
          <p:cNvSpPr/>
          <p:nvPr/>
        </p:nvSpPr>
        <p:spPr>
          <a:xfrm>
            <a:off x="9857160" y="2990160"/>
            <a:ext cx="1736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strike="noStrike" spc="-1">
                <a:solidFill>
                  <a:schemeClr val="accent6"/>
                </a:solidFill>
                <a:latin typeface="Calibri"/>
              </a:rPr>
              <a:t>14 casos que lo comprueban</a:t>
            </a:r>
            <a:endParaRPr lang="en-US" sz="1200" b="0" strike="noStrike" spc="-1">
              <a:solidFill>
                <a:srgbClr val="FFFFFF"/>
              </a:solidFill>
              <a:latin typeface="Arial"/>
            </a:endParaRPr>
          </a:p>
        </p:txBody>
      </p:sp>
      <p:sp>
        <p:nvSpPr>
          <p:cNvPr id="697" name="Text 27"/>
          <p:cNvSpPr/>
          <p:nvPr/>
        </p:nvSpPr>
        <p:spPr>
          <a:xfrm>
            <a:off x="640080" y="3794760"/>
            <a:ext cx="54856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endParaRPr lang="en-US" sz="1800" b="0" strike="noStrike" spc="-1">
              <a:solidFill>
                <a:srgbClr val="FFFFFF"/>
              </a:solidFill>
              <a:latin typeface="Arial"/>
            </a:endParaRPr>
          </a:p>
        </p:txBody>
      </p:sp>
      <p:sp>
        <p:nvSpPr>
          <p:cNvPr id="698" name="Text 28"/>
          <p:cNvSpPr/>
          <p:nvPr/>
        </p:nvSpPr>
        <p:spPr>
          <a:xfrm>
            <a:off x="640080" y="4160520"/>
            <a:ext cx="5668560" cy="164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spcAft>
                <a:spcPts val="601"/>
              </a:spcAft>
            </a:pPr>
            <a:endParaRPr lang="en-US" sz="1800" b="0" strike="noStrike" spc="-1">
              <a:solidFill>
                <a:srgbClr val="FFFFFF"/>
              </a:solidFill>
              <a:latin typeface="Arial"/>
            </a:endParaRPr>
          </a:p>
        </p:txBody>
      </p:sp>
      <p:sp>
        <p:nvSpPr>
          <p:cNvPr id="699" name="Text 30"/>
          <p:cNvSpPr/>
          <p:nvPr/>
        </p:nvSpPr>
        <p:spPr>
          <a:xfrm>
            <a:off x="6903720" y="3794760"/>
            <a:ext cx="4525560" cy="1233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800" b="0" strike="noStrike" spc="-1">
              <a:solidFill>
                <a:srgbClr val="FFFFFF"/>
              </a:solidFill>
              <a:latin typeface="Arial"/>
            </a:endParaRPr>
          </a:p>
        </p:txBody>
      </p:sp>
      <p:sp>
        <p:nvSpPr>
          <p:cNvPr id="700" name="Text 31"/>
          <p:cNvSpPr/>
          <p:nvPr/>
        </p:nvSpPr>
        <p:spPr>
          <a:xfrm>
            <a:off x="6675120" y="5212080"/>
            <a:ext cx="496440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200" b="1" strike="noStrike" spc="-1">
                <a:solidFill>
                  <a:schemeClr val="accent2"/>
                </a:solidFill>
                <a:latin typeface="Calibri"/>
              </a:rPr>
              <a:t>     ¿Preguntas?</a:t>
            </a:r>
            <a:endParaRPr lang="en-US" sz="4200" b="0" strike="noStrike" spc="-1">
              <a:solidFill>
                <a:srgbClr val="FFFFFF"/>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xmlns:p15="http://schemas.microsoft.com/office/powerpoint/2012/main">
      <p:transition/>
    </mc:Fallback>
  </mc:AlternateContent>
  <p:timing>
    <p:tnLst>
      <p:par>
        <p:cTn id="1" dur="indefinite" restart="never" nodeType="tmRoot"/>
      </p:par>
    </p:tnLst>
  </p:timing>
</p:sld>
</file>

<file path=ppt/theme/theme1.xml><?xml version="1.0" encoding="utf-8"?>
<a:theme xmlns:a="http://schemas.openxmlformats.org/drawingml/2006/main" name="TechMarket">
  <a:themeElements>
    <a:clrScheme name="TechMarket">
      <a:dk1>
        <a:srgbClr val="1E1B4B"/>
      </a:dk1>
      <a:lt1>
        <a:srgbClr val="FFFFFF"/>
      </a:lt1>
      <a:dk2>
        <a:srgbClr val="2B2766"/>
      </a:dk2>
      <a:lt2>
        <a:srgbClr val="EEEBFF"/>
      </a:lt2>
      <a:accent1>
        <a:srgbClr val="6C47FF"/>
      </a:accent1>
      <a:accent2>
        <a:srgbClr val="FFC93C"/>
      </a:accent2>
      <a:accent3>
        <a:srgbClr val="1DBF9F"/>
      </a:accent3>
      <a:accent4>
        <a:srgbClr val="FF6B6B"/>
      </a:accent4>
      <a:accent5>
        <a:srgbClr val="7A7FA8"/>
      </a:accent5>
      <a:accent6>
        <a:srgbClr val="B8A9FF"/>
      </a:accent6>
      <a:hlink>
        <a:srgbClr val="6C47FF"/>
      </a:hlink>
      <a:folHlink>
        <a:srgbClr val="7A7FA8"/>
      </a:folHlink>
    </a:clrScheme>
    <a:fontScheme name="TechMarket">
      <a:majorFont>
        <a:latin typeface="Cambria"/>
        <a:ea typeface=""/>
        <a:cs typeface=""/>
      </a:majorFont>
      <a:minorFont>
        <a:latin typeface="Calibri"/>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TechMarket">
  <a:themeElements>
    <a:clrScheme name="TechMarket">
      <a:dk1>
        <a:srgbClr val="1E1B4B"/>
      </a:dk1>
      <a:lt1>
        <a:srgbClr val="FFFFFF"/>
      </a:lt1>
      <a:dk2>
        <a:srgbClr val="2B2766"/>
      </a:dk2>
      <a:lt2>
        <a:srgbClr val="EEEBFF"/>
      </a:lt2>
      <a:accent1>
        <a:srgbClr val="6C47FF"/>
      </a:accent1>
      <a:accent2>
        <a:srgbClr val="FFC93C"/>
      </a:accent2>
      <a:accent3>
        <a:srgbClr val="1DBF9F"/>
      </a:accent3>
      <a:accent4>
        <a:srgbClr val="FF6B6B"/>
      </a:accent4>
      <a:accent5>
        <a:srgbClr val="7A7FA8"/>
      </a:accent5>
      <a:accent6>
        <a:srgbClr val="B8A9FF"/>
      </a:accent6>
      <a:hlink>
        <a:srgbClr val="6C47FF"/>
      </a:hlink>
      <a:folHlink>
        <a:srgbClr val="7A7FA8"/>
      </a:folHlink>
    </a:clrScheme>
    <a:fontScheme name="TechMarket">
      <a:majorFont>
        <a:latin typeface="Cambria"/>
        <a:ea typeface=""/>
        <a:cs typeface=""/>
      </a:majorFont>
      <a:minorFont>
        <a:latin typeface="Calibri"/>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TechMarket">
  <a:themeElements>
    <a:clrScheme name="TechMarket">
      <a:dk1>
        <a:srgbClr val="1E1B4B"/>
      </a:dk1>
      <a:lt1>
        <a:srgbClr val="FFFFFF"/>
      </a:lt1>
      <a:dk2>
        <a:srgbClr val="2B2766"/>
      </a:dk2>
      <a:lt2>
        <a:srgbClr val="EEEBFF"/>
      </a:lt2>
      <a:accent1>
        <a:srgbClr val="6C47FF"/>
      </a:accent1>
      <a:accent2>
        <a:srgbClr val="FFC93C"/>
      </a:accent2>
      <a:accent3>
        <a:srgbClr val="1DBF9F"/>
      </a:accent3>
      <a:accent4>
        <a:srgbClr val="FF6B6B"/>
      </a:accent4>
      <a:accent5>
        <a:srgbClr val="7A7FA8"/>
      </a:accent5>
      <a:accent6>
        <a:srgbClr val="B8A9FF"/>
      </a:accent6>
      <a:hlink>
        <a:srgbClr val="6C47FF"/>
      </a:hlink>
      <a:folHlink>
        <a:srgbClr val="7A7FA8"/>
      </a:folHlink>
    </a:clrScheme>
    <a:fontScheme name="TechMarket">
      <a:majorFont>
        <a:latin typeface="Cambria"/>
        <a:ea typeface=""/>
        <a:cs typeface=""/>
      </a:majorFont>
      <a:minorFont>
        <a:latin typeface="Calibri"/>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241</TotalTime>
  <Words>3689</Words>
  <Application>Microsoft Office PowerPoint</Application>
  <PresentationFormat>Panorámica</PresentationFormat>
  <Paragraphs>543</Paragraphs>
  <Slides>17</Slides>
  <Notes>17</Notes>
  <HiddenSlides>0</HiddenSlides>
  <MMClips>0</MMClips>
  <ScaleCrop>false</ScaleCrop>
  <HeadingPairs>
    <vt:vector size="6" baseType="variant">
      <vt:variant>
        <vt:lpstr>Fuentes usadas</vt:lpstr>
      </vt:variant>
      <vt:variant>
        <vt:i4>8</vt:i4>
      </vt:variant>
      <vt:variant>
        <vt:lpstr>Tema</vt:lpstr>
      </vt:variant>
      <vt:variant>
        <vt:i4>3</vt:i4>
      </vt:variant>
      <vt:variant>
        <vt:lpstr>Títulos de diapositiva</vt:lpstr>
      </vt:variant>
      <vt:variant>
        <vt:i4>17</vt:i4>
      </vt:variant>
    </vt:vector>
  </HeadingPairs>
  <TitlesOfParts>
    <vt:vector size="28" baseType="lpstr">
      <vt:lpstr>Arial</vt:lpstr>
      <vt:lpstr>Calibri</vt:lpstr>
      <vt:lpstr>Cambria</vt:lpstr>
      <vt:lpstr>Courier New</vt:lpstr>
      <vt:lpstr>DejaVu Sans</vt:lpstr>
      <vt:lpstr>Symbol</vt:lpstr>
      <vt:lpstr>Times New Roman</vt:lpstr>
      <vt:lpstr>Wingdings</vt:lpstr>
      <vt:lpstr>TechMarket</vt:lpstr>
      <vt:lpstr>TechMarket</vt:lpstr>
      <vt:lpstr>TechMarket</vt:lpstr>
      <vt:lpstr>Tienda en Línea “TechMarket”</vt:lpstr>
      <vt:lpstr>Planteamiento del problema</vt:lpstr>
      <vt:lpstr>Requerimientos del sistema</vt:lpstr>
      <vt:lpstr>Nuestra solución propuesta</vt:lpstr>
      <vt:lpstr>Producto: lo que se vende</vt:lpstr>
      <vt:lpstr>List&lt;E&gt;: el contrato</vt:lpstr>
      <vt:lpstr>ArrayList&lt;E&gt;: la lista hecha por nosotros</vt:lpstr>
      <vt:lpstr>GestorTechMarket: el cerebro</vt:lpstr>
      <vt:lpstr>Filtrar por precio</vt:lpstr>
      <vt:lpstr>Descuento por marca</vt:lpstr>
      <vt:lpstr>El producto más barato</vt:lpstr>
      <vt:lpstr>Cambiar el precio</vt:lpstr>
      <vt:lpstr>Promedio por marca</vt:lpstr>
      <vt:lpstr>Main: la puerta de entrada</vt:lpstr>
      <vt:lpstr>Probamos lo que debe funcionar</vt:lpstr>
      <vt:lpstr>Probamos lo que debe fallar</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TechMarket - Equipo 5</dc:title>
  <dc:subject>PptxGenJS Presentation</dc:subject>
  <dc:creator>PptxGenJS</dc:creator>
  <dc:description/>
  <cp:lastModifiedBy>Ñequita</cp:lastModifiedBy>
  <cp:revision>15</cp:revision>
  <dcterms:created xsi:type="dcterms:W3CDTF">2026-10-12T04:05:51Z</dcterms:created>
  <dcterms:modified xsi:type="dcterms:W3CDTF">2026-10-13T03:59:40Z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18</vt:i4>
  </property>
  <property fmtid="{D5CDD505-2E9C-101B-9397-08002B2CF9AE}" pid="3" name="PresentationFormat">
    <vt:lpwstr>Panorámica</vt:lpwstr>
  </property>
  <property fmtid="{D5CDD505-2E9C-101B-9397-08002B2CF9AE}" pid="4" name="Slides">
    <vt:i4>18</vt:i4>
  </property>
</Properties>
</file>